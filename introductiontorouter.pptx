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8" r:id="rId2"/>
  </p:sldMasterIdLst>
  <p:sldIdLst>
    <p:sldId id="272" r:id="rId3"/>
    <p:sldId id="264" r:id="rId4"/>
    <p:sldId id="257" r:id="rId5"/>
    <p:sldId id="258" r:id="rId6"/>
    <p:sldId id="267" r:id="rId7"/>
    <p:sldId id="259" r:id="rId8"/>
    <p:sldId id="266" r:id="rId9"/>
    <p:sldId id="260" r:id="rId10"/>
    <p:sldId id="265" r:id="rId11"/>
    <p:sldId id="261" r:id="rId12"/>
    <p:sldId id="268" r:id="rId13"/>
    <p:sldId id="269" r:id="rId14"/>
    <p:sldId id="270" r:id="rId15"/>
    <p:sldId id="262" r:id="rId16"/>
    <p:sldId id="26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0704"/>
    <a:srgbClr val="30A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93910" autoAdjust="0"/>
  </p:normalViewPr>
  <p:slideViewPr>
    <p:cSldViewPr snapToGrid="0">
      <p:cViewPr varScale="1">
        <p:scale>
          <a:sx n="65" d="100"/>
          <a:sy n="65" d="100"/>
        </p:scale>
        <p:origin x="6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1"/>
            <a:ext cx="12192000" cy="513556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defTabSz="914400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 bwMode="invGray">
          <a:xfrm>
            <a:off x="0" y="5127625"/>
            <a:ext cx="12192000" cy="460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defTabSz="914400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355848"/>
            <a:ext cx="10769600" cy="1673352"/>
          </a:xfrm>
        </p:spPr>
        <p:txBody>
          <a:bodyPr tIns="0" bIns="0" anchor="t"/>
          <a:lstStyle>
            <a:lvl1pPr algn="l">
              <a:defRPr sz="47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828800"/>
            <a:ext cx="107696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41DA2-027A-4654-88D1-0EB6259E9E80}" type="datetimeFigureOut">
              <a:rPr lang="en-US">
                <a:solidFill>
                  <a:prstClr val="white">
                    <a:tint val="95000"/>
                  </a:prstClr>
                </a:solidFill>
              </a:rPr>
              <a:pPr>
                <a:defRPr/>
              </a:pPr>
              <a:t>5/11/2026</a:t>
            </a:fld>
            <a:endParaRPr lang="en-US">
              <a:solidFill>
                <a:prstClr val="white">
                  <a:tint val="9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white">
                  <a:tint val="9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56656C-3CC1-4EC4-B5F1-038F165E3BC6}" type="slidenum">
              <a:rPr lang="en-US">
                <a:solidFill>
                  <a:prstClr val="white">
                    <a:tint val="9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>
                  <a:tint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79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5448"/>
            <a:ext cx="10972800" cy="1252728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36194-7B8C-4BF3-A289-8D632626A3D7}" type="datetimeFigureOut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5/11/2026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4B4747-F5A1-40C0-81B9-521DD5F98259}" type="slidenum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367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1"/>
            <a:ext cx="12192000" cy="26019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defTabSz="914400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 bwMode="invGray">
          <a:xfrm>
            <a:off x="0" y="2601914"/>
            <a:ext cx="12192000" cy="46037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defTabSz="914400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744" y="118872"/>
            <a:ext cx="10684256" cy="1636776"/>
          </a:xfrm>
        </p:spPr>
        <p:txBody>
          <a:bodyPr tIns="0" rIns="91440" bIns="0" anchor="b"/>
          <a:lstStyle>
            <a:lvl1pPr algn="l">
              <a:defRPr sz="4700" b="1" cap="none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7552" y="1828800"/>
            <a:ext cx="10696448" cy="685800"/>
          </a:xfrm>
        </p:spPr>
        <p:txBody>
          <a:bodyPr lIns="146304" tIns="0" rIns="45720" bIns="0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9C67FE-07FE-4F4A-B859-B189B30123F5}" type="datetimeFigureOut">
              <a:rPr lang="en-US">
                <a:solidFill>
                  <a:prstClr val="white">
                    <a:tint val="95000"/>
                  </a:prstClr>
                </a:solidFill>
              </a:rPr>
              <a:pPr>
                <a:defRPr/>
              </a:pPr>
              <a:t>5/11/2026</a:t>
            </a:fld>
            <a:endParaRPr lang="en-US">
              <a:solidFill>
                <a:prstClr val="white">
                  <a:tint val="9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white">
                  <a:tint val="9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9BE78C-4E47-4BE2-AE98-494AD05CD981}" type="slidenum">
              <a:rPr lang="en-US">
                <a:solidFill>
                  <a:prstClr val="white">
                    <a:tint val="9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>
                  <a:tint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705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73936"/>
            <a:ext cx="53848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73936"/>
            <a:ext cx="53848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FA737-A4C8-429A-A2F0-95FC3A305905}" type="datetimeFigureOut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5/11/2026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DBE8D4-4488-4860-BD92-16798EA89A71}" type="slidenum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4719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98988"/>
            <a:ext cx="5386917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49512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698988"/>
            <a:ext cx="5389033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49512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5E653-D775-4C60-9435-65B67A5003F3}" type="datetimeFigureOut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5/11/2026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CD3393-A9B7-4F5D-9CE9-884A1B7F3FF0}" type="slidenum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9079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8384E-6544-49E0-802C-7C2A22E3D9B6}" type="datetimeFigureOut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5/11/2026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43332-5954-4A2F-8BA8-EAA44D1EFE2C}" type="slidenum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1769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0B549F-0EFD-4BDF-BADF-5D0CF602AF20}" type="datetimeFigureOut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5/11/2026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9BA41-4F4B-495E-BA58-CFCCFBA93401}" type="slidenum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490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invGray">
          <a:xfrm>
            <a:off x="3807885" y="0"/>
            <a:ext cx="61383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defTabSz="914400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3807885" y="0"/>
            <a:ext cx="61383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defTabSz="914400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784" y="152400"/>
            <a:ext cx="3364992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5837" y="1743134"/>
            <a:ext cx="7894188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784" y="1730018"/>
            <a:ext cx="329184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412A0-6F31-4EFE-94CD-43D56F7CE647}" type="datetimeFigureOut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5/11/2026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F6EA80-4623-422C-847E-69FBFD117424}" type="slidenum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189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07885" y="0"/>
            <a:ext cx="61383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defTabSz="914400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3807885" y="0"/>
            <a:ext cx="61383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defTabSz="914400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5448"/>
            <a:ext cx="3366867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71741" y="1484808"/>
            <a:ext cx="8329863" cy="5373192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" y="1728216"/>
            <a:ext cx="329184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220133" y="1169988"/>
            <a:ext cx="3363384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2A9D6-15A9-4829-B9B1-545698C12C4D}" type="datetimeFigureOut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5/11/2026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47067" y="1169988"/>
            <a:ext cx="6925733" cy="201612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118851" y="1169988"/>
            <a:ext cx="977900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616C68-31D9-4FD3-AD61-3E0DDC78C934}" type="slidenum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461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E65DB-4B80-4C92-880A-DFB01FABECD2}" type="datetimeFigureOut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5/11/2026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A6701-A6A9-41C9-A706-CEA4AB51F503}" type="slidenum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5728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invGray">
          <a:xfrm>
            <a:off x="8798985" y="0"/>
            <a:ext cx="61383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defTabSz="914400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 bwMode="ltGray">
          <a:xfrm>
            <a:off x="8864600" y="0"/>
            <a:ext cx="3352800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defTabSz="914400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274641"/>
            <a:ext cx="2540000" cy="5851525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1"/>
            <a:ext cx="80264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9EFD0-71AC-409B-9ED5-C63155A44B2A}" type="datetimeFigureOut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5/11/2026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20018" y="6376989"/>
            <a:ext cx="511598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D50139-9D12-430F-8912-33A1C3366977}" type="slidenum">
              <a:rPr lang="en-US">
                <a:solidFill>
                  <a:prstClr val="black">
                    <a:tint val="9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63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6688"/>
            <a:ext cx="12192000" cy="444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defTabSz="914400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 bwMode="ltGray">
          <a:xfrm>
            <a:off x="0" y="1"/>
            <a:ext cx="12192000" cy="14335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defTabSz="914400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25095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774825"/>
            <a:ext cx="10972800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274638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 defTabSz="914400">
              <a:defRPr/>
            </a:pPr>
            <a:fld id="{885165E6-9C11-473A-9CC2-A6FE811BF994}" type="datetimeFigureOut">
              <a:rPr lang="en-US" smtClean="0">
                <a:solidFill>
                  <a:prstClr val="black">
                    <a:tint val="95000"/>
                  </a:prstClr>
                </a:solidFill>
              </a:rPr>
              <a:pPr defTabSz="914400">
                <a:defRPr/>
              </a:pPr>
              <a:t>5/11/2026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20018" y="6477000"/>
            <a:ext cx="7344833" cy="274638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 defTabSz="914400">
              <a:defRPr/>
            </a:pPr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8934" y="6477000"/>
            <a:ext cx="977900" cy="274638"/>
          </a:xfrm>
          <a:prstGeom prst="rect">
            <a:avLst/>
          </a:prstGeom>
        </p:spPr>
        <p:txBody>
          <a:bodyPr vert="horz" bIns="0" rtlCol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 defTabSz="914400">
              <a:defRPr/>
            </a:pPr>
            <a:fld id="{E836B418-9BEF-498C-9F6E-F2E1282B5A0E}" type="slidenum">
              <a:rPr lang="en-US" smtClean="0">
                <a:solidFill>
                  <a:prstClr val="black">
                    <a:tint val="95000"/>
                  </a:prstClr>
                </a:solidFill>
              </a:rPr>
              <a:pPr defTabSz="914400">
                <a:defRPr/>
              </a:pPr>
              <a:t>‹#›</a:t>
            </a:fld>
            <a:endParaRPr lang="en-US">
              <a:solidFill>
                <a:prstClr val="black">
                  <a:tint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369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500" b="1" kern="1200">
          <a:solidFill>
            <a:srgbClr val="FFC8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9pPr>
      <a:extLst/>
    </p:titleStyle>
    <p:bodyStyle>
      <a:lvl1pPr marL="438150" indent="-319088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0" fontAlgn="base" hangingPunct="0">
        <a:spcBef>
          <a:spcPct val="20000"/>
        </a:spcBef>
        <a:spcAft>
          <a:spcPct val="0"/>
        </a:spcAft>
        <a:buClr>
          <a:srgbClr val="E66C7D"/>
        </a:buClr>
        <a:buFont typeface="Arial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025" indent="-182563" algn="l" rtl="0" eaLnBrk="0" fontAlgn="base" hangingPunct="0">
        <a:spcBef>
          <a:spcPct val="20000"/>
        </a:spcBef>
        <a:spcAft>
          <a:spcPct val="0"/>
        </a:spcAft>
        <a:buClr>
          <a:srgbClr val="6BB76D"/>
        </a:buClr>
        <a:buFont typeface="Arial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5575" indent="-182563" algn="l" rtl="0" eaLnBrk="0" fontAlgn="base" hangingPunct="0">
        <a:spcBef>
          <a:spcPct val="20000"/>
        </a:spcBef>
        <a:spcAft>
          <a:spcPct val="0"/>
        </a:spcAft>
        <a:buClr>
          <a:srgbClr val="E88651"/>
        </a:buClr>
        <a:buFont typeface="Wingdings 3" pitchFamily="18" charset="2"/>
        <a:buChar char="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mtClean="0"/>
              <a:t>INTRODUCTION TO ROUTER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09800" y="1905000"/>
            <a:ext cx="7848600" cy="381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4800" dirty="0">
              <a:solidFill>
                <a:prstClr val="white"/>
              </a:solidFill>
              <a:latin typeface="Arial Narrow" panose="020B060602020203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4800" dirty="0">
                <a:solidFill>
                  <a:prstClr val="white"/>
                </a:solidFill>
                <a:latin typeface="Arial Narrow" panose="020B0606020202030204" pitchFamily="34" charset="0"/>
              </a:rPr>
              <a:t>Introduction to Network Security &amp; Firewalls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4800" dirty="0">
                <a:solidFill>
                  <a:prstClr val="white"/>
                </a:solidFill>
                <a:latin typeface="Arial Narrow" panose="020B0606020202030204" pitchFamily="34" charset="0"/>
              </a:rPr>
              <a:t>By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4800" dirty="0" err="1">
                <a:solidFill>
                  <a:prstClr val="white"/>
                </a:solidFill>
                <a:latin typeface="Arial Narrow" panose="020B0606020202030204" pitchFamily="34" charset="0"/>
              </a:rPr>
              <a:t>Dr.Col</a:t>
            </a:r>
            <a:r>
              <a:rPr lang="en-US" sz="4800" dirty="0">
                <a:solidFill>
                  <a:prstClr val="white"/>
                </a:solidFill>
                <a:latin typeface="Arial Narrow" panose="020B0606020202030204" pitchFamily="34" charset="0"/>
              </a:rPr>
              <a:t> Joseph </a:t>
            </a:r>
            <a:r>
              <a:rPr lang="en-US" sz="4800" dirty="0" err="1">
                <a:solidFill>
                  <a:prstClr val="white"/>
                </a:solidFill>
                <a:latin typeface="Arial Narrow" panose="020B0606020202030204" pitchFamily="34" charset="0"/>
              </a:rPr>
              <a:t>Kalunga</a:t>
            </a:r>
            <a:r>
              <a:rPr lang="en-US" sz="4800" dirty="0">
                <a:solidFill>
                  <a:prstClr val="white"/>
                </a:solidFill>
                <a:latin typeface="Arial Narrow" panose="020B0606020202030204" pitchFamily="34" charset="0"/>
              </a:rPr>
              <a:t> (</a:t>
            </a:r>
            <a:r>
              <a:rPr lang="en-US" sz="4800" dirty="0" err="1">
                <a:solidFill>
                  <a:prstClr val="white"/>
                </a:solidFill>
                <a:latin typeface="Arial Narrow" panose="020B0606020202030204" pitchFamily="34" charset="0"/>
              </a:rPr>
              <a:t>Ph.D</a:t>
            </a:r>
            <a:r>
              <a:rPr lang="en-US" sz="4800" dirty="0">
                <a:solidFill>
                  <a:prstClr val="white"/>
                </a:solidFill>
                <a:latin typeface="Arial Narrow" panose="020B0606020202030204" pitchFamily="34" charset="0"/>
              </a:rPr>
              <a:t>)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4800" dirty="0">
              <a:solidFill>
                <a:prstClr val="white"/>
              </a:solidFill>
              <a:latin typeface="Arial Narrow" panose="020B060602020203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4800" dirty="0">
                <a:solidFill>
                  <a:prstClr val="white"/>
                </a:solidFill>
                <a:latin typeface="Arial Narrow" panose="020B0606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6916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605943D-80FC-43DD-B0B4-E644DD6F67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158" y="868680"/>
            <a:ext cx="5205434" cy="51206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CC4A35-7F66-4580-A4D6-3092C42F8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748" y="594362"/>
            <a:ext cx="5444197" cy="5838092"/>
          </a:xfrm>
          <a:noFill/>
          <a:ln>
            <a:noFill/>
          </a:ln>
        </p:spPr>
        <p:txBody>
          <a:bodyPr>
            <a:normAutofit fontScale="92500" lnSpcReduction="20000"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 router is a networking device that forwards data packets between computer networks.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 router is connected to at least two networks, commonly two LANs or WANs, or a LAN and its ISP's network.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Routers perform the traffic directing functions on the Internet.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Data sent through the internet, such as a web page or email, is in the form of data packets.</a:t>
            </a:r>
            <a:endParaRPr lang="en-GB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5483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2CC16EC-2FED-409F-9D66-D32976C00BFB}"/>
              </a:ext>
            </a:extLst>
          </p:cNvPr>
          <p:cNvSpPr txBox="1"/>
          <p:nvPr/>
        </p:nvSpPr>
        <p:spPr>
          <a:xfrm>
            <a:off x="2564501" y="2229731"/>
            <a:ext cx="682283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800" b="1" dirty="0">
                <a:latin typeface="Georgia" panose="02040502050405020303" pitchFamily="18" charset="0"/>
                <a:cs typeface="Helvetica" panose="020B0604020202020204" pitchFamily="34" charset="0"/>
              </a:rPr>
              <a:t>Line Ports</a:t>
            </a:r>
          </a:p>
          <a:p>
            <a:pPr lvl="2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Used for device configuration</a:t>
            </a:r>
          </a:p>
          <a:p>
            <a:pPr lvl="2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800" b="1" dirty="0">
                <a:latin typeface="Georgia" panose="02040502050405020303" pitchFamily="18" charset="0"/>
                <a:cs typeface="Helvetica" panose="020B0604020202020204" pitchFamily="34" charset="0"/>
              </a:rPr>
              <a:t>Interface Ports</a:t>
            </a:r>
          </a:p>
          <a:p>
            <a:pPr lvl="2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Used for data 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0008AB5-B560-4AB7-A5CC-5BB1345DA0A4}"/>
              </a:ext>
            </a:extLst>
          </p:cNvPr>
          <p:cNvSpPr txBox="1">
            <a:spLocks/>
          </p:cNvSpPr>
          <p:nvPr/>
        </p:nvSpPr>
        <p:spPr>
          <a:xfrm>
            <a:off x="2564501" y="781504"/>
            <a:ext cx="5908783" cy="111134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3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Ports of Router:</a:t>
            </a:r>
          </a:p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	There are 2 types of ports of router.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56F855C-0EF1-49D4-90BC-E81F9468E33F}"/>
              </a:ext>
            </a:extLst>
          </p:cNvPr>
          <p:cNvSpPr txBox="1"/>
          <p:nvPr/>
        </p:nvSpPr>
        <p:spPr>
          <a:xfrm>
            <a:off x="2564501" y="4628712"/>
            <a:ext cx="814519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Georgia" panose="02040502050405020303" pitchFamily="18" charset="0"/>
              </a:rPr>
              <a:t>Configuration: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To change default behaviour of any device</a:t>
            </a:r>
          </a:p>
        </p:txBody>
      </p:sp>
    </p:spTree>
    <p:extLst>
      <p:ext uri="{BB962C8B-B14F-4D97-AF65-F5344CB8AC3E}">
        <p14:creationId xmlns:p14="http://schemas.microsoft.com/office/powerpoint/2010/main" val="30136990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1943E67-119C-42C2-9E54-E3E2695B263C}"/>
              </a:ext>
            </a:extLst>
          </p:cNvPr>
          <p:cNvSpPr txBox="1"/>
          <p:nvPr/>
        </p:nvSpPr>
        <p:spPr>
          <a:xfrm>
            <a:off x="2550942" y="579358"/>
            <a:ext cx="7709096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Lines</a:t>
            </a:r>
          </a:p>
          <a:p>
            <a:endParaRPr lang="en-GB" sz="1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Helvetica" panose="020B0604020202020204" pitchFamily="34" charset="0"/>
                <a:cs typeface="Helvetica" panose="020B0604020202020204" pitchFamily="34" charset="0"/>
              </a:rPr>
              <a:t>Console 0: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Local Administrative Port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Most powerful port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Can perform function that we can’t do by connecting with other ports.</a:t>
            </a:r>
          </a:p>
          <a:p>
            <a:pPr lvl="2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Helvetica" panose="020B0604020202020204" pitchFamily="34" charset="0"/>
                <a:cs typeface="Helvetica" panose="020B0604020202020204" pitchFamily="34" charset="0"/>
              </a:rPr>
              <a:t>VTY 0 4: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Virtual Teletype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Not Physical but Virtual Port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Remote Administrative Port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Allows 5 simultaneous virtual connections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E3D556D-A0AE-42A1-BC6F-1FF93BD78BF2}"/>
              </a:ext>
            </a:extLst>
          </p:cNvPr>
          <p:cNvSpPr txBox="1"/>
          <p:nvPr/>
        </p:nvSpPr>
        <p:spPr>
          <a:xfrm>
            <a:off x="4841631" y="5977469"/>
            <a:ext cx="3127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GB" sz="2400" b="1" dirty="0">
                <a:latin typeface="Georgia" panose="02040502050405020303" pitchFamily="18" charset="0"/>
                <a:cs typeface="Arial" panose="020B0604020202020204" pitchFamily="34" charset="0"/>
              </a:rPr>
              <a:t> means one Port</a:t>
            </a:r>
          </a:p>
        </p:txBody>
      </p:sp>
    </p:spTree>
    <p:extLst>
      <p:ext uri="{BB962C8B-B14F-4D97-AF65-F5344CB8AC3E}">
        <p14:creationId xmlns:p14="http://schemas.microsoft.com/office/powerpoint/2010/main" val="50885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2A13A20-75AA-4DD6-A82F-CE61A1C860FB}"/>
              </a:ext>
            </a:extLst>
          </p:cNvPr>
          <p:cNvSpPr txBox="1"/>
          <p:nvPr/>
        </p:nvSpPr>
        <p:spPr>
          <a:xfrm>
            <a:off x="2550942" y="579358"/>
            <a:ext cx="77090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Lines</a:t>
            </a:r>
          </a:p>
          <a:p>
            <a:endParaRPr lang="en-GB" sz="1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Helvetica" panose="020B0604020202020204" pitchFamily="34" charset="0"/>
                <a:cs typeface="Helvetica" panose="020B0604020202020204" pitchFamily="34" charset="0"/>
              </a:rPr>
              <a:t>Auxiliary 0: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Remote Administrative Port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Can connect extra modem with router through auxiliary cable.</a:t>
            </a:r>
          </a:p>
          <a:p>
            <a:endParaRPr lang="en-GB" sz="1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543A46A-9A43-4E42-94A6-A484D68CF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533" y="3159826"/>
            <a:ext cx="7509637" cy="2808604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xmlns="" id="{20FED8BE-BB47-4E54-ABBB-4EA973E388DE}"/>
              </a:ext>
            </a:extLst>
          </p:cNvPr>
          <p:cNvSpPr/>
          <p:nvPr/>
        </p:nvSpPr>
        <p:spPr>
          <a:xfrm rot="16913511">
            <a:off x="4153258" y="5556733"/>
            <a:ext cx="1153551" cy="239151"/>
          </a:xfrm>
          <a:prstGeom prst="rightArrow">
            <a:avLst/>
          </a:prstGeom>
          <a:solidFill>
            <a:srgbClr val="9F0704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F0D1E7A-5BF8-4182-99E3-66C6AE320EF3}"/>
              </a:ext>
            </a:extLst>
          </p:cNvPr>
          <p:cNvSpPr txBox="1"/>
          <p:nvPr/>
        </p:nvSpPr>
        <p:spPr>
          <a:xfrm>
            <a:off x="3929818" y="6277648"/>
            <a:ext cx="160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LAN PORTS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F437DF3-5E12-4285-945A-4FB35CF23BF2}"/>
              </a:ext>
            </a:extLst>
          </p:cNvPr>
          <p:cNvSpPr/>
          <p:nvPr/>
        </p:nvSpPr>
        <p:spPr>
          <a:xfrm>
            <a:off x="4304714" y="4574464"/>
            <a:ext cx="1364566" cy="335157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50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5AF8D2B-D7DD-4AFD-A2FD-4101730CF945}"/>
              </a:ext>
            </a:extLst>
          </p:cNvPr>
          <p:cNvSpPr txBox="1"/>
          <p:nvPr/>
        </p:nvSpPr>
        <p:spPr>
          <a:xfrm>
            <a:off x="2521809" y="238313"/>
            <a:ext cx="770909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Interfaces</a:t>
            </a:r>
          </a:p>
          <a:p>
            <a:endParaRPr lang="en-GB" sz="16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Helvetica" panose="020B0604020202020204" pitchFamily="34" charset="0"/>
                <a:cs typeface="Helvetica" panose="020B0604020202020204" pitchFamily="34" charset="0"/>
              </a:rPr>
              <a:t>fa0/0: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Fast-Ethernet/Gigabit Interface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LAN Connectivity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Provide data rate of 100Mbps 100BASE-T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Helvetica" panose="020B0604020202020204" pitchFamily="34" charset="0"/>
                <a:cs typeface="Helvetica" panose="020B0604020202020204" pitchFamily="34" charset="0"/>
              </a:rPr>
              <a:t>  s0/0/0: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Serial Interface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WAN Connectivity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26539F6-8206-44FC-89B9-701126FFBE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17"/>
          <a:stretch/>
        </p:blipFill>
        <p:spPr>
          <a:xfrm>
            <a:off x="3078831" y="3914922"/>
            <a:ext cx="6595051" cy="25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9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569D9EF-123D-4B04-9EAA-4C73221CE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1566" y="937023"/>
            <a:ext cx="10084858" cy="498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9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B287100-2883-46B8-8A03-A4780C575F94}"/>
              </a:ext>
            </a:extLst>
          </p:cNvPr>
          <p:cNvSpPr txBox="1"/>
          <p:nvPr/>
        </p:nvSpPr>
        <p:spPr>
          <a:xfrm>
            <a:off x="2096087" y="659011"/>
            <a:ext cx="662588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Control Plane:</a:t>
            </a:r>
          </a:p>
          <a:p>
            <a:endParaRPr lang="en-GB" sz="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Functions and Processes that determine which path to use. 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Routing protocols, spanning tree,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ldp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etc.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users who can configure web server have access of control plane.</a:t>
            </a:r>
          </a:p>
          <a:p>
            <a:endParaRPr lang="en-GB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Data Plane: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	</a:t>
            </a:r>
          </a:p>
          <a:p>
            <a:endParaRPr lang="en-GB" sz="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cs typeface="Arial" panose="020B0604020202020204" pitchFamily="34" charset="0"/>
            </a:endParaRP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Functions and Processes that forward packets from one interface to another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users who can access/view the hosted website or it’s contents have access of Data Plane.</a:t>
            </a:r>
            <a:endParaRPr lang="en-GB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94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54DEB48-798B-44E0-9C19-29E20AF090EF}"/>
              </a:ext>
            </a:extLst>
          </p:cNvPr>
          <p:cNvSpPr txBox="1"/>
          <p:nvPr/>
        </p:nvSpPr>
        <p:spPr>
          <a:xfrm>
            <a:off x="1763151" y="914712"/>
            <a:ext cx="4332849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cs typeface="Arial" panose="020B0604020202020204" pitchFamily="34" charset="0"/>
              </a:rPr>
              <a:t>Management Plane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Functions used to control and monitor devices.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Manage the router/switch/device that are compliant with standard protocols.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SNMP, TELNET, SSH, NETCONF, etc.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66F38B39-8330-49FF-9C8A-412E6E67F0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31" t="20411" r="20940" b="21128"/>
          <a:stretch/>
        </p:blipFill>
        <p:spPr>
          <a:xfrm>
            <a:off x="5303522" y="603457"/>
            <a:ext cx="6372664" cy="565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8933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3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3EBDF70-F8E9-404D-8712-60E98D3E1579}"/>
              </a:ext>
            </a:extLst>
          </p:cNvPr>
          <p:cNvSpPr/>
          <p:nvPr/>
        </p:nvSpPr>
        <p:spPr>
          <a:xfrm>
            <a:off x="5500467" y="1336431"/>
            <a:ext cx="2518117" cy="4726744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0000FF"/>
              </a:highlight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117A376F-0D36-409A-9BBF-E22BFD7F57CD}"/>
              </a:ext>
            </a:extLst>
          </p:cNvPr>
          <p:cNvCxnSpPr>
            <a:cxnSpLocks/>
          </p:cNvCxnSpPr>
          <p:nvPr/>
        </p:nvCxnSpPr>
        <p:spPr>
          <a:xfrm>
            <a:off x="5500467" y="3685735"/>
            <a:ext cx="2518117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5A931CB-3835-46E9-A674-7D3010AC6D01}"/>
              </a:ext>
            </a:extLst>
          </p:cNvPr>
          <p:cNvSpPr txBox="1"/>
          <p:nvPr/>
        </p:nvSpPr>
        <p:spPr>
          <a:xfrm>
            <a:off x="5500467" y="2280214"/>
            <a:ext cx="25539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b="1" dirty="0">
                <a:latin typeface="Georgia" panose="02040502050405020303" pitchFamily="18" charset="0"/>
              </a:rPr>
              <a:t>Control Plane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8682A23-109F-406C-89C4-D64B41D1AC36}"/>
              </a:ext>
            </a:extLst>
          </p:cNvPr>
          <p:cNvSpPr txBox="1"/>
          <p:nvPr/>
        </p:nvSpPr>
        <p:spPr>
          <a:xfrm>
            <a:off x="5753741" y="4598777"/>
            <a:ext cx="204735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b="1" dirty="0">
                <a:latin typeface="Georgia" panose="02040502050405020303" pitchFamily="18" charset="0"/>
              </a:rPr>
              <a:t>Data Plane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82ADFFEF-319B-436F-8519-788C0E64A4E7}"/>
              </a:ext>
            </a:extLst>
          </p:cNvPr>
          <p:cNvCxnSpPr/>
          <p:nvPr/>
        </p:nvCxnSpPr>
        <p:spPr>
          <a:xfrm flipH="1">
            <a:off x="3010486" y="1828800"/>
            <a:ext cx="2489981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4076DA4E-3F27-4CAA-A67C-9C5BC3B3F722}"/>
              </a:ext>
            </a:extLst>
          </p:cNvPr>
          <p:cNvCxnSpPr/>
          <p:nvPr/>
        </p:nvCxnSpPr>
        <p:spPr>
          <a:xfrm flipH="1">
            <a:off x="3010486" y="3078480"/>
            <a:ext cx="2489981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48718B9C-2035-492B-8FF9-8F1E4DEF9000}"/>
              </a:ext>
            </a:extLst>
          </p:cNvPr>
          <p:cNvCxnSpPr/>
          <p:nvPr/>
        </p:nvCxnSpPr>
        <p:spPr>
          <a:xfrm flipH="1">
            <a:off x="3010486" y="4203895"/>
            <a:ext cx="2489981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0F4D087C-0C36-4AB7-8D59-E3BE72110E0F}"/>
              </a:ext>
            </a:extLst>
          </p:cNvPr>
          <p:cNvCxnSpPr/>
          <p:nvPr/>
        </p:nvCxnSpPr>
        <p:spPr>
          <a:xfrm flipH="1">
            <a:off x="3010486" y="5568461"/>
            <a:ext cx="2489981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CA3C5D58-551B-488C-94F1-B7F1430DA64B}"/>
              </a:ext>
            </a:extLst>
          </p:cNvPr>
          <p:cNvCxnSpPr/>
          <p:nvPr/>
        </p:nvCxnSpPr>
        <p:spPr>
          <a:xfrm flipH="1">
            <a:off x="8018584" y="4203895"/>
            <a:ext cx="2489981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1B306517-7352-49FB-B534-7DDFBCBBB449}"/>
              </a:ext>
            </a:extLst>
          </p:cNvPr>
          <p:cNvCxnSpPr/>
          <p:nvPr/>
        </p:nvCxnSpPr>
        <p:spPr>
          <a:xfrm flipH="1">
            <a:off x="8054371" y="5568461"/>
            <a:ext cx="2489981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0B580D1-104B-4440-B06A-30859E0FF251}"/>
              </a:ext>
            </a:extLst>
          </p:cNvPr>
          <p:cNvSpPr txBox="1"/>
          <p:nvPr/>
        </p:nvSpPr>
        <p:spPr>
          <a:xfrm>
            <a:off x="2996418" y="1375063"/>
            <a:ext cx="1674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Georgia" panose="02040502050405020303" pitchFamily="18" charset="0"/>
              </a:rPr>
              <a:t>Console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54C2CED0-B5C3-4BCD-A8D0-1EA48AC0B153}"/>
              </a:ext>
            </a:extLst>
          </p:cNvPr>
          <p:cNvSpPr txBox="1"/>
          <p:nvPr/>
        </p:nvSpPr>
        <p:spPr>
          <a:xfrm>
            <a:off x="3010485" y="3758755"/>
            <a:ext cx="1674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Georgia" panose="02040502050405020303" pitchFamily="18" charset="0"/>
              </a:rPr>
              <a:t>fa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0/0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4D3BEAFD-2AEA-4412-A6D0-FA10211A2E55}"/>
              </a:ext>
            </a:extLst>
          </p:cNvPr>
          <p:cNvSpPr txBox="1"/>
          <p:nvPr/>
        </p:nvSpPr>
        <p:spPr>
          <a:xfrm>
            <a:off x="3024553" y="2619271"/>
            <a:ext cx="1674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Georgia" panose="02040502050405020303" pitchFamily="18" charset="0"/>
              </a:rPr>
              <a:t>Auxiliary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BEED61D-0B8A-490B-AD1A-5784BF7E8EE2}"/>
              </a:ext>
            </a:extLst>
          </p:cNvPr>
          <p:cNvSpPr txBox="1"/>
          <p:nvPr/>
        </p:nvSpPr>
        <p:spPr>
          <a:xfrm>
            <a:off x="3010485" y="5109253"/>
            <a:ext cx="1674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Georgia" panose="02040502050405020303" pitchFamily="18" charset="0"/>
              </a:rPr>
              <a:t>fa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0/1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73E30584-AD9F-4DE7-B7E4-B6FE54FDE493}"/>
              </a:ext>
            </a:extLst>
          </p:cNvPr>
          <p:cNvSpPr txBox="1"/>
          <p:nvPr/>
        </p:nvSpPr>
        <p:spPr>
          <a:xfrm>
            <a:off x="9341565" y="5091220"/>
            <a:ext cx="1674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Georgia" panose="02040502050405020303" pitchFamily="18" charset="0"/>
              </a:rPr>
              <a:t>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0/0/1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637D80B-ABE7-4583-BF51-769B67399BDA}"/>
              </a:ext>
            </a:extLst>
          </p:cNvPr>
          <p:cNvSpPr txBox="1"/>
          <p:nvPr/>
        </p:nvSpPr>
        <p:spPr>
          <a:xfrm>
            <a:off x="9341565" y="3726654"/>
            <a:ext cx="1674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Georgia" panose="02040502050405020303" pitchFamily="18" charset="0"/>
              </a:rPr>
              <a:t>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0/0/0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EC64B5D-8B66-4152-BA36-C285843356E6}"/>
              </a:ext>
            </a:extLst>
          </p:cNvPr>
          <p:cNvSpPr txBox="1"/>
          <p:nvPr/>
        </p:nvSpPr>
        <p:spPr>
          <a:xfrm>
            <a:off x="5941366" y="804893"/>
            <a:ext cx="16551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Georgia" panose="02040502050405020303" pitchFamily="18" charset="0"/>
              </a:rPr>
              <a:t>Router</a:t>
            </a:r>
          </a:p>
        </p:txBody>
      </p:sp>
    </p:spTree>
    <p:extLst>
      <p:ext uri="{BB962C8B-B14F-4D97-AF65-F5344CB8AC3E}">
        <p14:creationId xmlns:p14="http://schemas.microsoft.com/office/powerpoint/2010/main" val="141053593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6135D99-78A3-4EA2-BE53-0E4000EFFE91}"/>
              </a:ext>
            </a:extLst>
          </p:cNvPr>
          <p:cNvSpPr txBox="1"/>
          <p:nvPr/>
        </p:nvSpPr>
        <p:spPr>
          <a:xfrm>
            <a:off x="2199248" y="88700"/>
            <a:ext cx="9364393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Types of Router</a:t>
            </a:r>
          </a:p>
          <a:p>
            <a:endParaRPr lang="en-GB" sz="1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Wired Router: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Box-shaped device connected directly to computers through wired connections.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Support Network Address Translation (NAT) technology which allows multiple computers to connect in a wired router to share a single IP address.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(SPI) firewalls for the security purpose.</a:t>
            </a:r>
          </a:p>
          <a:p>
            <a:pPr lvl="2"/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 Wireless Router: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Connects directly to a modem through a cable for receiving internet data packets.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Distribute data packets using one or more Antenna.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Convert data packets (binary) into Radio Signals, then antenna broadcast wirelessly.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Engage wireless MAC address filtering and Wi-Fi Protected Access (WPA) security.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32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E81065E-DBD6-42F6-9714-E2A459896D70}"/>
              </a:ext>
            </a:extLst>
          </p:cNvPr>
          <p:cNvSpPr txBox="1"/>
          <p:nvPr/>
        </p:nvSpPr>
        <p:spPr>
          <a:xfrm>
            <a:off x="2213316" y="428178"/>
            <a:ext cx="875948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Types of Router</a:t>
            </a:r>
          </a:p>
          <a:p>
            <a:endParaRPr lang="en-GB" sz="1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Edge Router: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wired or wireless router that forward data packets between one or more networks.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Located at a network boundary that enables an internal network to connect to external networks.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Communicate with different networks and does not distribute data packets within a network.</a:t>
            </a:r>
          </a:p>
          <a:p>
            <a:pPr lvl="2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Core Router: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wired or wireless router that forward data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packets to computer hosts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within a network.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do not forward data packets with multiple networks.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Manage traffic to prevent congestion and packet loss, often using multiplexing.</a:t>
            </a:r>
          </a:p>
        </p:txBody>
      </p:sp>
    </p:spTree>
    <p:extLst>
      <p:ext uri="{BB962C8B-B14F-4D97-AF65-F5344CB8AC3E}">
        <p14:creationId xmlns:p14="http://schemas.microsoft.com/office/powerpoint/2010/main" val="32660022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3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C694F5C-CC98-432F-B516-2E83E83A5A7D}"/>
              </a:ext>
            </a:extLst>
          </p:cNvPr>
          <p:cNvSpPr txBox="1"/>
          <p:nvPr/>
        </p:nvSpPr>
        <p:spPr>
          <a:xfrm>
            <a:off x="2368062" y="368342"/>
            <a:ext cx="770909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Types of Router</a:t>
            </a:r>
          </a:p>
          <a:p>
            <a:endParaRPr lang="en-GB" sz="1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Virtual Router: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software-based default routing framework that allows the host machine to perform as a typical hardware router over a LAN.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It shares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network using the Virtual Router Redundancy Protocol (VRRP).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Active when a primary/physical router fails, otherwise becomes disabled.</a:t>
            </a:r>
          </a:p>
        </p:txBody>
      </p:sp>
    </p:spTree>
    <p:extLst>
      <p:ext uri="{BB962C8B-B14F-4D97-AF65-F5344CB8AC3E}">
        <p14:creationId xmlns:p14="http://schemas.microsoft.com/office/powerpoint/2010/main" val="292965866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25E4C6-38BF-4F79-9348-42904F0C0BBA}"/>
              </a:ext>
            </a:extLst>
          </p:cNvPr>
          <p:cNvSpPr txBox="1"/>
          <p:nvPr/>
        </p:nvSpPr>
        <p:spPr>
          <a:xfrm>
            <a:off x="2560322" y="610136"/>
            <a:ext cx="7779432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Memory of Router</a:t>
            </a:r>
          </a:p>
          <a:p>
            <a:endParaRPr lang="en-GB" sz="1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Helvetica" panose="020B0604020202020204" pitchFamily="34" charset="0"/>
                <a:cs typeface="Helvetica" panose="020B0604020202020204" pitchFamily="34" charset="0"/>
              </a:rPr>
              <a:t>ROM: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Basic I/O system.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Stores router bootstrap detail (Cisco router)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Baby IOS</a:t>
            </a:r>
          </a:p>
          <a:p>
            <a:pPr lvl="2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Helvetica" panose="020B0604020202020204" pitchFamily="34" charset="0"/>
                <a:cs typeface="Helvetica" panose="020B0604020202020204" pitchFamily="34" charset="0"/>
              </a:rPr>
              <a:t>RAM: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Load IOS (Internet Operating System) from Flash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Store Routing table, Configuration files, Cache &amp; Buffering detail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Apply Start-up configuration from NVRAM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IOS + Start-up config = Running Config</a:t>
            </a:r>
          </a:p>
          <a:p>
            <a:pPr lvl="2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58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EAFCEA4-1FE2-421E-8610-729FBC3D33ED}"/>
              </a:ext>
            </a:extLst>
          </p:cNvPr>
          <p:cNvSpPr/>
          <p:nvPr/>
        </p:nvSpPr>
        <p:spPr>
          <a:xfrm>
            <a:off x="2457155" y="3712996"/>
            <a:ext cx="8262425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Helvetica" panose="020B0604020202020204" pitchFamily="34" charset="0"/>
                <a:cs typeface="Helvetica" panose="020B0604020202020204" pitchFamily="34" charset="0"/>
              </a:rPr>
              <a:t>NVRAM: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Non-Volatile Random Access Memory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Store Router start-up configuration files</a:t>
            </a:r>
          </a:p>
          <a:p>
            <a:pPr lvl="2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algn="ctr"/>
            <a:r>
              <a:rPr lang="en-GB" sz="2400" dirty="0">
                <a:latin typeface="Adobe Garamond Pro" panose="02020502060506020403" pitchFamily="18" charset="0"/>
                <a:cs typeface="Adobe Arabic" panose="02040503050201020203" pitchFamily="18" charset="-78"/>
              </a:rPr>
              <a:t>“In case start-up config is not available in NVRAM</a:t>
            </a:r>
            <a:r>
              <a:rPr lang="en-GB" sz="2400" i="1" dirty="0">
                <a:latin typeface="Adobe Garamond Pro" panose="02020502060506020403" pitchFamily="18" charset="0"/>
                <a:cs typeface="Adobe Arabic" panose="02040503050201020203" pitchFamily="18" charset="-78"/>
              </a:rPr>
              <a:t>,</a:t>
            </a:r>
            <a:r>
              <a:rPr lang="en-GB" sz="2400" i="1" dirty="0">
                <a:solidFill>
                  <a:srgbClr val="0070C0"/>
                </a:solidFill>
                <a:latin typeface="Adobe Garamond Pro" panose="02020502060506020403" pitchFamily="18" charset="0"/>
                <a:cs typeface="Adobe Arabic" panose="02040503050201020203" pitchFamily="18" charset="-78"/>
              </a:rPr>
              <a:t> </a:t>
            </a:r>
            <a:r>
              <a:rPr lang="en-GB" sz="2400" dirty="0">
                <a:latin typeface="Adobe Garamond Pro" panose="02020502060506020403" pitchFamily="18" charset="0"/>
                <a:cs typeface="Adobe Arabic" panose="02040503050201020203" pitchFamily="18" charset="-78"/>
              </a:rPr>
              <a:t>it will take you to the </a:t>
            </a:r>
            <a:r>
              <a:rPr lang="en-GB" sz="2400" i="1" dirty="0">
                <a:solidFill>
                  <a:srgbClr val="0070C0"/>
                </a:solidFill>
                <a:latin typeface="Adobe Garamond Pro" panose="02020502060506020403" pitchFamily="18" charset="0"/>
                <a:cs typeface="Adobe Arabic" panose="02040503050201020203" pitchFamily="18" charset="-78"/>
              </a:rPr>
              <a:t>System Configuration Dialog</a:t>
            </a:r>
            <a:r>
              <a:rPr lang="en-GB" sz="2400" i="1" dirty="0">
                <a:latin typeface="Adobe Garamond Pro" panose="02020502060506020403" pitchFamily="18" charset="0"/>
                <a:cs typeface="Adobe Arabic" panose="02040503050201020203" pitchFamily="18" charset="-78"/>
              </a:rPr>
              <a:t>”</a:t>
            </a:r>
            <a:endParaRPr lang="en-GB" sz="2400" i="1" dirty="0">
              <a:solidFill>
                <a:srgbClr val="0070C0"/>
              </a:solidFill>
              <a:latin typeface="Adobe Garamond Pro" panose="02020502060506020403" pitchFamily="18" charset="0"/>
              <a:cs typeface="Adobe Arabic" panose="02040503050201020203" pitchFamily="18" charset="-78"/>
            </a:endParaRPr>
          </a:p>
          <a:p>
            <a:pPr lvl="2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D66A43C3-EFEE-4595-9079-09746D20DEA9}"/>
              </a:ext>
            </a:extLst>
          </p:cNvPr>
          <p:cNvSpPr/>
          <p:nvPr/>
        </p:nvSpPr>
        <p:spPr>
          <a:xfrm>
            <a:off x="2457155" y="789119"/>
            <a:ext cx="8262425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Helvetica" panose="020B0604020202020204" pitchFamily="34" charset="0"/>
                <a:cs typeface="Helvetica" panose="020B0604020202020204" pitchFamily="34" charset="0"/>
              </a:rPr>
              <a:t>Flash: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Include IOS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Hold operating system image</a:t>
            </a:r>
          </a:p>
          <a:p>
            <a:pPr lvl="1"/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/>
            <a:r>
              <a:rPr lang="en-GB" sz="2200" dirty="0">
                <a:latin typeface="Adobe Garamond Pro" panose="02020502060506020403" pitchFamily="18" charset="0"/>
                <a:cs typeface="Adobe Arabic" panose="02040503050201020203" pitchFamily="18" charset="-78"/>
              </a:rPr>
              <a:t>“In case IOS image is not available in flash i.e. </a:t>
            </a:r>
            <a:r>
              <a:rPr lang="en-GB" sz="2200" i="1" dirty="0">
                <a:solidFill>
                  <a:srgbClr val="0070C0"/>
                </a:solidFill>
                <a:latin typeface="Adobe Garamond Pro" panose="02020502060506020403" pitchFamily="18" charset="0"/>
                <a:cs typeface="Adobe Arabic" panose="02040503050201020203" pitchFamily="18" charset="-78"/>
              </a:rPr>
              <a:t>Failed to load, </a:t>
            </a:r>
            <a:r>
              <a:rPr lang="en-GB" sz="2200" dirty="0">
                <a:latin typeface="Adobe Garamond Pro" panose="02020502060506020403" pitchFamily="18" charset="0"/>
                <a:cs typeface="Adobe Arabic" panose="02040503050201020203" pitchFamily="18" charset="-78"/>
              </a:rPr>
              <a:t> it will take you to the ROMMON (ROM Monitor) mode.</a:t>
            </a:r>
          </a:p>
          <a:p>
            <a:pPr lvl="1" algn="ctr"/>
            <a:r>
              <a:rPr lang="en-GB" sz="2200" dirty="0">
                <a:latin typeface="Adobe Garamond Pro" panose="02020502060506020403" pitchFamily="18" charset="0"/>
                <a:cs typeface="Adobe Arabic" panose="02040503050201020203" pitchFamily="18" charset="-78"/>
              </a:rPr>
              <a:t>Where you can copy IOS image into Flash memory using some Remote Device Configurations”</a:t>
            </a:r>
            <a:endParaRPr lang="en-GB" sz="2200" i="1" dirty="0">
              <a:latin typeface="Adobe Garamond Pro" panose="02020502060506020403" pitchFamily="18" charset="0"/>
              <a:cs typeface="Adobe Arabic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537863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3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ppt/theme/themeOverride2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805</TotalTime>
  <Words>583</Words>
  <Application>Microsoft Office PowerPoint</Application>
  <PresentationFormat>Widescreen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Adobe Arabic</vt:lpstr>
      <vt:lpstr>Adobe Garamond Pro</vt:lpstr>
      <vt:lpstr>Arial</vt:lpstr>
      <vt:lpstr>Arial Narrow</vt:lpstr>
      <vt:lpstr>Corbel</vt:lpstr>
      <vt:lpstr>Georgia</vt:lpstr>
      <vt:lpstr>Helvetica</vt:lpstr>
      <vt:lpstr>Wingdings</vt:lpstr>
      <vt:lpstr>Wingdings 2</vt:lpstr>
      <vt:lpstr>Wingdings 3</vt:lpstr>
      <vt:lpstr>Parallax</vt:lpstr>
      <vt:lpstr>Module</vt:lpstr>
      <vt:lpstr>INTRODUCTION TO ROUTER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Router</dc:title>
  <dc:creator>Hac ker</dc:creator>
  <cp:lastModifiedBy>User</cp:lastModifiedBy>
  <cp:revision>84</cp:revision>
  <dcterms:created xsi:type="dcterms:W3CDTF">2020-04-07T15:07:54Z</dcterms:created>
  <dcterms:modified xsi:type="dcterms:W3CDTF">2026-05-11T02:00:05Z</dcterms:modified>
</cp:coreProperties>
</file>