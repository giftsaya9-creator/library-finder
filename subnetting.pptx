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84" r:id="rId4"/>
    <p:sldId id="258" r:id="rId5"/>
    <p:sldId id="261" r:id="rId6"/>
    <p:sldId id="285" r:id="rId7"/>
    <p:sldId id="260" r:id="rId8"/>
    <p:sldId id="286" r:id="rId9"/>
    <p:sldId id="262" r:id="rId10"/>
    <p:sldId id="287" r:id="rId11"/>
    <p:sldId id="288"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32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D754EA8-8375-4FA4-B729-B01602F748F2}" type="datetimeFigureOut">
              <a:rPr lang="en-US" smtClean="0"/>
              <a:t>5/9/2026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FA0BF91-DBC7-47F3-9A6F-9DF23E5DB73D}"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D754EA8-8375-4FA4-B729-B01602F748F2}"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A0BF91-DBC7-47F3-9A6F-9DF23E5DB73D}"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D754EA8-8375-4FA4-B729-B01602F748F2}" type="datetimeFigureOut">
              <a:rPr lang="en-US" smtClean="0"/>
              <a:t>5/9/2026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FA0BF91-DBC7-47F3-9A6F-9DF23E5DB73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D754EA8-8375-4FA4-B729-B01602F748F2}"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A0BF91-DBC7-47F3-9A6F-9DF23E5DB73D}"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D754EA8-8375-4FA4-B729-B01602F748F2}"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A0BF91-DBC7-47F3-9A6F-9DF23E5DB73D}"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D754EA8-8375-4FA4-B729-B01602F748F2}"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A0BF91-DBC7-47F3-9A6F-9DF23E5DB73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54EA8-8375-4FA4-B729-B01602F748F2}"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A0BF91-DBC7-47F3-9A6F-9DF23E5DB7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D754EA8-8375-4FA4-B729-B01602F748F2}"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A0BF91-DBC7-47F3-9A6F-9DF23E5DB73D}"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D754EA8-8375-4FA4-B729-B01602F748F2}" type="datetimeFigureOut">
              <a:rPr lang="en-US" smtClean="0"/>
              <a:t>5/9/2026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FA0BF91-DBC7-47F3-9A6F-9DF23E5DB73D}"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D754EA8-8375-4FA4-B729-B01602F748F2}"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A0BF91-DBC7-47F3-9A6F-9DF23E5DB7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D754EA8-8375-4FA4-B729-B01602F748F2}"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A0BF91-DBC7-47F3-9A6F-9DF23E5DB73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8D754EA8-8375-4FA4-B729-B01602F748F2}" type="datetimeFigureOut">
              <a:rPr lang="en-US" smtClean="0"/>
              <a:t>5/9/2026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FA0BF91-DBC7-47F3-9A6F-9DF23E5DB7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Autofit/>
          </a:bodyPr>
          <a:lstStyle/>
          <a:p>
            <a:endParaRPr lang="en-US" dirty="0"/>
          </a:p>
          <a:p>
            <a:endParaRPr lang="en-US" dirty="0" smtClean="0"/>
          </a:p>
        </p:txBody>
      </p:sp>
      <p:sp>
        <p:nvSpPr>
          <p:cNvPr id="2" name="Title 1"/>
          <p:cNvSpPr>
            <a:spLocks noGrp="1"/>
          </p:cNvSpPr>
          <p:nvPr>
            <p:ph type="ctrTitle"/>
          </p:nvPr>
        </p:nvSpPr>
        <p:spPr/>
        <p:txBody>
          <a:bodyPr/>
          <a:lstStyle/>
          <a:p>
            <a:r>
              <a:rPr lang="en-US" dirty="0" smtClean="0"/>
              <a:t>Subnetting</a:t>
            </a:r>
            <a:endParaRPr lang="en-US" dirty="0"/>
          </a:p>
        </p:txBody>
      </p:sp>
      <p:sp>
        <p:nvSpPr>
          <p:cNvPr id="4" name="Rectangle 3"/>
          <p:cNvSpPr/>
          <p:nvPr/>
        </p:nvSpPr>
        <p:spPr>
          <a:xfrm>
            <a:off x="457200" y="3048000"/>
            <a:ext cx="7848600" cy="3241964"/>
          </a:xfrm>
          <a:prstGeom prst="rect">
            <a:avLst/>
          </a:prstGeom>
          <a:solidFill>
            <a:srgbClr val="F0AD00"/>
          </a:solidFill>
          <a:ln w="48000" cap="flat" cmpd="thickThin" algn="ctr">
            <a:solidFill>
              <a:srgbClr val="F0AD00">
                <a:shade val="50000"/>
              </a:srgb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Advanced TCP/IP </a:t>
            </a:r>
          </a:p>
          <a:p>
            <a:pPr marL="0" marR="0" lvl="0" indent="0" algn="ctr" defTabSz="914400" eaLnBrk="1" fontAlgn="base" latinLnBrk="0" hangingPunct="1">
              <a:lnSpc>
                <a:spcPct val="100000"/>
              </a:lnSpc>
              <a:spcBef>
                <a:spcPct val="0"/>
              </a:spcBef>
              <a:spcAft>
                <a:spcPct val="0"/>
              </a:spcAft>
              <a:buClrTx/>
              <a:buSzTx/>
              <a:buFontTx/>
              <a:buNone/>
              <a:tabLst/>
              <a:defRPr/>
            </a:pPr>
            <a:r>
              <a:rPr lang="en-US" sz="4800" kern="0" dirty="0" err="1" smtClean="0">
                <a:solidFill>
                  <a:prstClr val="white"/>
                </a:solidFill>
                <a:latin typeface="Arial Narrow" panose="020B0606020202030204" pitchFamily="34" charset="0"/>
              </a:rPr>
              <a:t>Subnetting</a:t>
            </a:r>
            <a:endPar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By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4800" b="0" i="0" u="none" strike="noStrike" kern="0" cap="none" spc="0" normalizeH="0" baseline="0" noProof="0" dirty="0" err="1" smtClean="0">
                <a:ln>
                  <a:noFill/>
                </a:ln>
                <a:solidFill>
                  <a:prstClr val="white"/>
                </a:solidFill>
                <a:effectLst/>
                <a:uLnTx/>
                <a:uFillTx/>
                <a:latin typeface="Arial Narrow" panose="020B0606020202030204" pitchFamily="34" charset="0"/>
                <a:ea typeface="+mn-ea"/>
                <a:cs typeface="+mn-cs"/>
              </a:rPr>
              <a:t>Dr.Col</a:t>
            </a: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 Joseph </a:t>
            </a:r>
            <a:r>
              <a:rPr kumimoji="0" lang="en-US" sz="4800" b="0" i="0" u="none" strike="noStrike" kern="0" cap="none" spc="0" normalizeH="0" baseline="0" noProof="0" dirty="0" err="1" smtClean="0">
                <a:ln>
                  <a:noFill/>
                </a:ln>
                <a:solidFill>
                  <a:prstClr val="white"/>
                </a:solidFill>
                <a:effectLst/>
                <a:uLnTx/>
                <a:uFillTx/>
                <a:latin typeface="Arial Narrow" panose="020B0606020202030204" pitchFamily="34" charset="0"/>
                <a:ea typeface="+mn-ea"/>
                <a:cs typeface="+mn-cs"/>
              </a:rPr>
              <a:t>Kalunga</a:t>
            </a: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 (</a:t>
            </a:r>
            <a:r>
              <a:rPr kumimoji="0" lang="en-US" sz="4800" b="0" i="0" u="none" strike="noStrike" kern="0" cap="none" spc="0" normalizeH="0" baseline="0" noProof="0" dirty="0" err="1" smtClean="0">
                <a:ln>
                  <a:noFill/>
                </a:ln>
                <a:solidFill>
                  <a:prstClr val="white"/>
                </a:solidFill>
                <a:effectLst/>
                <a:uLnTx/>
                <a:uFillTx/>
                <a:latin typeface="Arial Narrow" panose="020B0606020202030204" pitchFamily="34" charset="0"/>
                <a:ea typeface="+mn-ea"/>
                <a:cs typeface="+mn-cs"/>
              </a:rPr>
              <a:t>Ph.D</a:t>
            </a: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4800" b="0" i="0" u="none" strike="noStrike" kern="0" cap="none" spc="0" normalizeH="0" baseline="0" noProof="0" dirty="0" smtClean="0">
                <a:ln>
                  <a:noFill/>
                </a:ln>
                <a:solidFill>
                  <a:prstClr val="white"/>
                </a:solidFill>
                <a:effectLst/>
                <a:uLnTx/>
                <a:uFillTx/>
                <a:latin typeface="Arial Narrow" panose="020B0606020202030204" pitchFamily="34" charset="0"/>
                <a:ea typeface="+mn-ea"/>
                <a:cs typeface="+mn-cs"/>
              </a:rPr>
              <a:t> </a:t>
            </a:r>
          </a:p>
        </p:txBody>
      </p:sp>
    </p:spTree>
    <p:extLst>
      <p:ext uri="{BB962C8B-B14F-4D97-AF65-F5344CB8AC3E}">
        <p14:creationId xmlns:p14="http://schemas.microsoft.com/office/powerpoint/2010/main" val="12822902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Subnetting?</a:t>
            </a:r>
            <a:r>
              <a:rPr lang="en-US" dirty="0" smtClean="0"/>
              <a:t>	</a:t>
            </a:r>
            <a:endParaRPr lang="en-US" dirty="0"/>
          </a:p>
        </p:txBody>
      </p:sp>
      <p:sp>
        <p:nvSpPr>
          <p:cNvPr id="4" name="Content Placeholder 3"/>
          <p:cNvSpPr>
            <a:spLocks noGrp="1"/>
          </p:cNvSpPr>
          <p:nvPr>
            <p:ph sz="quarter" idx="1"/>
          </p:nvPr>
        </p:nvSpPr>
        <p:spPr/>
        <p:txBody>
          <a:bodyPr/>
          <a:lstStyle/>
          <a:p>
            <a:endParaRPr lang="en-US" sz="2800" dirty="0" smtClean="0">
              <a:latin typeface="Georgia"/>
              <a:ea typeface="Times New Roman"/>
              <a:cs typeface="Times New Roman"/>
            </a:endParaRPr>
          </a:p>
          <a:p>
            <a:endParaRPr lang="en-US" sz="2800" dirty="0">
              <a:latin typeface="Georgia"/>
              <a:ea typeface="Times New Roman"/>
              <a:cs typeface="Times New Roman"/>
            </a:endParaRPr>
          </a:p>
          <a:p>
            <a:r>
              <a:rPr lang="en-US" sz="2800" dirty="0" smtClean="0">
                <a:latin typeface="Georgia"/>
                <a:ea typeface="Times New Roman"/>
                <a:cs typeface="Times New Roman"/>
              </a:rPr>
              <a:t>Allows Creating multiple network from a single address block.</a:t>
            </a:r>
          </a:p>
          <a:p>
            <a:r>
              <a:rPr lang="en-US" dirty="0"/>
              <a:t>Subnetting is a process of breaking large network in small networks known as </a:t>
            </a:r>
            <a:r>
              <a:rPr lang="en-US" dirty="0" smtClean="0"/>
              <a:t>subnets.</a:t>
            </a:r>
            <a:endParaRPr lang="en-US" dirty="0"/>
          </a:p>
        </p:txBody>
      </p:sp>
    </p:spTree>
    <p:extLst>
      <p:ext uri="{BB962C8B-B14F-4D97-AF65-F5344CB8AC3E}">
        <p14:creationId xmlns:p14="http://schemas.microsoft.com/office/powerpoint/2010/main" val="22249977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pic>
        <p:nvPicPr>
          <p:cNvPr id="4098" name="Picture 2" descr="C:\Users\touhidulfahim\Desktop\vlsm.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76962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1184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5800"/>
            <a:ext cx="7772400" cy="1143000"/>
          </a:xfrm>
        </p:spPr>
        <p:txBody>
          <a:bodyPr/>
          <a:lstStyle/>
          <a:p>
            <a:r>
              <a:rPr lang="en-US" b="1" dirty="0" smtClean="0"/>
              <a:t>Why Subnetting? </a:t>
            </a:r>
            <a:endParaRPr lang="en-US" b="1" dirty="0"/>
          </a:p>
        </p:txBody>
      </p:sp>
      <p:sp>
        <p:nvSpPr>
          <p:cNvPr id="3" name="Content Placeholder 2"/>
          <p:cNvSpPr>
            <a:spLocks noGrp="1"/>
          </p:cNvSpPr>
          <p:nvPr>
            <p:ph sz="quarter" idx="1"/>
          </p:nvPr>
        </p:nvSpPr>
        <p:spPr>
          <a:xfrm>
            <a:off x="914400" y="1905000"/>
            <a:ext cx="7696200" cy="4343400"/>
          </a:xfrm>
        </p:spPr>
        <p:txBody>
          <a:bodyPr>
            <a:normAutofit/>
          </a:bodyPr>
          <a:lstStyle/>
          <a:p>
            <a:endParaRPr lang="en-US" dirty="0" smtClean="0"/>
          </a:p>
          <a:p>
            <a:r>
              <a:rPr lang="en-US" dirty="0" smtClean="0"/>
              <a:t>Maximise addressing efficiency.</a:t>
            </a:r>
          </a:p>
          <a:p>
            <a:r>
              <a:rPr lang="en-US" dirty="0" smtClean="0"/>
              <a:t>Extend the life of IPV4.</a:t>
            </a:r>
          </a:p>
          <a:p>
            <a:r>
              <a:rPr lang="en-US" dirty="0" smtClean="0"/>
              <a:t>Public IPV4 Addresses are scare.</a:t>
            </a:r>
          </a:p>
          <a:p>
            <a:r>
              <a:rPr lang="en-US" dirty="0" smtClean="0"/>
              <a:t>Easy to manage.</a:t>
            </a:r>
          </a:p>
          <a:p>
            <a:pPr lvl="0"/>
            <a:r>
              <a:rPr lang="en-US" dirty="0"/>
              <a:t>Subnetting reduces network traffic by removing collision and broadcast traffic, that overall improve performance.</a:t>
            </a:r>
          </a:p>
          <a:p>
            <a:r>
              <a:rPr lang="en-US" dirty="0"/>
              <a:t>Subnetting allows you to apply network security polices at the interconnection between subnets</a:t>
            </a:r>
            <a:endParaRPr lang="en-US" dirty="0" smtClean="0"/>
          </a:p>
          <a:p>
            <a:pPr marL="0" indent="0">
              <a:buNone/>
            </a:pPr>
            <a:endParaRPr lang="en-US" sz="4000" b="1" dirty="0">
              <a:latin typeface="+mj-lt"/>
            </a:endParaRPr>
          </a:p>
        </p:txBody>
      </p:sp>
    </p:spTree>
    <p:extLst>
      <p:ext uri="{BB962C8B-B14F-4D97-AF65-F5344CB8AC3E}">
        <p14:creationId xmlns:p14="http://schemas.microsoft.com/office/powerpoint/2010/main" val="5848289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a:t>
            </a:r>
            <a:endParaRPr lang="en-US" b="1" dirty="0"/>
          </a:p>
        </p:txBody>
      </p:sp>
      <p:sp>
        <p:nvSpPr>
          <p:cNvPr id="3" name="Content Placeholder 2"/>
          <p:cNvSpPr>
            <a:spLocks noGrp="1"/>
          </p:cNvSpPr>
          <p:nvPr>
            <p:ph sz="quarter" idx="1"/>
          </p:nvPr>
        </p:nvSpPr>
        <p:spPr/>
        <p:txBody>
          <a:bodyPr/>
          <a:lstStyle/>
          <a:p>
            <a:pPr marL="0" indent="0">
              <a:buNone/>
            </a:pPr>
            <a:r>
              <a:rPr lang="en-US" b="1" dirty="0" smtClean="0"/>
              <a:t>CIDR </a:t>
            </a:r>
            <a:r>
              <a:rPr lang="en-US" b="1" dirty="0"/>
              <a:t>[ Classless Inter Domain Routing</a:t>
            </a:r>
            <a:r>
              <a:rPr lang="en-US" b="1" dirty="0" smtClean="0"/>
              <a:t>]</a:t>
            </a:r>
            <a:r>
              <a:rPr lang="en-US" dirty="0"/>
              <a:t> </a:t>
            </a:r>
          </a:p>
          <a:p>
            <a:r>
              <a:rPr lang="en-US" dirty="0"/>
              <a:t>CIDR is a slash notation of subnet mask. CIDR tells us number of on bits in a network </a:t>
            </a:r>
            <a:r>
              <a:rPr lang="en-US" dirty="0" smtClean="0"/>
              <a:t>address</a:t>
            </a:r>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64836425"/>
              </p:ext>
            </p:extLst>
          </p:nvPr>
        </p:nvGraphicFramePr>
        <p:xfrm>
          <a:off x="1143000" y="2971800"/>
          <a:ext cx="7162800" cy="2453640"/>
        </p:xfrm>
        <a:graphic>
          <a:graphicData uri="http://schemas.openxmlformats.org/drawingml/2006/table">
            <a:tbl>
              <a:tblPr firstRow="1" firstCol="1" bandRow="1">
                <a:tableStyleId>{5C22544A-7EE6-4342-B048-85BDC9FD1C3A}</a:tableStyleId>
              </a:tblPr>
              <a:tblGrid>
                <a:gridCol w="2387600"/>
                <a:gridCol w="2387600"/>
                <a:gridCol w="2387600"/>
              </a:tblGrid>
              <a:tr h="315686">
                <a:tc>
                  <a:txBody>
                    <a:bodyPr/>
                    <a:lstStyle/>
                    <a:p>
                      <a:pPr marL="0" marR="0" algn="ctr">
                        <a:lnSpc>
                          <a:spcPct val="115000"/>
                        </a:lnSpc>
                        <a:spcBef>
                          <a:spcPts val="0"/>
                        </a:spcBef>
                        <a:spcAft>
                          <a:spcPts val="0"/>
                        </a:spcAft>
                      </a:pPr>
                      <a:r>
                        <a:rPr lang="en-US" sz="2000" dirty="0">
                          <a:effectLst/>
                        </a:rPr>
                        <a:t>CIDR</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Decimal</a:t>
                      </a:r>
                      <a:endParaRPr lang="en-US" sz="200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Binary</a:t>
                      </a:r>
                      <a:endParaRPr lang="en-US" sz="200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/25</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128</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10000000</a:t>
                      </a:r>
                      <a:endParaRPr lang="en-US" sz="200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/26</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192</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11000000</a:t>
                      </a:r>
                      <a:endParaRPr lang="en-US" sz="200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/27</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224</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11100000</a:t>
                      </a:r>
                      <a:endParaRPr lang="en-US" sz="200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/28</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240</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a:effectLst/>
                        </a:rPr>
                        <a:t>11110000</a:t>
                      </a:r>
                      <a:endParaRPr lang="en-US" sz="200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/29</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248</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11111000</a:t>
                      </a:r>
                      <a:endParaRPr lang="en-US" sz="2000" dirty="0">
                        <a:effectLst/>
                        <a:latin typeface="Calibri"/>
                        <a:ea typeface="Times New Roman"/>
                        <a:cs typeface="Times New Roman"/>
                      </a:endParaRPr>
                    </a:p>
                  </a:txBody>
                  <a:tcPr marL="68580" marR="68580" marT="0" marB="0"/>
                </a:tc>
              </a:tr>
              <a:tr h="315686">
                <a:tc>
                  <a:txBody>
                    <a:bodyPr/>
                    <a:lstStyle/>
                    <a:p>
                      <a:pPr marL="0" marR="0" algn="ctr">
                        <a:lnSpc>
                          <a:spcPct val="115000"/>
                        </a:lnSpc>
                        <a:spcBef>
                          <a:spcPts val="0"/>
                        </a:spcBef>
                        <a:spcAft>
                          <a:spcPts val="0"/>
                        </a:spcAft>
                      </a:pPr>
                      <a:r>
                        <a:rPr lang="en-US" sz="2000" dirty="0">
                          <a:effectLst/>
                        </a:rPr>
                        <a:t>/30</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252</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a:effectLst/>
                        </a:rPr>
                        <a:t>11111100</a:t>
                      </a: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745628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Formulas &amp; Variables</a:t>
            </a:r>
            <a:endParaRPr lang="en-US" dirty="0"/>
          </a:p>
        </p:txBody>
      </p:sp>
      <p:sp>
        <p:nvSpPr>
          <p:cNvPr id="3" name="Content Placeholder 2"/>
          <p:cNvSpPr>
            <a:spLocks noGrp="1"/>
          </p:cNvSpPr>
          <p:nvPr>
            <p:ph sz="quarter" idx="1"/>
          </p:nvPr>
        </p:nvSpPr>
        <p:spPr/>
        <p:txBody>
          <a:bodyPr/>
          <a:lstStyle/>
          <a:p>
            <a:r>
              <a:rPr lang="en-US" dirty="0" smtClean="0">
                <a:solidFill>
                  <a:schemeClr val="accent1"/>
                </a:solidFill>
              </a:rPr>
              <a:t>h</a:t>
            </a:r>
            <a:r>
              <a:rPr lang="en-US" dirty="0" smtClean="0"/>
              <a:t>=number of host bits</a:t>
            </a:r>
          </a:p>
          <a:p>
            <a:r>
              <a:rPr lang="en-US" dirty="0" smtClean="0">
                <a:solidFill>
                  <a:schemeClr val="accent1"/>
                </a:solidFill>
              </a:rPr>
              <a:t>n</a:t>
            </a:r>
            <a:r>
              <a:rPr lang="en-US" dirty="0" smtClean="0"/>
              <a:t>=number of host bit use in network bits</a:t>
            </a:r>
          </a:p>
          <a:p>
            <a:endParaRPr lang="en-US" dirty="0"/>
          </a:p>
          <a:p>
            <a:r>
              <a:rPr lang="en-US" dirty="0"/>
              <a:t>Number of new networks reulting from the subnetting:	</a:t>
            </a:r>
            <a:r>
              <a:rPr lang="en-US" dirty="0">
                <a:solidFill>
                  <a:schemeClr val="accent1"/>
                </a:solidFill>
                <a:sym typeface="Wingdings" pitchFamily="2" charset="2"/>
              </a:rPr>
              <a:t>=</a:t>
            </a:r>
            <a:r>
              <a:rPr lang="en-US" dirty="0" smtClean="0">
                <a:solidFill>
                  <a:schemeClr val="accent1"/>
                </a:solidFill>
                <a:sym typeface="Wingdings" pitchFamily="2" charset="2"/>
              </a:rPr>
              <a:t>2^n</a:t>
            </a:r>
            <a:endParaRPr lang="en-US" dirty="0">
              <a:solidFill>
                <a:schemeClr val="accent1"/>
              </a:solidFill>
              <a:sym typeface="Wingdings" pitchFamily="2" charset="2"/>
            </a:endParaRPr>
          </a:p>
          <a:p>
            <a:r>
              <a:rPr lang="en-US" dirty="0">
                <a:sym typeface="Wingdings" pitchFamily="2" charset="2"/>
              </a:rPr>
              <a:t>Number of hosts per new network: </a:t>
            </a:r>
            <a:r>
              <a:rPr lang="en-US" dirty="0">
                <a:solidFill>
                  <a:schemeClr val="accent1"/>
                </a:solidFill>
                <a:sym typeface="Wingdings" pitchFamily="2" charset="2"/>
              </a:rPr>
              <a:t>=2^h-2</a:t>
            </a:r>
          </a:p>
          <a:p>
            <a:pPr marL="2240280" lvl="8" indent="0">
              <a:buNone/>
            </a:pPr>
            <a:r>
              <a:rPr lang="en-US" dirty="0" smtClean="0">
                <a:solidFill>
                  <a:schemeClr val="accent2">
                    <a:lumMod val="40000"/>
                    <a:lumOff val="60000"/>
                  </a:schemeClr>
                </a:solidFill>
                <a:sym typeface="Wingdings" pitchFamily="2" charset="2"/>
              </a:rPr>
              <a:t>One </a:t>
            </a:r>
            <a:r>
              <a:rPr lang="en-US" dirty="0">
                <a:solidFill>
                  <a:schemeClr val="accent2">
                    <a:lumMod val="40000"/>
                    <a:lumOff val="60000"/>
                  </a:schemeClr>
                </a:solidFill>
                <a:sym typeface="Wingdings" pitchFamily="2" charset="2"/>
              </a:rPr>
              <a:t>is network another is broadcast</a:t>
            </a:r>
          </a:p>
          <a:p>
            <a:r>
              <a:rPr lang="en-US" sz="2000" b="1" dirty="0"/>
              <a:t>Broadcast</a:t>
            </a:r>
            <a:r>
              <a:rPr lang="en-US" sz="2000" dirty="0"/>
              <a:t> </a:t>
            </a:r>
            <a:r>
              <a:rPr lang="en-US" sz="2000" dirty="0" smtClean="0"/>
              <a:t>address </a:t>
            </a:r>
            <a:r>
              <a:rPr lang="en-US" sz="2000" dirty="0"/>
              <a:t>is the last address of </a:t>
            </a:r>
            <a:r>
              <a:rPr lang="en-US" sz="2000" dirty="0" smtClean="0"/>
              <a:t>subnet.</a:t>
            </a:r>
          </a:p>
          <a:p>
            <a:r>
              <a:rPr lang="en-US" sz="2000" b="1" dirty="0"/>
              <a:t>Block size </a:t>
            </a:r>
            <a:r>
              <a:rPr lang="en-US" sz="2000" dirty="0"/>
              <a:t>or increment number is used to calculate the valid </a:t>
            </a:r>
            <a:r>
              <a:rPr lang="en-US" sz="2000" dirty="0" smtClean="0"/>
              <a:t>subnets</a:t>
            </a:r>
          </a:p>
          <a:p>
            <a:endParaRPr lang="en-US" sz="2000" dirty="0"/>
          </a:p>
        </p:txBody>
      </p:sp>
      <p:cxnSp>
        <p:nvCxnSpPr>
          <p:cNvPr id="7" name="Straight Arrow Connector 6"/>
          <p:cNvCxnSpPr/>
          <p:nvPr/>
        </p:nvCxnSpPr>
        <p:spPr>
          <a:xfrm flipV="1">
            <a:off x="6934200" y="4114800"/>
            <a:ext cx="3810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4846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Example:-1	</a:t>
            </a:r>
            <a:endParaRPr lang="en-US" dirty="0"/>
          </a:p>
        </p:txBody>
      </p:sp>
      <p:sp>
        <p:nvSpPr>
          <p:cNvPr id="3" name="Content Placeholder 2"/>
          <p:cNvSpPr>
            <a:spLocks noGrp="1"/>
          </p:cNvSpPr>
          <p:nvPr>
            <p:ph sz="quarter" idx="1"/>
          </p:nvPr>
        </p:nvSpPr>
        <p:spPr>
          <a:xfrm>
            <a:off x="838200" y="1447800"/>
            <a:ext cx="7848600" cy="5029200"/>
          </a:xfrm>
        </p:spPr>
        <p:txBody>
          <a:bodyPr>
            <a:normAutofit lnSpcReduction="10000"/>
          </a:bodyPr>
          <a:lstStyle/>
          <a:p>
            <a:r>
              <a:rPr lang="en-US" dirty="0" smtClean="0"/>
              <a:t>Subnet base address </a:t>
            </a:r>
          </a:p>
          <a:p>
            <a:endParaRPr lang="en-US" dirty="0" smtClean="0"/>
          </a:p>
          <a:p>
            <a:endParaRPr lang="en-US" dirty="0" smtClean="0"/>
          </a:p>
          <a:p>
            <a:pPr marL="617220" lvl="1" indent="-342900"/>
            <a:endParaRPr lang="en-US" dirty="0"/>
          </a:p>
          <a:p>
            <a:pPr marL="617220" lvl="1" indent="-342900"/>
            <a:r>
              <a:rPr lang="en-US" dirty="0" smtClean="0"/>
              <a:t>New CIDR </a:t>
            </a:r>
            <a:r>
              <a:rPr lang="en-US" dirty="0"/>
              <a:t>length /25</a:t>
            </a:r>
          </a:p>
          <a:p>
            <a:pPr marL="548640" lvl="2" indent="0">
              <a:buNone/>
            </a:pPr>
            <a:r>
              <a:rPr lang="en-US" dirty="0"/>
              <a:t>	</a:t>
            </a:r>
            <a:r>
              <a:rPr lang="en-US" dirty="0">
                <a:sym typeface="Wingdings" pitchFamily="2" charset="2"/>
              </a:rPr>
              <a:t></a:t>
            </a:r>
            <a:r>
              <a:rPr lang="en-US" dirty="0"/>
              <a:t>255.255.255.128(Subnet Mask)</a:t>
            </a:r>
          </a:p>
          <a:p>
            <a:pPr marL="0" indent="0">
              <a:buNone/>
            </a:pPr>
            <a:endParaRPr lang="en-US" dirty="0" smtClean="0"/>
          </a:p>
          <a:p>
            <a:pPr marL="0" indent="0">
              <a:buNone/>
            </a:pPr>
            <a:endParaRPr lang="en-US" dirty="0"/>
          </a:p>
          <a:p>
            <a:pPr marL="0" indent="0">
              <a:buNone/>
            </a:pPr>
            <a:endParaRPr lang="en-US" dirty="0" smtClean="0"/>
          </a:p>
          <a:p>
            <a:r>
              <a:rPr lang="en-US" sz="2400" dirty="0"/>
              <a:t>n</a:t>
            </a:r>
            <a:r>
              <a:rPr lang="en-US" sz="2400" dirty="0" smtClean="0"/>
              <a:t> = 1 [Number of host bit used in network]	</a:t>
            </a:r>
            <a:r>
              <a:rPr lang="en-US" sz="2400" dirty="0" smtClean="0">
                <a:solidFill>
                  <a:srgbClr val="7030A0"/>
                </a:solidFill>
              </a:rPr>
              <a:t>n</a:t>
            </a:r>
          </a:p>
          <a:p>
            <a:r>
              <a:rPr lang="en-US" sz="2400" dirty="0"/>
              <a:t>h</a:t>
            </a:r>
            <a:r>
              <a:rPr lang="en-US" sz="2400" dirty="0" smtClean="0"/>
              <a:t> = 7 [Remaining host bits]</a:t>
            </a:r>
          </a:p>
          <a:p>
            <a:pPr marL="0" indent="0">
              <a:buNone/>
            </a:pPr>
            <a:r>
              <a:rPr lang="en-US" dirty="0" smtClean="0"/>
              <a:t>	</a:t>
            </a:r>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65877772"/>
              </p:ext>
            </p:extLst>
          </p:nvPr>
        </p:nvGraphicFramePr>
        <p:xfrm>
          <a:off x="1371600" y="2011680"/>
          <a:ext cx="6172200" cy="1112520"/>
        </p:xfrm>
        <a:graphic>
          <a:graphicData uri="http://schemas.openxmlformats.org/drawingml/2006/table">
            <a:tbl>
              <a:tblPr firstRow="1" bandRow="1">
                <a:tableStyleId>{5C22544A-7EE6-4342-B048-85BDC9FD1C3A}</a:tableStyleId>
              </a:tblPr>
              <a:tblGrid>
                <a:gridCol w="1543050"/>
                <a:gridCol w="1543050"/>
                <a:gridCol w="1543050"/>
                <a:gridCol w="1543050"/>
              </a:tblGrid>
              <a:tr h="370840">
                <a:tc>
                  <a:txBody>
                    <a:bodyPr/>
                    <a:lstStyle/>
                    <a:p>
                      <a:r>
                        <a:rPr lang="en-US" dirty="0" smtClean="0"/>
                        <a:t>192</a:t>
                      </a:r>
                      <a:endParaRPr lang="en-US" dirty="0"/>
                    </a:p>
                  </a:txBody>
                  <a:tcPr/>
                </a:tc>
                <a:tc>
                  <a:txBody>
                    <a:bodyPr/>
                    <a:lstStyle/>
                    <a:p>
                      <a:r>
                        <a:rPr lang="en-US" dirty="0" smtClean="0"/>
                        <a:t>168</a:t>
                      </a:r>
                      <a:endParaRPr lang="en-US" dirty="0"/>
                    </a:p>
                  </a:txBody>
                  <a:tcPr/>
                </a:tc>
                <a:tc>
                  <a:txBody>
                    <a:bodyPr/>
                    <a:lstStyle/>
                    <a:p>
                      <a:r>
                        <a:rPr lang="en-US" dirty="0" smtClean="0"/>
                        <a:t>1</a:t>
                      </a:r>
                      <a:endParaRPr lang="en-US" dirty="0"/>
                    </a:p>
                  </a:txBody>
                  <a:tcPr/>
                </a:tc>
                <a:tc>
                  <a:txBody>
                    <a:bodyPr/>
                    <a:lstStyle/>
                    <a:p>
                      <a:r>
                        <a:rPr lang="en-US" dirty="0" smtClean="0"/>
                        <a:t>0/24</a:t>
                      </a:r>
                      <a:endParaRPr lang="en-US" dirty="0"/>
                    </a:p>
                  </a:txBody>
                  <a:tcPr/>
                </a:tc>
              </a:tr>
              <a:tr h="370840">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00000000</a:t>
                      </a:r>
                      <a:endParaRPr lang="en-US" dirty="0"/>
                    </a:p>
                  </a:txBody>
                  <a:tcPr/>
                </a:tc>
              </a:tr>
              <a:tr h="370840">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H</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222053358"/>
              </p:ext>
            </p:extLst>
          </p:nvPr>
        </p:nvGraphicFramePr>
        <p:xfrm>
          <a:off x="1371600" y="3962401"/>
          <a:ext cx="6248400" cy="856826"/>
        </p:xfrm>
        <a:graphic>
          <a:graphicData uri="http://schemas.openxmlformats.org/drawingml/2006/table">
            <a:tbl>
              <a:tblPr firstRow="1" bandRow="1">
                <a:tableStyleId>{5C22544A-7EE6-4342-B048-85BDC9FD1C3A}</a:tableStyleId>
              </a:tblPr>
              <a:tblGrid>
                <a:gridCol w="1562100"/>
                <a:gridCol w="1562100"/>
                <a:gridCol w="1562100"/>
                <a:gridCol w="1562100"/>
              </a:tblGrid>
              <a:tr h="428413">
                <a:tc>
                  <a:txBody>
                    <a:bodyPr/>
                    <a:lstStyle/>
                    <a:p>
                      <a:r>
                        <a:rPr lang="en-US" dirty="0" smtClean="0"/>
                        <a:t>192</a:t>
                      </a:r>
                      <a:endParaRPr lang="en-US" dirty="0"/>
                    </a:p>
                  </a:txBody>
                  <a:tcPr/>
                </a:tc>
                <a:tc>
                  <a:txBody>
                    <a:bodyPr/>
                    <a:lstStyle/>
                    <a:p>
                      <a:r>
                        <a:rPr lang="en-US" dirty="0" smtClean="0"/>
                        <a:t>168</a:t>
                      </a:r>
                      <a:endParaRPr lang="en-US" dirty="0"/>
                    </a:p>
                  </a:txBody>
                  <a:tcPr/>
                </a:tc>
                <a:tc>
                  <a:txBody>
                    <a:bodyPr/>
                    <a:lstStyle/>
                    <a:p>
                      <a:r>
                        <a:rPr lang="en-US" dirty="0" smtClean="0"/>
                        <a:t>1</a:t>
                      </a:r>
                      <a:endParaRPr lang="en-US" dirty="0"/>
                    </a:p>
                  </a:txBody>
                  <a:tcPr/>
                </a:tc>
                <a:tc>
                  <a:txBody>
                    <a:bodyPr/>
                    <a:lstStyle/>
                    <a:p>
                      <a:r>
                        <a:rPr lang="en-US" dirty="0" smtClean="0"/>
                        <a:t>0/25</a:t>
                      </a:r>
                      <a:endParaRPr lang="en-US" dirty="0"/>
                    </a:p>
                  </a:txBody>
                  <a:tcPr/>
                </a:tc>
              </a:tr>
              <a:tr h="428413">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10000000</a:t>
                      </a:r>
                      <a:endParaRPr lang="en-US" dirty="0"/>
                    </a:p>
                  </a:txBody>
                  <a:tcPr/>
                </a:tc>
              </a:tr>
            </a:tbl>
          </a:graphicData>
        </a:graphic>
      </p:graphicFrame>
      <p:cxnSp>
        <p:nvCxnSpPr>
          <p:cNvPr id="9" name="Straight Arrow Connector 8"/>
          <p:cNvCxnSpPr/>
          <p:nvPr/>
        </p:nvCxnSpPr>
        <p:spPr>
          <a:xfrm flipH="1" flipV="1">
            <a:off x="6248400" y="4724400"/>
            <a:ext cx="990600" cy="38100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0722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Example:-1</a:t>
            </a:r>
            <a:endParaRPr lang="en-US" dirty="0"/>
          </a:p>
        </p:txBody>
      </p:sp>
      <p:sp>
        <p:nvSpPr>
          <p:cNvPr id="3" name="Content Placeholder 2"/>
          <p:cNvSpPr>
            <a:spLocks noGrp="1"/>
          </p:cNvSpPr>
          <p:nvPr>
            <p:ph sz="quarter" idx="1"/>
          </p:nvPr>
        </p:nvSpPr>
        <p:spPr>
          <a:xfrm>
            <a:off x="914400" y="1447800"/>
            <a:ext cx="7772400" cy="5181600"/>
          </a:xfrm>
        </p:spPr>
        <p:txBody>
          <a:bodyPr/>
          <a:lstStyle/>
          <a:p>
            <a:pPr lvl="1"/>
            <a:r>
              <a:rPr lang="en-US" dirty="0"/>
              <a:t>Total subnets  ( </a:t>
            </a:r>
            <a:r>
              <a:rPr lang="en-US" dirty="0" smtClean="0"/>
              <a:t>2^n</a:t>
            </a:r>
            <a:r>
              <a:rPr lang="en-US" baseline="30000" dirty="0" smtClean="0"/>
              <a:t> </a:t>
            </a:r>
            <a:r>
              <a:rPr lang="en-US" dirty="0"/>
              <a:t>) :-</a:t>
            </a:r>
            <a:r>
              <a:rPr lang="en-US" baseline="30000" dirty="0"/>
              <a:t>	</a:t>
            </a:r>
            <a:r>
              <a:rPr lang="en-US" dirty="0"/>
              <a:t> </a:t>
            </a:r>
            <a:r>
              <a:rPr lang="en-US" dirty="0" smtClean="0"/>
              <a:t>2^1  </a:t>
            </a:r>
            <a:r>
              <a:rPr lang="en-US" dirty="0"/>
              <a:t>= </a:t>
            </a:r>
            <a:r>
              <a:rPr lang="en-US" dirty="0" smtClean="0"/>
              <a:t>2. </a:t>
            </a:r>
            <a:endParaRPr lang="en-US" dirty="0"/>
          </a:p>
          <a:p>
            <a:pPr marL="617220" lvl="1" indent="-342900"/>
            <a:r>
              <a:rPr lang="en-US" dirty="0" smtClean="0"/>
              <a:t>Block </a:t>
            </a:r>
            <a:r>
              <a:rPr lang="en-US" dirty="0"/>
              <a:t>size (256 - subnet mask) </a:t>
            </a:r>
            <a:r>
              <a:rPr lang="en-US" dirty="0" smtClean="0"/>
              <a:t>:- </a:t>
            </a:r>
            <a:r>
              <a:rPr lang="en-US" dirty="0"/>
              <a:t>256 - </a:t>
            </a:r>
            <a:r>
              <a:rPr lang="en-US" dirty="0" smtClean="0"/>
              <a:t>128 </a:t>
            </a:r>
            <a:r>
              <a:rPr lang="en-US" dirty="0"/>
              <a:t>= </a:t>
            </a:r>
            <a:r>
              <a:rPr lang="en-US" dirty="0" smtClean="0"/>
              <a:t>128</a:t>
            </a:r>
          </a:p>
          <a:p>
            <a:pPr marL="617220" lvl="1" indent="-342900"/>
            <a:r>
              <a:rPr lang="en-US" dirty="0"/>
              <a:t>Valid subnets </a:t>
            </a:r>
            <a:r>
              <a:rPr lang="en-US" dirty="0" smtClean="0"/>
              <a:t>0,128</a:t>
            </a:r>
          </a:p>
          <a:p>
            <a:pPr marL="617220" lvl="1" indent="-342900"/>
            <a:r>
              <a:rPr lang="en-US" dirty="0" smtClean="0"/>
              <a:t>Valid host </a:t>
            </a:r>
            <a:r>
              <a:rPr lang="en-US" dirty="0"/>
              <a:t>per </a:t>
            </a:r>
            <a:r>
              <a:rPr lang="en-US" dirty="0" smtClean="0"/>
              <a:t>subnets (2^h-2)=2^7-2=126</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38233598"/>
              </p:ext>
            </p:extLst>
          </p:nvPr>
        </p:nvGraphicFramePr>
        <p:xfrm>
          <a:off x="914400" y="3276600"/>
          <a:ext cx="7848600" cy="3291840"/>
        </p:xfrm>
        <a:graphic>
          <a:graphicData uri="http://schemas.openxmlformats.org/drawingml/2006/table">
            <a:tbl>
              <a:tblPr firstRow="1" firstCol="1" bandRow="1">
                <a:tableStyleId>{5C22544A-7EE6-4342-B048-85BDC9FD1C3A}</a:tableStyleId>
              </a:tblPr>
              <a:tblGrid>
                <a:gridCol w="2616723"/>
                <a:gridCol w="2616723"/>
                <a:gridCol w="2615154"/>
              </a:tblGrid>
              <a:tr h="487680">
                <a:tc>
                  <a:txBody>
                    <a:bodyPr/>
                    <a:lstStyle/>
                    <a:p>
                      <a:pPr marL="0" marR="0" algn="ctr">
                        <a:lnSpc>
                          <a:spcPct val="115000"/>
                        </a:lnSpc>
                        <a:spcBef>
                          <a:spcPts val="0"/>
                        </a:spcBef>
                        <a:spcAft>
                          <a:spcPts val="0"/>
                        </a:spcAft>
                      </a:pPr>
                      <a:r>
                        <a:rPr lang="en-US" sz="2000" dirty="0">
                          <a:effectLst/>
                        </a:rPr>
                        <a:t>Subnets</a:t>
                      </a:r>
                      <a:endParaRPr lang="en-US" sz="2000" dirty="0">
                        <a:effectLst/>
                        <a:latin typeface="Calibri"/>
                        <a:ea typeface="Times New Roman"/>
                        <a:cs typeface="Times New Roman"/>
                      </a:endParaRPr>
                    </a:p>
                  </a:txBody>
                  <a:tcPr marL="68580" marR="68580" marT="0" marB="0" anchor="ctr"/>
                </a:tc>
                <a:tc>
                  <a:txBody>
                    <a:bodyPr/>
                    <a:lstStyle/>
                    <a:p>
                      <a:pPr marL="0" marR="0" indent="457200" algn="ctr">
                        <a:lnSpc>
                          <a:spcPct val="115000"/>
                        </a:lnSpc>
                        <a:spcBef>
                          <a:spcPts val="0"/>
                        </a:spcBef>
                        <a:spcAft>
                          <a:spcPts val="0"/>
                        </a:spcAft>
                      </a:pPr>
                      <a:r>
                        <a:rPr lang="en-US" sz="2000" dirty="0" smtClean="0">
                          <a:effectLst/>
                        </a:rPr>
                        <a:t>Subnet 1</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smtClean="0">
                          <a:effectLst/>
                          <a:latin typeface="Calibri"/>
                          <a:ea typeface="Times New Roman"/>
                          <a:cs typeface="Times New Roman"/>
                        </a:rPr>
                        <a:t>Subnet</a:t>
                      </a:r>
                      <a:r>
                        <a:rPr lang="en-US" sz="2000" baseline="0" dirty="0" smtClean="0">
                          <a:effectLst/>
                          <a:latin typeface="Calibri"/>
                          <a:ea typeface="Times New Roman"/>
                          <a:cs typeface="Times New Roman"/>
                        </a:rPr>
                        <a:t> 2</a:t>
                      </a:r>
                      <a:endParaRPr lang="en-US" sz="2000" dirty="0">
                        <a:effectLst/>
                        <a:latin typeface="Calibri"/>
                        <a:ea typeface="Times New Roman"/>
                        <a:cs typeface="Times New Roman"/>
                      </a:endParaRPr>
                    </a:p>
                  </a:txBody>
                  <a:tcPr marL="68580" marR="68580" marT="0" marB="0" anchor="ctr"/>
                </a:tc>
              </a:tr>
              <a:tr h="487680">
                <a:tc>
                  <a:txBody>
                    <a:bodyPr/>
                    <a:lstStyle/>
                    <a:p>
                      <a:pPr marL="0" marR="0" algn="ctr">
                        <a:lnSpc>
                          <a:spcPct val="115000"/>
                        </a:lnSpc>
                        <a:spcBef>
                          <a:spcPts val="0"/>
                        </a:spcBef>
                        <a:spcAft>
                          <a:spcPts val="0"/>
                        </a:spcAft>
                      </a:pPr>
                      <a:r>
                        <a:rPr lang="en-US" sz="2000" dirty="0">
                          <a:effectLst/>
                        </a:rPr>
                        <a:t>Network ID</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smtClean="0">
                          <a:effectLst/>
                        </a:rPr>
                        <a:t>192.168.1.0</a:t>
                      </a:r>
                      <a:endParaRPr lang="en-US" sz="2000" dirty="0">
                        <a:effectLst/>
                        <a:latin typeface="Calibri"/>
                        <a:ea typeface="Times New Roman"/>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effectLst/>
                        </a:rPr>
                        <a:t>192.168.1.128</a:t>
                      </a:r>
                      <a:endParaRPr lang="en-US" sz="2000" dirty="0" smtClean="0">
                        <a:effectLst/>
                        <a:latin typeface="Calibri"/>
                        <a:ea typeface="Times New Roman"/>
                        <a:cs typeface="Times New Roman"/>
                      </a:endParaRPr>
                    </a:p>
                    <a:p>
                      <a:pPr marL="0" marR="0" algn="ctr">
                        <a:lnSpc>
                          <a:spcPct val="115000"/>
                        </a:lnSpc>
                        <a:spcBef>
                          <a:spcPts val="0"/>
                        </a:spcBef>
                        <a:spcAft>
                          <a:spcPts val="0"/>
                        </a:spcAft>
                      </a:pPr>
                      <a:endParaRPr lang="en-US" sz="2000" dirty="0">
                        <a:effectLst/>
                        <a:latin typeface="Calibri"/>
                        <a:ea typeface="Times New Roman"/>
                        <a:cs typeface="Times New Roman"/>
                      </a:endParaRPr>
                    </a:p>
                  </a:txBody>
                  <a:tcPr marL="68580" marR="68580" marT="0" marB="0"/>
                </a:tc>
              </a:tr>
              <a:tr h="487680">
                <a:tc>
                  <a:txBody>
                    <a:bodyPr/>
                    <a:lstStyle/>
                    <a:p>
                      <a:pPr marL="0" marR="0" algn="ctr">
                        <a:lnSpc>
                          <a:spcPct val="115000"/>
                        </a:lnSpc>
                        <a:spcBef>
                          <a:spcPts val="0"/>
                        </a:spcBef>
                        <a:spcAft>
                          <a:spcPts val="0"/>
                        </a:spcAft>
                      </a:pPr>
                      <a:r>
                        <a:rPr lang="en-US" sz="2000" dirty="0">
                          <a:effectLst/>
                        </a:rPr>
                        <a:t>First host</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smtClean="0">
                          <a:effectLst/>
                        </a:rPr>
                        <a:t>192.168.1.1</a:t>
                      </a:r>
                      <a:endParaRPr lang="en-US" sz="2000" dirty="0">
                        <a:effectLst/>
                        <a:latin typeface="Calibri"/>
                        <a:ea typeface="Times New Roman"/>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effectLst/>
                        </a:rPr>
                        <a:t>192.168.1.129</a:t>
                      </a:r>
                      <a:endParaRPr lang="en-US" sz="2000" dirty="0" smtClean="0">
                        <a:effectLst/>
                        <a:latin typeface="Calibri"/>
                        <a:ea typeface="Times New Roman"/>
                        <a:cs typeface="Times New Roman"/>
                      </a:endParaRPr>
                    </a:p>
                    <a:p>
                      <a:pPr marL="0" marR="0" algn="ctr">
                        <a:lnSpc>
                          <a:spcPct val="115000"/>
                        </a:lnSpc>
                        <a:spcBef>
                          <a:spcPts val="0"/>
                        </a:spcBef>
                        <a:spcAft>
                          <a:spcPts val="0"/>
                        </a:spcAft>
                      </a:pPr>
                      <a:endParaRPr lang="en-US" sz="2000" dirty="0">
                        <a:effectLst/>
                        <a:latin typeface="Calibri"/>
                        <a:ea typeface="Times New Roman"/>
                        <a:cs typeface="Times New Roman"/>
                      </a:endParaRPr>
                    </a:p>
                  </a:txBody>
                  <a:tcPr marL="68580" marR="68580" marT="0" marB="0"/>
                </a:tc>
              </a:tr>
              <a:tr h="487680">
                <a:tc>
                  <a:txBody>
                    <a:bodyPr/>
                    <a:lstStyle/>
                    <a:p>
                      <a:pPr marL="0" marR="0" algn="ctr">
                        <a:lnSpc>
                          <a:spcPct val="115000"/>
                        </a:lnSpc>
                        <a:spcBef>
                          <a:spcPts val="0"/>
                        </a:spcBef>
                        <a:spcAft>
                          <a:spcPts val="0"/>
                        </a:spcAft>
                      </a:pPr>
                      <a:r>
                        <a:rPr lang="en-US" sz="2000" dirty="0">
                          <a:effectLst/>
                        </a:rPr>
                        <a:t>Last host</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smtClean="0">
                          <a:effectLst/>
                        </a:rPr>
                        <a:t>192.168.1.126</a:t>
                      </a:r>
                      <a:endParaRPr lang="en-US" sz="2000" dirty="0">
                        <a:effectLst/>
                        <a:latin typeface="Calibri"/>
                        <a:ea typeface="Times New Roman"/>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effectLst/>
                        </a:rPr>
                        <a:t>192.168.1.254</a:t>
                      </a:r>
                      <a:endParaRPr lang="en-US" sz="2000" dirty="0" smtClean="0">
                        <a:effectLst/>
                        <a:latin typeface="Calibri"/>
                        <a:ea typeface="Times New Roman"/>
                        <a:cs typeface="Times New Roman"/>
                      </a:endParaRPr>
                    </a:p>
                    <a:p>
                      <a:pPr marL="0" marR="0" algn="ctr">
                        <a:lnSpc>
                          <a:spcPct val="115000"/>
                        </a:lnSpc>
                        <a:spcBef>
                          <a:spcPts val="0"/>
                        </a:spcBef>
                        <a:spcAft>
                          <a:spcPts val="0"/>
                        </a:spcAft>
                      </a:pPr>
                      <a:endParaRPr lang="en-US" sz="2000" dirty="0">
                        <a:effectLst/>
                        <a:latin typeface="Calibri"/>
                        <a:ea typeface="Times New Roman"/>
                        <a:cs typeface="Times New Roman"/>
                      </a:endParaRPr>
                    </a:p>
                  </a:txBody>
                  <a:tcPr marL="68580" marR="68580" marT="0" marB="0"/>
                </a:tc>
              </a:tr>
              <a:tr h="487680">
                <a:tc>
                  <a:txBody>
                    <a:bodyPr/>
                    <a:lstStyle/>
                    <a:p>
                      <a:pPr marL="0" marR="0" algn="ctr">
                        <a:lnSpc>
                          <a:spcPct val="115000"/>
                        </a:lnSpc>
                        <a:spcBef>
                          <a:spcPts val="0"/>
                        </a:spcBef>
                        <a:spcAft>
                          <a:spcPts val="0"/>
                        </a:spcAft>
                      </a:pPr>
                      <a:r>
                        <a:rPr lang="en-US" sz="2000" dirty="0">
                          <a:effectLst/>
                        </a:rPr>
                        <a:t>Broadcast ID</a:t>
                      </a:r>
                      <a:endParaRPr lang="en-US" sz="2000"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000" dirty="0" smtClean="0">
                          <a:effectLst/>
                        </a:rPr>
                        <a:t>192.168.1.127</a:t>
                      </a:r>
                      <a:endParaRPr lang="en-US" sz="2000" dirty="0">
                        <a:effectLst/>
                        <a:latin typeface="Calibri"/>
                        <a:ea typeface="Times New Roman"/>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effectLst/>
                        </a:rPr>
                        <a:t>192.168.1.255</a:t>
                      </a:r>
                      <a:endParaRPr lang="en-US" sz="2000" dirty="0" smtClean="0">
                        <a:effectLst/>
                        <a:latin typeface="Calibri"/>
                        <a:ea typeface="Times New Roman"/>
                        <a:cs typeface="Times New Roman"/>
                      </a:endParaRPr>
                    </a:p>
                    <a:p>
                      <a:pPr marL="0" marR="0" algn="ctr">
                        <a:lnSpc>
                          <a:spcPct val="115000"/>
                        </a:lnSpc>
                        <a:spcBef>
                          <a:spcPts val="0"/>
                        </a:spcBef>
                        <a:spcAft>
                          <a:spcPts val="0"/>
                        </a:spcAft>
                      </a:pP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2552449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Example:-2</a:t>
            </a:r>
            <a:endParaRPr lang="en-US" b="1" dirty="0"/>
          </a:p>
        </p:txBody>
      </p:sp>
      <p:sp>
        <p:nvSpPr>
          <p:cNvPr id="3" name="Content Placeholder 2"/>
          <p:cNvSpPr>
            <a:spLocks noGrp="1"/>
          </p:cNvSpPr>
          <p:nvPr>
            <p:ph sz="quarter" idx="1"/>
          </p:nvPr>
        </p:nvSpPr>
        <p:spPr/>
        <p:txBody>
          <a:bodyPr>
            <a:normAutofit lnSpcReduction="10000"/>
          </a:bodyPr>
          <a:lstStyle/>
          <a:p>
            <a:pPr marL="617220" lvl="1" indent="-342900"/>
            <a:r>
              <a:rPr lang="en-US" dirty="0"/>
              <a:t>New Perfix length /26</a:t>
            </a:r>
          </a:p>
          <a:p>
            <a:pPr marL="548640" lvl="2" indent="0">
              <a:buNone/>
            </a:pPr>
            <a:r>
              <a:rPr lang="en-US" dirty="0"/>
              <a:t>	</a:t>
            </a:r>
            <a:r>
              <a:rPr lang="en-US" dirty="0">
                <a:sym typeface="Wingdings" pitchFamily="2" charset="2"/>
              </a:rPr>
              <a:t></a:t>
            </a:r>
            <a:r>
              <a:rPr lang="en-US" dirty="0"/>
              <a:t>255.255.255.192(Subnet Mask)</a:t>
            </a:r>
          </a:p>
          <a:p>
            <a:endParaRPr lang="en-US" dirty="0"/>
          </a:p>
          <a:p>
            <a:pPr marL="274320" lvl="1" indent="0">
              <a:buNone/>
            </a:pPr>
            <a:endParaRPr lang="en-US" dirty="0" smtClean="0"/>
          </a:p>
          <a:p>
            <a:endParaRPr lang="en-US" sz="2400" dirty="0" smtClean="0"/>
          </a:p>
          <a:p>
            <a:pPr lvl="1"/>
            <a:r>
              <a:rPr lang="en-US" dirty="0"/>
              <a:t>n</a:t>
            </a:r>
            <a:r>
              <a:rPr lang="en-US" dirty="0" smtClean="0"/>
              <a:t> = 2 [Number of host bit used in network]	</a:t>
            </a:r>
            <a:r>
              <a:rPr lang="en-US" dirty="0" smtClean="0">
                <a:solidFill>
                  <a:srgbClr val="7030A0"/>
                </a:solidFill>
              </a:rPr>
              <a:t>n</a:t>
            </a:r>
          </a:p>
          <a:p>
            <a:pPr lvl="1"/>
            <a:r>
              <a:rPr lang="en-US" dirty="0"/>
              <a:t>n</a:t>
            </a:r>
            <a:r>
              <a:rPr lang="en-US" dirty="0" smtClean="0"/>
              <a:t> = 6 [Remaining host bits]</a:t>
            </a:r>
          </a:p>
          <a:p>
            <a:pPr lvl="1"/>
            <a:r>
              <a:rPr lang="en-US" dirty="0"/>
              <a:t>Total subnets  ( </a:t>
            </a:r>
            <a:r>
              <a:rPr lang="en-US" dirty="0" smtClean="0"/>
              <a:t>2^n</a:t>
            </a:r>
            <a:r>
              <a:rPr lang="en-US" baseline="30000" dirty="0" smtClean="0"/>
              <a:t> </a:t>
            </a:r>
            <a:r>
              <a:rPr lang="en-US" dirty="0"/>
              <a:t>) :-</a:t>
            </a:r>
            <a:r>
              <a:rPr lang="en-US" baseline="30000" dirty="0"/>
              <a:t>	</a:t>
            </a:r>
            <a:r>
              <a:rPr lang="en-US" dirty="0"/>
              <a:t> 2</a:t>
            </a:r>
            <a:r>
              <a:rPr lang="en-US" baseline="30000" dirty="0"/>
              <a:t>2</a:t>
            </a:r>
            <a:r>
              <a:rPr lang="en-US" dirty="0"/>
              <a:t>  = 4. </a:t>
            </a:r>
          </a:p>
          <a:p>
            <a:pPr lvl="1"/>
            <a:r>
              <a:rPr lang="en-US" dirty="0"/>
              <a:t>Block size (256 - subnet mask) </a:t>
            </a:r>
            <a:r>
              <a:rPr lang="en-US" dirty="0" smtClean="0"/>
              <a:t>:-</a:t>
            </a:r>
            <a:r>
              <a:rPr lang="en-US" dirty="0"/>
              <a:t>	</a:t>
            </a:r>
            <a:r>
              <a:rPr lang="en-US" dirty="0" smtClean="0"/>
              <a:t>256 </a:t>
            </a:r>
            <a:r>
              <a:rPr lang="en-US" dirty="0"/>
              <a:t>- 192 = 64</a:t>
            </a:r>
            <a:r>
              <a:rPr lang="en-US" dirty="0" smtClean="0"/>
              <a:t>.</a:t>
            </a:r>
          </a:p>
          <a:p>
            <a:pPr lvl="1"/>
            <a:r>
              <a:rPr lang="en-US" dirty="0"/>
              <a:t>Valid subnets ( Count blocks from 0)  :-	</a:t>
            </a:r>
            <a:r>
              <a:rPr lang="en-US" dirty="0" smtClean="0"/>
              <a:t>				0,64,128,192</a:t>
            </a:r>
            <a:endParaRPr lang="en-US" dirty="0"/>
          </a:p>
          <a:p>
            <a:pPr lvl="1"/>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492156433"/>
              </p:ext>
            </p:extLst>
          </p:nvPr>
        </p:nvGraphicFramePr>
        <p:xfrm>
          <a:off x="1371600" y="2286000"/>
          <a:ext cx="6096000" cy="74168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smtClean="0"/>
                        <a:t>192</a:t>
                      </a:r>
                      <a:endParaRPr lang="en-US" dirty="0"/>
                    </a:p>
                  </a:txBody>
                  <a:tcPr/>
                </a:tc>
                <a:tc>
                  <a:txBody>
                    <a:bodyPr/>
                    <a:lstStyle/>
                    <a:p>
                      <a:r>
                        <a:rPr lang="en-US" dirty="0" smtClean="0"/>
                        <a:t>168</a:t>
                      </a:r>
                      <a:endParaRPr lang="en-US" dirty="0"/>
                    </a:p>
                  </a:txBody>
                  <a:tcPr/>
                </a:tc>
                <a:tc>
                  <a:txBody>
                    <a:bodyPr/>
                    <a:lstStyle/>
                    <a:p>
                      <a:r>
                        <a:rPr lang="en-US" dirty="0" smtClean="0"/>
                        <a:t>1</a:t>
                      </a:r>
                      <a:endParaRPr lang="en-US" dirty="0"/>
                    </a:p>
                  </a:txBody>
                  <a:tcPr/>
                </a:tc>
                <a:tc>
                  <a:txBody>
                    <a:bodyPr/>
                    <a:lstStyle/>
                    <a:p>
                      <a:r>
                        <a:rPr lang="en-US" dirty="0" smtClean="0"/>
                        <a:t>0/26</a:t>
                      </a:r>
                      <a:endParaRPr lang="en-US" dirty="0"/>
                    </a:p>
                  </a:txBody>
                  <a:tcPr/>
                </a:tc>
              </a:tr>
              <a:tr h="370840">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11111111</a:t>
                      </a:r>
                      <a:endParaRPr lang="en-US" dirty="0"/>
                    </a:p>
                  </a:txBody>
                  <a:tcPr/>
                </a:tc>
                <a:tc>
                  <a:txBody>
                    <a:bodyPr/>
                    <a:lstStyle/>
                    <a:p>
                      <a:r>
                        <a:rPr lang="en-US" dirty="0" smtClean="0"/>
                        <a:t>11000000</a:t>
                      </a:r>
                      <a:endParaRPr lang="en-US" dirty="0"/>
                    </a:p>
                  </a:txBody>
                  <a:tcPr/>
                </a:tc>
              </a:tr>
            </a:tbl>
          </a:graphicData>
        </a:graphic>
      </p:graphicFrame>
      <p:cxnSp>
        <p:nvCxnSpPr>
          <p:cNvPr id="6" name="Straight Arrow Connector 5"/>
          <p:cNvCxnSpPr/>
          <p:nvPr/>
        </p:nvCxnSpPr>
        <p:spPr>
          <a:xfrm flipH="1" flipV="1">
            <a:off x="6172200" y="2971801"/>
            <a:ext cx="1219200" cy="6857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3976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Example:-2</a:t>
            </a:r>
            <a:endParaRPr lang="en-US" dirty="0"/>
          </a:p>
        </p:txBody>
      </p:sp>
      <p:sp>
        <p:nvSpPr>
          <p:cNvPr id="3" name="Content Placeholder 2"/>
          <p:cNvSpPr>
            <a:spLocks noGrp="1"/>
          </p:cNvSpPr>
          <p:nvPr>
            <p:ph sz="quarter" idx="1"/>
          </p:nvPr>
        </p:nvSpPr>
        <p:spPr/>
        <p:txBody>
          <a:bodyPr/>
          <a:lstStyle/>
          <a:p>
            <a:pPr lvl="1"/>
            <a:r>
              <a:rPr lang="en-US" dirty="0"/>
              <a:t>Total hosts (</a:t>
            </a:r>
            <a:r>
              <a:rPr lang="en-US" dirty="0" smtClean="0"/>
              <a:t>2</a:t>
            </a:r>
            <a:r>
              <a:rPr lang="en-US" baseline="30000" dirty="0"/>
              <a:t>h</a:t>
            </a:r>
            <a:r>
              <a:rPr lang="en-US" dirty="0" smtClean="0"/>
              <a:t>) :-	2</a:t>
            </a:r>
            <a:r>
              <a:rPr lang="en-US" baseline="30000" dirty="0" smtClean="0"/>
              <a:t>6</a:t>
            </a:r>
            <a:r>
              <a:rPr lang="en-US" dirty="0" smtClean="0"/>
              <a:t> </a:t>
            </a:r>
            <a:r>
              <a:rPr lang="en-US" dirty="0"/>
              <a:t>= 64</a:t>
            </a:r>
            <a:endParaRPr lang="en-US" sz="2200" dirty="0"/>
          </a:p>
          <a:p>
            <a:pPr lvl="1"/>
            <a:r>
              <a:rPr lang="en-US" dirty="0"/>
              <a:t>Valid hosts per subnet ( </a:t>
            </a:r>
            <a:r>
              <a:rPr lang="en-US" dirty="0" smtClean="0"/>
              <a:t>2^h- </a:t>
            </a:r>
            <a:r>
              <a:rPr lang="en-US" dirty="0"/>
              <a:t>2 ) :-	64 - 2 = 62</a:t>
            </a:r>
            <a:endParaRPr lang="en-US" sz="2200" dirty="0"/>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98908834"/>
              </p:ext>
            </p:extLst>
          </p:nvPr>
        </p:nvGraphicFramePr>
        <p:xfrm>
          <a:off x="838200" y="2819400"/>
          <a:ext cx="7924800" cy="2971800"/>
        </p:xfrm>
        <a:graphic>
          <a:graphicData uri="http://schemas.openxmlformats.org/drawingml/2006/table">
            <a:tbl>
              <a:tblPr firstRow="1" firstCol="1" bandRow="1">
                <a:tableStyleId>{5C22544A-7EE6-4342-B048-85BDC9FD1C3A}</a:tableStyleId>
              </a:tblPr>
              <a:tblGrid>
                <a:gridCol w="1584960"/>
                <a:gridCol w="1584960"/>
                <a:gridCol w="1584960"/>
                <a:gridCol w="1584960"/>
                <a:gridCol w="1584960"/>
              </a:tblGrid>
              <a:tr h="594360">
                <a:tc>
                  <a:txBody>
                    <a:bodyPr/>
                    <a:lstStyle/>
                    <a:p>
                      <a:pPr marL="0" marR="0" algn="ctr">
                        <a:lnSpc>
                          <a:spcPct val="115000"/>
                        </a:lnSpc>
                        <a:spcBef>
                          <a:spcPts val="0"/>
                        </a:spcBef>
                        <a:spcAft>
                          <a:spcPts val="0"/>
                        </a:spcAft>
                      </a:pPr>
                      <a:r>
                        <a:rPr lang="en-US" sz="1200" b="1" dirty="0">
                          <a:effectLst/>
                        </a:rPr>
                        <a:t>Subnets</a:t>
                      </a:r>
                      <a:endParaRPr lang="en-US" sz="1100" b="1" dirty="0">
                        <a:effectLst/>
                        <a:latin typeface="Calibri"/>
                        <a:ea typeface="Times New Roman"/>
                        <a:cs typeface="Times New Roman"/>
                      </a:endParaRPr>
                    </a:p>
                  </a:txBody>
                  <a:tcPr marL="68580" marR="68580" marT="0" marB="0"/>
                </a:tc>
                <a:tc>
                  <a:txBody>
                    <a:bodyPr/>
                    <a:lstStyle/>
                    <a:p>
                      <a:pPr marL="0" marR="0" indent="457200" algn="ctr">
                        <a:lnSpc>
                          <a:spcPct val="115000"/>
                        </a:lnSpc>
                        <a:spcBef>
                          <a:spcPts val="0"/>
                        </a:spcBef>
                        <a:spcAft>
                          <a:spcPts val="0"/>
                        </a:spcAft>
                      </a:pPr>
                      <a:r>
                        <a:rPr lang="en-US" sz="1200" b="1" dirty="0">
                          <a:effectLst/>
                        </a:rPr>
                        <a:t>Subnet 1</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Subnet 2</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Subnet 3</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Subnet 4</a:t>
                      </a:r>
                      <a:endParaRPr lang="en-US" sz="1100" b="1">
                        <a:effectLst/>
                        <a:latin typeface="Calibri"/>
                        <a:ea typeface="Times New Roman"/>
                        <a:cs typeface="Times New Roman"/>
                      </a:endParaRPr>
                    </a:p>
                  </a:txBody>
                  <a:tcPr marL="68580" marR="68580" marT="0" marB="0"/>
                </a:tc>
              </a:tr>
              <a:tr h="594360">
                <a:tc>
                  <a:txBody>
                    <a:bodyPr/>
                    <a:lstStyle/>
                    <a:p>
                      <a:pPr marL="0" marR="0" algn="ctr">
                        <a:lnSpc>
                          <a:spcPct val="115000"/>
                        </a:lnSpc>
                        <a:spcBef>
                          <a:spcPts val="0"/>
                        </a:spcBef>
                        <a:spcAft>
                          <a:spcPts val="0"/>
                        </a:spcAft>
                      </a:pPr>
                      <a:r>
                        <a:rPr lang="en-US" sz="1200" b="1" dirty="0">
                          <a:effectLst/>
                        </a:rPr>
                        <a:t>Network ID</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0</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64</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128</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192</a:t>
                      </a:r>
                      <a:endParaRPr lang="en-US" sz="1100" b="1">
                        <a:effectLst/>
                        <a:latin typeface="Calibri"/>
                        <a:ea typeface="Times New Roman"/>
                        <a:cs typeface="Times New Roman"/>
                      </a:endParaRPr>
                    </a:p>
                  </a:txBody>
                  <a:tcPr marL="68580" marR="68580" marT="0" marB="0"/>
                </a:tc>
              </a:tr>
              <a:tr h="594360">
                <a:tc>
                  <a:txBody>
                    <a:bodyPr/>
                    <a:lstStyle/>
                    <a:p>
                      <a:pPr marL="0" marR="0" algn="ctr">
                        <a:lnSpc>
                          <a:spcPct val="115000"/>
                        </a:lnSpc>
                        <a:spcBef>
                          <a:spcPts val="0"/>
                        </a:spcBef>
                        <a:spcAft>
                          <a:spcPts val="0"/>
                        </a:spcAft>
                      </a:pPr>
                      <a:r>
                        <a:rPr lang="en-US" sz="1200" b="1" dirty="0">
                          <a:effectLst/>
                        </a:rPr>
                        <a:t>First host</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1</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65</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129</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193</a:t>
                      </a:r>
                      <a:endParaRPr lang="en-US" sz="1100" b="1">
                        <a:effectLst/>
                        <a:latin typeface="Calibri"/>
                        <a:ea typeface="Times New Roman"/>
                        <a:cs typeface="Times New Roman"/>
                      </a:endParaRPr>
                    </a:p>
                  </a:txBody>
                  <a:tcPr marL="68580" marR="68580" marT="0" marB="0"/>
                </a:tc>
              </a:tr>
              <a:tr h="594360">
                <a:tc>
                  <a:txBody>
                    <a:bodyPr/>
                    <a:lstStyle/>
                    <a:p>
                      <a:pPr marL="0" marR="0" algn="ctr">
                        <a:lnSpc>
                          <a:spcPct val="115000"/>
                        </a:lnSpc>
                        <a:spcBef>
                          <a:spcPts val="0"/>
                        </a:spcBef>
                        <a:spcAft>
                          <a:spcPts val="0"/>
                        </a:spcAft>
                      </a:pPr>
                      <a:r>
                        <a:rPr lang="en-US" sz="1200" b="1">
                          <a:effectLst/>
                        </a:rPr>
                        <a:t>Last host</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62</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126</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190</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254</a:t>
                      </a:r>
                      <a:endParaRPr lang="en-US" sz="1100" b="1">
                        <a:effectLst/>
                        <a:latin typeface="Calibri"/>
                        <a:ea typeface="Times New Roman"/>
                        <a:cs typeface="Times New Roman"/>
                      </a:endParaRPr>
                    </a:p>
                  </a:txBody>
                  <a:tcPr marL="68580" marR="68580" marT="0" marB="0"/>
                </a:tc>
              </a:tr>
              <a:tr h="594360">
                <a:tc>
                  <a:txBody>
                    <a:bodyPr/>
                    <a:lstStyle/>
                    <a:p>
                      <a:pPr marL="0" marR="0" algn="ctr">
                        <a:lnSpc>
                          <a:spcPct val="115000"/>
                        </a:lnSpc>
                        <a:spcBef>
                          <a:spcPts val="0"/>
                        </a:spcBef>
                        <a:spcAft>
                          <a:spcPts val="0"/>
                        </a:spcAft>
                      </a:pPr>
                      <a:r>
                        <a:rPr lang="en-US" sz="1200" b="1" dirty="0">
                          <a:effectLst/>
                        </a:rPr>
                        <a:t>Broadcast ID</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a:effectLst/>
                        </a:rPr>
                        <a:t>63</a:t>
                      </a:r>
                      <a:endParaRPr lang="en-US" sz="1100" b="1">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127</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191</a:t>
                      </a:r>
                      <a:endParaRPr lang="en-US" sz="1100" b="1" dirty="0">
                        <a:effectLst/>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200" b="1" dirty="0">
                          <a:effectLst/>
                        </a:rPr>
                        <a:t>255</a:t>
                      </a:r>
                      <a:endParaRPr lang="en-US" sz="1100" b="1"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1452296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Subnet Mask</a:t>
            </a:r>
            <a:endParaRPr lang="en-US" dirty="0"/>
          </a:p>
        </p:txBody>
      </p:sp>
      <p:sp>
        <p:nvSpPr>
          <p:cNvPr id="3" name="Content Placeholder 2"/>
          <p:cNvSpPr>
            <a:spLocks noGrp="1"/>
          </p:cNvSpPr>
          <p:nvPr>
            <p:ph sz="quarter" idx="1"/>
          </p:nvPr>
        </p:nvSpPr>
        <p:spPr/>
        <p:txBody>
          <a:bodyPr/>
          <a:lstStyle/>
          <a:p>
            <a:r>
              <a:rPr lang="en-US" sz="2000" dirty="0" smtClean="0"/>
              <a:t>Subnet </a:t>
            </a:r>
            <a:r>
              <a:rPr lang="en-US" sz="2000" dirty="0"/>
              <a:t>mask is a 32 bits long address used to distinguish between network address and host address in IP address. Subnet mask is always used with IP address. Subnet mask has only one purpose, to identify which part of an IP address </a:t>
            </a:r>
            <a:r>
              <a:rPr lang="en-US" sz="2000" dirty="0" smtClean="0"/>
              <a:t>is network </a:t>
            </a:r>
            <a:r>
              <a:rPr lang="en-US" sz="2000" dirty="0"/>
              <a:t>address and which part is host address</a:t>
            </a:r>
            <a:r>
              <a:rPr lang="en-US" dirty="0"/>
              <a:t>.</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358608179"/>
              </p:ext>
            </p:extLst>
          </p:nvPr>
        </p:nvGraphicFramePr>
        <p:xfrm>
          <a:off x="1066800" y="3657600"/>
          <a:ext cx="7162800" cy="1295400"/>
        </p:xfrm>
        <a:graphic>
          <a:graphicData uri="http://schemas.openxmlformats.org/drawingml/2006/table">
            <a:tbl>
              <a:tblPr firstRow="1" bandRow="1">
                <a:tableStyleId>{5C22544A-7EE6-4342-B048-85BDC9FD1C3A}</a:tableStyleId>
              </a:tblPr>
              <a:tblGrid>
                <a:gridCol w="1752600"/>
                <a:gridCol w="1112520"/>
                <a:gridCol w="1432560"/>
                <a:gridCol w="1432560"/>
                <a:gridCol w="1432560"/>
              </a:tblGrid>
              <a:tr h="647700">
                <a:tc>
                  <a:txBody>
                    <a:bodyPr/>
                    <a:lstStyle/>
                    <a:p>
                      <a:pPr algn="ctr"/>
                      <a:r>
                        <a:rPr lang="en-US" dirty="0" smtClean="0"/>
                        <a:t>IP</a:t>
                      </a:r>
                      <a:endParaRPr lang="en-US" dirty="0"/>
                    </a:p>
                  </a:txBody>
                  <a:tcPr/>
                </a:tc>
                <a:tc>
                  <a:txBody>
                    <a:bodyPr/>
                    <a:lstStyle/>
                    <a:p>
                      <a:pPr algn="ctr"/>
                      <a:r>
                        <a:rPr lang="en-US" sz="2000" dirty="0" smtClean="0"/>
                        <a:t>192</a:t>
                      </a:r>
                      <a:endParaRPr lang="en-US" sz="2000" dirty="0"/>
                    </a:p>
                  </a:txBody>
                  <a:tcPr/>
                </a:tc>
                <a:tc>
                  <a:txBody>
                    <a:bodyPr/>
                    <a:lstStyle/>
                    <a:p>
                      <a:pPr algn="ctr"/>
                      <a:r>
                        <a:rPr lang="en-US" sz="2000" dirty="0" smtClean="0"/>
                        <a:t>168</a:t>
                      </a:r>
                      <a:endParaRPr lang="en-US" sz="2000" dirty="0"/>
                    </a:p>
                  </a:txBody>
                  <a:tcPr/>
                </a:tc>
                <a:tc>
                  <a:txBody>
                    <a:bodyPr/>
                    <a:lstStyle/>
                    <a:p>
                      <a:pPr algn="ctr"/>
                      <a:r>
                        <a:rPr lang="en-US" sz="2000" dirty="0" smtClean="0"/>
                        <a:t>1</a:t>
                      </a:r>
                      <a:endParaRPr lang="en-US" sz="2000" dirty="0"/>
                    </a:p>
                  </a:txBody>
                  <a:tcPr/>
                </a:tc>
                <a:tc>
                  <a:txBody>
                    <a:bodyPr/>
                    <a:lstStyle/>
                    <a:p>
                      <a:pPr algn="ctr"/>
                      <a:r>
                        <a:rPr lang="en-US" sz="2000" dirty="0" smtClean="0"/>
                        <a:t>1</a:t>
                      </a:r>
                      <a:endParaRPr lang="en-US" sz="2000" dirty="0"/>
                    </a:p>
                  </a:txBody>
                  <a:tcPr/>
                </a:tc>
              </a:tr>
              <a:tr h="647700">
                <a:tc>
                  <a:txBody>
                    <a:bodyPr/>
                    <a:lstStyle/>
                    <a:p>
                      <a:pPr algn="ctr"/>
                      <a:r>
                        <a:rPr lang="en-US" dirty="0" smtClean="0"/>
                        <a:t>Subnet mask</a:t>
                      </a:r>
                      <a:endParaRPr lang="en-US" dirty="0"/>
                    </a:p>
                  </a:txBody>
                  <a:tcPr/>
                </a:tc>
                <a:tc>
                  <a:txBody>
                    <a:bodyPr/>
                    <a:lstStyle/>
                    <a:p>
                      <a:pPr algn="ctr"/>
                      <a:r>
                        <a:rPr lang="en-US" sz="2000" dirty="0" smtClean="0"/>
                        <a:t>255</a:t>
                      </a:r>
                      <a:endParaRPr lang="en-US" sz="2000" dirty="0"/>
                    </a:p>
                  </a:txBody>
                  <a:tcPr/>
                </a:tc>
                <a:tc>
                  <a:txBody>
                    <a:bodyPr/>
                    <a:lstStyle/>
                    <a:p>
                      <a:pPr algn="ctr"/>
                      <a:r>
                        <a:rPr lang="en-US" sz="2000" dirty="0" smtClean="0"/>
                        <a:t>255</a:t>
                      </a:r>
                      <a:endParaRPr lang="en-US" sz="2000" dirty="0"/>
                    </a:p>
                  </a:txBody>
                  <a:tcPr/>
                </a:tc>
                <a:tc>
                  <a:txBody>
                    <a:bodyPr/>
                    <a:lstStyle/>
                    <a:p>
                      <a:pPr algn="ctr"/>
                      <a:r>
                        <a:rPr lang="en-US" sz="2000" dirty="0" smtClean="0"/>
                        <a:t>255</a:t>
                      </a:r>
                      <a:endParaRPr lang="en-US" sz="2000" dirty="0"/>
                    </a:p>
                  </a:txBody>
                  <a:tcPr/>
                </a:tc>
                <a:tc>
                  <a:txBody>
                    <a:bodyPr/>
                    <a:lstStyle/>
                    <a:p>
                      <a:pPr algn="ctr"/>
                      <a:r>
                        <a:rPr lang="en-US" sz="2000" dirty="0" smtClean="0"/>
                        <a:t>128</a:t>
                      </a:r>
                      <a:endParaRPr lang="en-US" sz="2000" dirty="0"/>
                    </a:p>
                  </a:txBody>
                  <a:tcPr/>
                </a:tc>
              </a:tr>
            </a:tbl>
          </a:graphicData>
        </a:graphic>
      </p:graphicFrame>
    </p:spTree>
    <p:extLst>
      <p:ext uri="{BB962C8B-B14F-4D97-AF65-F5344CB8AC3E}">
        <p14:creationId xmlns:p14="http://schemas.microsoft.com/office/powerpoint/2010/main" val="7801555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Case Study	</a:t>
            </a:r>
            <a:endParaRPr lang="en-US" dirty="0"/>
          </a:p>
        </p:txBody>
      </p:sp>
      <p:sp>
        <p:nvSpPr>
          <p:cNvPr id="5" name="Text Placeholder 4"/>
          <p:cNvSpPr>
            <a:spLocks noGrp="1"/>
          </p:cNvSpPr>
          <p:nvPr>
            <p:ph type="body" idx="1"/>
          </p:nvPr>
        </p:nvSpPr>
        <p:spPr/>
        <p:txBody>
          <a:bodyPr/>
          <a:lstStyle/>
          <a:p>
            <a:r>
              <a:rPr lang="en-US" dirty="0" smtClean="0"/>
              <a:t>In Real Life Example</a:t>
            </a:r>
            <a:endParaRPr lang="en-US" dirty="0"/>
          </a:p>
        </p:txBody>
      </p:sp>
    </p:spTree>
    <p:extLst>
      <p:ext uri="{BB962C8B-B14F-4D97-AF65-F5344CB8AC3E}">
        <p14:creationId xmlns:p14="http://schemas.microsoft.com/office/powerpoint/2010/main" val="33757450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85800" y="1371600"/>
            <a:ext cx="8610600" cy="5181600"/>
          </a:xfrm>
        </p:spPr>
      </p:pic>
    </p:spTree>
    <p:extLst>
      <p:ext uri="{BB962C8B-B14F-4D97-AF65-F5344CB8AC3E}">
        <p14:creationId xmlns:p14="http://schemas.microsoft.com/office/powerpoint/2010/main" val="30015522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real life scenario</a:t>
            </a:r>
          </a:p>
        </p:txBody>
      </p:sp>
      <p:sp>
        <p:nvSpPr>
          <p:cNvPr id="3" name="Content Placeholder 2"/>
          <p:cNvSpPr>
            <a:spLocks noGrp="1"/>
          </p:cNvSpPr>
          <p:nvPr>
            <p:ph sz="quarter" idx="1"/>
          </p:nvPr>
        </p:nvSpPr>
        <p:spPr/>
        <p:txBody>
          <a:bodyPr>
            <a:normAutofit/>
          </a:bodyPr>
          <a:lstStyle/>
          <a:p>
            <a:r>
              <a:rPr lang="en-US" dirty="0" smtClean="0"/>
              <a:t>some </a:t>
            </a:r>
            <a:r>
              <a:rPr lang="en-US" dirty="0"/>
              <a:t>subnets may require large number of host addresses while other may require only few addresses. </a:t>
            </a:r>
          </a:p>
          <a:p>
            <a:r>
              <a:rPr lang="en-US" dirty="0" smtClean="0"/>
              <a:t>Assume </a:t>
            </a:r>
            <a:r>
              <a:rPr lang="en-US" dirty="0"/>
              <a:t>that you are a network administrator </a:t>
            </a:r>
            <a:r>
              <a:rPr lang="en-US" dirty="0" smtClean="0"/>
              <a:t> &amp; EDU </a:t>
            </a:r>
            <a:r>
              <a:rPr lang="en-US" dirty="0"/>
              <a:t>has three departments connected with wan links. </a:t>
            </a:r>
          </a:p>
          <a:p>
            <a:pPr lvl="2"/>
            <a:r>
              <a:rPr lang="en-US" sz="1800" dirty="0" smtClean="0"/>
              <a:t>CSE </a:t>
            </a:r>
            <a:r>
              <a:rPr lang="en-US" sz="1800" dirty="0"/>
              <a:t>department has 74 computers.</a:t>
            </a:r>
          </a:p>
          <a:p>
            <a:pPr lvl="2"/>
            <a:r>
              <a:rPr lang="en-US" sz="1800" dirty="0" smtClean="0"/>
              <a:t>EEE </a:t>
            </a:r>
            <a:r>
              <a:rPr lang="en-US" sz="1800" dirty="0"/>
              <a:t>department has 52 computers.</a:t>
            </a:r>
          </a:p>
          <a:p>
            <a:pPr lvl="2"/>
            <a:r>
              <a:rPr lang="en-US" sz="1800" dirty="0" smtClean="0"/>
              <a:t>Administrative </a:t>
            </a:r>
            <a:r>
              <a:rPr lang="en-US" sz="1800" dirty="0"/>
              <a:t>department has 28 computers.</a:t>
            </a:r>
          </a:p>
          <a:p>
            <a:pPr lvl="2"/>
            <a:r>
              <a:rPr lang="en-US" sz="1800" dirty="0"/>
              <a:t>All departments are connected with each other via wan link.</a:t>
            </a:r>
          </a:p>
          <a:p>
            <a:pPr lvl="2"/>
            <a:r>
              <a:rPr lang="en-US" sz="1800" dirty="0"/>
              <a:t>Each wan link requires two IP addresses.</a:t>
            </a:r>
          </a:p>
          <a:p>
            <a:pPr marL="0" indent="0">
              <a:buNone/>
            </a:pPr>
            <a:endParaRPr lang="en-US" sz="1800" dirty="0"/>
          </a:p>
        </p:txBody>
      </p:sp>
    </p:spTree>
    <p:extLst>
      <p:ext uri="{BB962C8B-B14F-4D97-AF65-F5344CB8AC3E}">
        <p14:creationId xmlns:p14="http://schemas.microsoft.com/office/powerpoint/2010/main" val="27286058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Choose address</a:t>
            </a:r>
            <a:endParaRPr lang="en-US" dirty="0"/>
          </a:p>
        </p:txBody>
      </p:sp>
      <p:sp>
        <p:nvSpPr>
          <p:cNvPr id="3" name="Content Placeholder 2"/>
          <p:cNvSpPr>
            <a:spLocks noGrp="1"/>
          </p:cNvSpPr>
          <p:nvPr>
            <p:ph sz="quarter" idx="1"/>
          </p:nvPr>
        </p:nvSpPr>
        <p:spPr/>
        <p:txBody>
          <a:bodyPr>
            <a:normAutofit/>
          </a:bodyPr>
          <a:lstStyle/>
          <a:p>
            <a:r>
              <a:rPr lang="en-US" dirty="0"/>
              <a:t>First choice (</a:t>
            </a:r>
            <a:r>
              <a:rPr lang="en-US" i="1" dirty="0"/>
              <a:t>purchase a class B IP address</a:t>
            </a:r>
            <a:r>
              <a:rPr lang="en-US" dirty="0"/>
              <a:t>)</a:t>
            </a:r>
          </a:p>
          <a:p>
            <a:pPr marL="0" indent="0" algn="ctr">
              <a:buNone/>
            </a:pPr>
            <a:r>
              <a:rPr lang="en-US" dirty="0" smtClean="0">
                <a:solidFill>
                  <a:schemeClr val="accent1"/>
                </a:solidFill>
              </a:rPr>
              <a:t>172.168.1.0/23</a:t>
            </a:r>
          </a:p>
          <a:p>
            <a:pPr marL="0" indent="0">
              <a:buNone/>
            </a:pPr>
            <a:r>
              <a:rPr lang="en-US" dirty="0"/>
              <a:t>Subnetting of this address would give us 128 subnets and 510 hosts in each subnet. Our network requires only 6 subnets and 160 addresses. We would have to pay for 65356 addresses while you need only 160 addresses. Every IP address adds more dollars in company bill. Would you consider this address space for company</a:t>
            </a:r>
            <a:r>
              <a:rPr lang="en-US" dirty="0" smtClean="0"/>
              <a:t>?</a:t>
            </a:r>
            <a:endParaRPr lang="en-US" dirty="0"/>
          </a:p>
        </p:txBody>
      </p:sp>
    </p:spTree>
    <p:extLst>
      <p:ext uri="{BB962C8B-B14F-4D97-AF65-F5344CB8AC3E}">
        <p14:creationId xmlns:p14="http://schemas.microsoft.com/office/powerpoint/2010/main" val="24368028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fontScale="92500"/>
          </a:bodyPr>
          <a:lstStyle/>
          <a:p>
            <a:r>
              <a:rPr lang="en-US" dirty="0"/>
              <a:t>Second choice (</a:t>
            </a:r>
            <a:r>
              <a:rPr lang="en-US" i="1" dirty="0"/>
              <a:t>purchase at least two Class C IP addresses)</a:t>
            </a:r>
            <a:endParaRPr lang="en-US" dirty="0"/>
          </a:p>
          <a:p>
            <a:pPr marL="0" lvl="0" indent="0" algn="ctr">
              <a:buNone/>
            </a:pPr>
            <a:r>
              <a:rPr lang="en-US" dirty="0">
                <a:solidFill>
                  <a:schemeClr val="accent1"/>
                </a:solidFill>
              </a:rPr>
              <a:t>192.168.1.0/25</a:t>
            </a:r>
          </a:p>
          <a:p>
            <a:pPr marL="0" lvl="0" indent="0" algn="ctr">
              <a:buNone/>
            </a:pPr>
            <a:r>
              <a:rPr lang="en-US" dirty="0" smtClean="0">
                <a:solidFill>
                  <a:schemeClr val="accent1"/>
                </a:solidFill>
              </a:rPr>
              <a:t>192.168.1.0/26</a:t>
            </a:r>
            <a:endParaRPr lang="en-US" dirty="0">
              <a:solidFill>
                <a:schemeClr val="accent1"/>
              </a:solidFill>
            </a:endParaRPr>
          </a:p>
          <a:p>
            <a:pPr marL="0" indent="0">
              <a:buNone/>
            </a:pPr>
            <a:endParaRPr lang="en-US" dirty="0"/>
          </a:p>
          <a:p>
            <a:r>
              <a:rPr lang="en-US" dirty="0"/>
              <a:t>Subnetting of first address 192.168.1.0/25 would give us 2 subnets and 126 hosts in each subnet. </a:t>
            </a:r>
          </a:p>
          <a:p>
            <a:r>
              <a:rPr lang="en-US" dirty="0"/>
              <a:t>Subnetting of second address </a:t>
            </a:r>
            <a:r>
              <a:rPr lang="en-US" dirty="0" smtClean="0"/>
              <a:t>192.168.1.0/26 </a:t>
            </a:r>
            <a:r>
              <a:rPr lang="en-US" dirty="0"/>
              <a:t>would give us 4 subnets and 62 hosts in each subnet.</a:t>
            </a:r>
          </a:p>
          <a:p>
            <a:r>
              <a:rPr lang="en-US" dirty="0"/>
              <a:t>Collectively we are getting 6 subnets and 500 hosts from these two address spaces. We are still wasting more than 300 IP address, and we would have to purchase two address spaces. </a:t>
            </a:r>
          </a:p>
          <a:p>
            <a:endParaRPr lang="en-US" dirty="0"/>
          </a:p>
        </p:txBody>
      </p:sp>
    </p:spTree>
    <p:extLst>
      <p:ext uri="{BB962C8B-B14F-4D97-AF65-F5344CB8AC3E}">
        <p14:creationId xmlns:p14="http://schemas.microsoft.com/office/powerpoint/2010/main" val="2415316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Step-1	</a:t>
            </a:r>
            <a:endParaRPr lang="en-US" dirty="0"/>
          </a:p>
        </p:txBody>
      </p:sp>
      <p:sp>
        <p:nvSpPr>
          <p:cNvPr id="3" name="Content Placeholder 2"/>
          <p:cNvSpPr>
            <a:spLocks noGrp="1"/>
          </p:cNvSpPr>
          <p:nvPr>
            <p:ph sz="quarter" idx="1"/>
          </p:nvPr>
        </p:nvSpPr>
        <p:spPr/>
        <p:txBody>
          <a:bodyPr/>
          <a:lstStyle/>
          <a:p>
            <a:r>
              <a:rPr lang="en-US" dirty="0"/>
              <a:t>Oder all segments according the hosts requirement (Largest to smallest). </a:t>
            </a:r>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00051848"/>
              </p:ext>
            </p:extLst>
          </p:nvPr>
        </p:nvGraphicFramePr>
        <p:xfrm>
          <a:off x="990600" y="2743200"/>
          <a:ext cx="7315200" cy="2595880"/>
        </p:xfrm>
        <a:graphic>
          <a:graphicData uri="http://schemas.openxmlformats.org/drawingml/2006/table">
            <a:tbl>
              <a:tblPr firstRow="1" bandRow="1">
                <a:tableStyleId>{5C22544A-7EE6-4342-B048-85BDC9FD1C3A}</a:tableStyleId>
              </a:tblPr>
              <a:tblGrid>
                <a:gridCol w="2438400"/>
                <a:gridCol w="2438400"/>
                <a:gridCol w="2438400"/>
              </a:tblGrid>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Subnet</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latin typeface="Georgia"/>
                          <a:ea typeface="Times New Roman"/>
                          <a:cs typeface="Times New Roman"/>
                        </a:rPr>
                        <a:t>Segment</a:t>
                      </a:r>
                      <a:endParaRPr lang="en-US" sz="20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smtClean="0">
                          <a:solidFill>
                            <a:schemeClr val="bg1"/>
                          </a:solidFill>
                          <a:effectLst/>
                          <a:latin typeface="Georgia"/>
                          <a:ea typeface="Times New Roman"/>
                          <a:cs typeface="Times New Roman"/>
                        </a:rPr>
                        <a:t>Host</a:t>
                      </a:r>
                      <a:endParaRPr lang="en-US" sz="2000" dirty="0">
                        <a:solidFill>
                          <a:schemeClr val="bg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1</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smtClean="0">
                          <a:effectLst/>
                          <a:latin typeface="Georgia"/>
                          <a:ea typeface="Times New Roman"/>
                          <a:cs typeface="Times New Roman"/>
                        </a:rPr>
                        <a:t>CSE</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74</a:t>
                      </a:r>
                      <a:endParaRPr lang="en-US" sz="2000" dirty="0">
                        <a:solidFill>
                          <a:schemeClr val="tx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2</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smtClean="0">
                          <a:effectLst/>
                          <a:latin typeface="Georgia"/>
                          <a:ea typeface="Times New Roman"/>
                          <a:cs typeface="Times New Roman"/>
                        </a:rPr>
                        <a:t>EEE</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52</a:t>
                      </a:r>
                      <a:endParaRPr lang="en-US" sz="2000" dirty="0">
                        <a:solidFill>
                          <a:schemeClr val="tx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3</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smtClean="0">
                          <a:effectLst/>
                          <a:latin typeface="Georgia"/>
                          <a:ea typeface="Times New Roman"/>
                          <a:cs typeface="Times New Roman"/>
                        </a:rPr>
                        <a:t>Administration</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28</a:t>
                      </a:r>
                      <a:endParaRPr lang="en-US" sz="2000" dirty="0">
                        <a:solidFill>
                          <a:schemeClr val="tx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4</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Wan link 1</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2</a:t>
                      </a:r>
                      <a:endParaRPr lang="en-US" sz="2000" dirty="0">
                        <a:solidFill>
                          <a:schemeClr val="tx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5</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Wan link 2</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2</a:t>
                      </a:r>
                      <a:endParaRPr lang="en-US" sz="2000" dirty="0">
                        <a:solidFill>
                          <a:schemeClr val="tx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6</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Georgia"/>
                          <a:ea typeface="Times New Roman"/>
                          <a:cs typeface="Times New Roman"/>
                        </a:rPr>
                        <a:t>Wan link 3</a:t>
                      </a:r>
                      <a:endParaRPr lang="en-US" sz="2000" dirty="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solidFill>
                            <a:schemeClr val="tx1"/>
                          </a:solidFill>
                          <a:effectLst/>
                          <a:latin typeface="Georgia"/>
                          <a:ea typeface="Times New Roman"/>
                          <a:cs typeface="Times New Roman"/>
                        </a:rPr>
                        <a:t>2</a:t>
                      </a:r>
                      <a:endParaRPr lang="en-US" sz="2000" dirty="0">
                        <a:solidFill>
                          <a:schemeClr val="tx1"/>
                        </a:solidFill>
                        <a:effectLst/>
                        <a:latin typeface="Calibri"/>
                        <a:ea typeface="Times New Roman"/>
                        <a:cs typeface="Times New Roman"/>
                      </a:endParaRPr>
                    </a:p>
                  </a:txBody>
                  <a:tcPr marL="68580" marR="68580" marT="0" marB="0" anchor="ctr"/>
                </a:tc>
              </a:tr>
            </a:tbl>
          </a:graphicData>
        </a:graphic>
      </p:graphicFrame>
    </p:spTree>
    <p:extLst>
      <p:ext uri="{BB962C8B-B14F-4D97-AF65-F5344CB8AC3E}">
        <p14:creationId xmlns:p14="http://schemas.microsoft.com/office/powerpoint/2010/main" val="1094706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Step-2</a:t>
            </a:r>
            <a:endParaRPr lang="en-US" dirty="0"/>
          </a:p>
        </p:txBody>
      </p:sp>
      <p:sp>
        <p:nvSpPr>
          <p:cNvPr id="3" name="Content Placeholder 2"/>
          <p:cNvSpPr>
            <a:spLocks noGrp="1"/>
          </p:cNvSpPr>
          <p:nvPr>
            <p:ph sz="quarter" idx="1"/>
          </p:nvPr>
        </p:nvSpPr>
        <p:spPr/>
        <p:txBody>
          <a:bodyPr/>
          <a:lstStyle/>
          <a:p>
            <a:r>
              <a:rPr lang="en-US" dirty="0"/>
              <a:t>Do Subnetting for largest segment.  Our largest segment needs 74 host addresses. /25 provide us two subnets with 126 hosts in each subnet.</a:t>
            </a:r>
          </a:p>
          <a:p>
            <a:pPr marL="0" indent="0">
              <a:buNone/>
            </a:pPr>
            <a:r>
              <a:rPr lang="en-US" b="1" dirty="0" smtClean="0">
                <a:solidFill>
                  <a:schemeClr val="accent1"/>
                </a:solidFill>
              </a:rPr>
              <a:t>	192.168.1.0/25</a:t>
            </a:r>
            <a:endParaRPr lang="en-US" dirty="0">
              <a:solidFill>
                <a:schemeClr val="accent1"/>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296013370"/>
              </p:ext>
            </p:extLst>
          </p:nvPr>
        </p:nvGraphicFramePr>
        <p:xfrm>
          <a:off x="1143000" y="3505200"/>
          <a:ext cx="7315200" cy="1854200"/>
        </p:xfrm>
        <a:graphic>
          <a:graphicData uri="http://schemas.openxmlformats.org/drawingml/2006/table">
            <a:tbl>
              <a:tblPr firstRow="1" bandRow="1">
                <a:tableStyleId>{5C22544A-7EE6-4342-B048-85BDC9FD1C3A}</a:tableStyleId>
              </a:tblPr>
              <a:tblGrid>
                <a:gridCol w="2438400"/>
                <a:gridCol w="2438400"/>
                <a:gridCol w="2438400"/>
              </a:tblGrid>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Subnet</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Subnet 1</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Subnet 2</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Network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192.168.1.0</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192.168.1.128</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First  host address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192.168.1.129</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Last host address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192.168.1.126</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192.168.1.254</a:t>
                      </a:r>
                      <a:endParaRPr lang="en-US" sz="2000" dirty="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192.168.1.127</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192.168.1.255</a:t>
                      </a: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3704473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772400" cy="1143000"/>
          </a:xfrm>
        </p:spPr>
        <p:txBody>
          <a:bodyPr/>
          <a:lstStyle/>
          <a:p>
            <a:r>
              <a:rPr lang="en-US" dirty="0" smtClean="0"/>
              <a:t>Step-3</a:t>
            </a:r>
            <a:endParaRPr lang="en-US" dirty="0"/>
          </a:p>
        </p:txBody>
      </p:sp>
      <p:sp>
        <p:nvSpPr>
          <p:cNvPr id="3" name="Content Placeholder 2"/>
          <p:cNvSpPr>
            <a:spLocks noGrp="1"/>
          </p:cNvSpPr>
          <p:nvPr>
            <p:ph sz="quarter" idx="1"/>
          </p:nvPr>
        </p:nvSpPr>
        <p:spPr>
          <a:xfrm>
            <a:off x="914400" y="1447800"/>
            <a:ext cx="7772400" cy="5029200"/>
          </a:xfrm>
        </p:spPr>
        <p:txBody>
          <a:bodyPr/>
          <a:lstStyle/>
          <a:p>
            <a:r>
              <a:rPr lang="en-US" dirty="0"/>
              <a:t>Assign subnet mask to the largest segment. As you can see in above table, subnet 1 fulfill our largest segment requirement. Assign it to our segment.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88051853"/>
              </p:ext>
            </p:extLst>
          </p:nvPr>
        </p:nvGraphicFramePr>
        <p:xfrm>
          <a:off x="1066800" y="3276600"/>
          <a:ext cx="7162800" cy="2966720"/>
        </p:xfrm>
        <a:graphic>
          <a:graphicData uri="http://schemas.openxmlformats.org/drawingml/2006/table">
            <a:tbl>
              <a:tblPr firstRow="1" bandRow="1">
                <a:tableStyleId>{5C22544A-7EE6-4342-B048-85BDC9FD1C3A}</a:tableStyleId>
              </a:tblPr>
              <a:tblGrid>
                <a:gridCol w="3581400"/>
                <a:gridCol w="3581400"/>
              </a:tblGrid>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Segment</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smtClean="0">
                          <a:effectLst/>
                          <a:latin typeface="Georgia"/>
                          <a:ea typeface="Times New Roman"/>
                          <a:cs typeface="Times New Roman"/>
                        </a:rPr>
                        <a:t>CSE</a:t>
                      </a:r>
                      <a:endParaRPr lang="en-US" sz="2000" dirty="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Requirement </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74</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CIDR</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/25</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Subnet mask</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255.255.255.128</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Network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192.168.1.0</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First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Last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192.168.1.126</a:t>
                      </a:r>
                      <a:endParaRPr lang="en-US" sz="2000" dirty="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192.168.1.127</a:t>
                      </a: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834002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Step-4</a:t>
            </a:r>
            <a:endParaRPr lang="en-US" dirty="0"/>
          </a:p>
        </p:txBody>
      </p:sp>
      <p:sp>
        <p:nvSpPr>
          <p:cNvPr id="3" name="Content Placeholder 2"/>
          <p:cNvSpPr>
            <a:spLocks noGrp="1"/>
          </p:cNvSpPr>
          <p:nvPr>
            <p:ph sz="quarter" idx="1"/>
          </p:nvPr>
        </p:nvSpPr>
        <p:spPr/>
        <p:txBody>
          <a:bodyPr/>
          <a:lstStyle/>
          <a:p>
            <a:r>
              <a:rPr lang="en-US" sz="2000" dirty="0"/>
              <a:t>Do subnetting for second largest segment from next available subnet.  Next segment requires 52 host addresses. Subnetting of /25  has given us two subnets with 128 hosts in each, from that we have assigned first subnet to </a:t>
            </a:r>
            <a:r>
              <a:rPr lang="en-US" sz="2000" b="1" dirty="0" smtClean="0"/>
              <a:t>CSE</a:t>
            </a:r>
            <a:r>
              <a:rPr lang="en-US" sz="2000" dirty="0" smtClean="0"/>
              <a:t> </a:t>
            </a:r>
            <a:r>
              <a:rPr lang="en-US" sz="2000" dirty="0"/>
              <a:t>segment. Second segment is available, we would do subnetting of this. </a:t>
            </a:r>
          </a:p>
          <a:p>
            <a:r>
              <a:rPr lang="en-US" sz="2000" dirty="0"/>
              <a:t>/26 provide us 4 subnets with 62 hosts in each subnet.</a:t>
            </a:r>
          </a:p>
          <a:p>
            <a:pPr marL="0" indent="0" algn="ctr">
              <a:buNone/>
            </a:pPr>
            <a:r>
              <a:rPr lang="en-US" sz="2000" dirty="0">
                <a:solidFill>
                  <a:schemeClr val="accent1"/>
                </a:solidFill>
              </a:rPr>
              <a:t>192.168.1.0/26</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8308317"/>
              </p:ext>
            </p:extLst>
          </p:nvPr>
        </p:nvGraphicFramePr>
        <p:xfrm>
          <a:off x="1295400" y="3962400"/>
          <a:ext cx="7086600" cy="1854200"/>
        </p:xfrm>
        <a:graphic>
          <a:graphicData uri="http://schemas.openxmlformats.org/drawingml/2006/table">
            <a:tbl>
              <a:tblPr firstRow="1" bandRow="1">
                <a:tableStyleId>{5C22544A-7EE6-4342-B048-85BDC9FD1C3A}</a:tableStyleId>
              </a:tblPr>
              <a:tblGrid>
                <a:gridCol w="1417320"/>
                <a:gridCol w="1417320"/>
                <a:gridCol w="1417320"/>
                <a:gridCol w="1417320"/>
                <a:gridCol w="1417320"/>
              </a:tblGrid>
              <a:tr h="370840">
                <a:tc>
                  <a:txBody>
                    <a:bodyPr/>
                    <a:lstStyle/>
                    <a:p>
                      <a:pPr marL="0" marR="0" algn="ctr">
                        <a:lnSpc>
                          <a:spcPct val="115000"/>
                        </a:lnSpc>
                        <a:spcBef>
                          <a:spcPts val="0"/>
                        </a:spcBef>
                        <a:spcAft>
                          <a:spcPts val="0"/>
                        </a:spcAft>
                      </a:pPr>
                      <a:r>
                        <a:rPr lang="en-US" sz="1600" dirty="0">
                          <a:solidFill>
                            <a:schemeClr val="bg1"/>
                          </a:solidFill>
                          <a:effectLst/>
                          <a:latin typeface="Georgia"/>
                          <a:ea typeface="Times New Roman"/>
                          <a:cs typeface="Times New Roman"/>
                        </a:rPr>
                        <a:t>Subnet</a:t>
                      </a:r>
                      <a:endParaRPr lang="en-US" sz="1600" dirty="0">
                        <a:solidFill>
                          <a:schemeClr val="bg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bg1"/>
                          </a:solidFill>
                          <a:effectLst/>
                          <a:latin typeface="Georgia"/>
                          <a:ea typeface="Times New Roman"/>
                          <a:cs typeface="Times New Roman"/>
                        </a:rPr>
                        <a:t>Subnet 1</a:t>
                      </a:r>
                      <a:endParaRPr lang="en-US" sz="1600" dirty="0">
                        <a:solidFill>
                          <a:schemeClr val="bg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bg1"/>
                          </a:solidFill>
                          <a:effectLst/>
                          <a:latin typeface="Georgia"/>
                          <a:ea typeface="Times New Roman"/>
                          <a:cs typeface="Times New Roman"/>
                        </a:rPr>
                        <a:t>Subnet 2</a:t>
                      </a:r>
                      <a:endParaRPr lang="en-US" sz="1600" dirty="0">
                        <a:solidFill>
                          <a:schemeClr val="bg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bg1"/>
                          </a:solidFill>
                          <a:effectLst/>
                          <a:latin typeface="Georgia"/>
                          <a:ea typeface="Times New Roman"/>
                          <a:cs typeface="Times New Roman"/>
                        </a:rPr>
                        <a:t>Subnet 3</a:t>
                      </a:r>
                      <a:endParaRPr lang="en-US" sz="1600" dirty="0">
                        <a:solidFill>
                          <a:schemeClr val="bg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bg1"/>
                          </a:solidFill>
                          <a:effectLst/>
                          <a:latin typeface="Georgia"/>
                          <a:ea typeface="Times New Roman"/>
                          <a:cs typeface="Times New Roman"/>
                        </a:rPr>
                        <a:t>Subnet 4</a:t>
                      </a:r>
                      <a:endParaRPr lang="en-US" sz="1600" dirty="0">
                        <a:solidFill>
                          <a:schemeClr val="bg1"/>
                        </a:solidFill>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1600">
                          <a:effectLst/>
                          <a:latin typeface="Georgia"/>
                          <a:ea typeface="Times New Roman"/>
                          <a:cs typeface="Times New Roman"/>
                        </a:rPr>
                        <a:t>Network ID</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tx1"/>
                          </a:solidFill>
                          <a:effectLst/>
                          <a:latin typeface="Georgia"/>
                          <a:ea typeface="Times New Roman"/>
                          <a:cs typeface="Times New Roman"/>
                        </a:rPr>
                        <a:t>0</a:t>
                      </a:r>
                      <a:endParaRPr lang="en-US" sz="1600" dirty="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solidFill>
                            <a:schemeClr val="tx1"/>
                          </a:solidFill>
                          <a:effectLst/>
                          <a:latin typeface="Georgia"/>
                          <a:ea typeface="Times New Roman"/>
                          <a:cs typeface="Times New Roman"/>
                        </a:rPr>
                        <a:t>64</a:t>
                      </a:r>
                      <a:endParaRPr lang="en-US" sz="160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128</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192</a:t>
                      </a:r>
                      <a:endParaRPr lang="en-US" sz="1600">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1600">
                          <a:effectLst/>
                          <a:latin typeface="Georgia"/>
                          <a:ea typeface="Times New Roman"/>
                          <a:cs typeface="Times New Roman"/>
                        </a:rPr>
                        <a:t>First  address</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tx1"/>
                          </a:solidFill>
                          <a:effectLst/>
                          <a:latin typeface="Georgia"/>
                          <a:ea typeface="Times New Roman"/>
                          <a:cs typeface="Times New Roman"/>
                        </a:rPr>
                        <a:t>1</a:t>
                      </a:r>
                      <a:endParaRPr lang="en-US" sz="1600" dirty="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tx1"/>
                          </a:solidFill>
                          <a:effectLst/>
                          <a:latin typeface="Georgia"/>
                          <a:ea typeface="Times New Roman"/>
                          <a:cs typeface="Times New Roman"/>
                        </a:rPr>
                        <a:t>65</a:t>
                      </a:r>
                      <a:endParaRPr lang="en-US" sz="1600" dirty="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129</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193</a:t>
                      </a:r>
                      <a:endParaRPr lang="en-US" sz="1600">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1600">
                          <a:effectLst/>
                          <a:latin typeface="Georgia"/>
                          <a:ea typeface="Times New Roman"/>
                          <a:cs typeface="Times New Roman"/>
                        </a:rPr>
                        <a:t>Last address</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solidFill>
                            <a:schemeClr val="tx1"/>
                          </a:solidFill>
                          <a:effectLst/>
                          <a:latin typeface="Georgia"/>
                          <a:ea typeface="Times New Roman"/>
                          <a:cs typeface="Times New Roman"/>
                        </a:rPr>
                        <a:t>62</a:t>
                      </a:r>
                      <a:endParaRPr lang="en-US" sz="160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tx1"/>
                          </a:solidFill>
                          <a:effectLst/>
                          <a:latin typeface="Georgia"/>
                          <a:ea typeface="Times New Roman"/>
                          <a:cs typeface="Times New Roman"/>
                        </a:rPr>
                        <a:t>126</a:t>
                      </a:r>
                      <a:endParaRPr lang="en-US" sz="1600" dirty="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190</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254</a:t>
                      </a:r>
                      <a:endParaRPr lang="en-US" sz="1600">
                        <a:effectLst/>
                        <a:latin typeface="Calibri"/>
                        <a:ea typeface="Times New Roman"/>
                        <a:cs typeface="Times New Roman"/>
                      </a:endParaRPr>
                    </a:p>
                  </a:txBody>
                  <a:tcPr marL="68580" marR="68580" marT="0" marB="0" anchor="ctr"/>
                </a:tc>
              </a:tr>
              <a:tr h="370840">
                <a:tc>
                  <a:txBody>
                    <a:bodyPr/>
                    <a:lstStyle/>
                    <a:p>
                      <a:pPr marL="0" marR="0" algn="ctr">
                        <a:lnSpc>
                          <a:spcPct val="115000"/>
                        </a:lnSpc>
                        <a:spcBef>
                          <a:spcPts val="0"/>
                        </a:spcBef>
                        <a:spcAft>
                          <a:spcPts val="0"/>
                        </a:spcAft>
                      </a:pPr>
                      <a:r>
                        <a:rPr lang="en-US" sz="1600">
                          <a:effectLst/>
                          <a:latin typeface="Georgia"/>
                          <a:ea typeface="Times New Roman"/>
                          <a:cs typeface="Times New Roman"/>
                        </a:rPr>
                        <a:t>Broadcast ID</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solidFill>
                            <a:schemeClr val="tx1"/>
                          </a:solidFill>
                          <a:effectLst/>
                          <a:latin typeface="Georgia"/>
                          <a:ea typeface="Times New Roman"/>
                          <a:cs typeface="Times New Roman"/>
                        </a:rPr>
                        <a:t>63</a:t>
                      </a:r>
                      <a:endParaRPr lang="en-US" sz="160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solidFill>
                            <a:schemeClr val="tx1"/>
                          </a:solidFill>
                          <a:effectLst/>
                          <a:latin typeface="Georgia"/>
                          <a:ea typeface="Times New Roman"/>
                          <a:cs typeface="Times New Roman"/>
                        </a:rPr>
                        <a:t>127</a:t>
                      </a:r>
                      <a:endParaRPr lang="en-US" sz="1600" dirty="0">
                        <a:solidFill>
                          <a:schemeClr val="tx1"/>
                        </a:solidFill>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effectLst/>
                          <a:latin typeface="Georgia"/>
                          <a:ea typeface="Times New Roman"/>
                          <a:cs typeface="Times New Roman"/>
                        </a:rPr>
                        <a:t>191</a:t>
                      </a:r>
                      <a:endParaRPr lang="en-US" sz="1600">
                        <a:effectLst/>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dirty="0">
                          <a:effectLst/>
                          <a:latin typeface="Georgia"/>
                          <a:ea typeface="Times New Roman"/>
                          <a:cs typeface="Times New Roman"/>
                        </a:rPr>
                        <a:t>255</a:t>
                      </a:r>
                      <a:endParaRPr lang="en-US" sz="1600" dirty="0">
                        <a:effectLst/>
                        <a:latin typeface="Calibri"/>
                        <a:ea typeface="Times New Roman"/>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8532735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914400" y="1447800"/>
            <a:ext cx="7772400" cy="4800600"/>
          </a:xfrm>
        </p:spPr>
        <p:txBody>
          <a:bodyPr/>
          <a:lstStyle/>
          <a:p>
            <a:r>
              <a:rPr lang="en-US" dirty="0"/>
              <a:t>We cannot use subnet 1 and subnet 2 ( address from 0 to 127 ) as they are already assigned to </a:t>
            </a:r>
            <a:r>
              <a:rPr lang="en-US" b="1" dirty="0" smtClean="0">
                <a:solidFill>
                  <a:srgbClr val="7030A0"/>
                </a:solidFill>
              </a:rPr>
              <a:t>CSE</a:t>
            </a:r>
            <a:r>
              <a:rPr lang="en-US" dirty="0" smtClean="0"/>
              <a:t> </a:t>
            </a:r>
            <a:r>
              <a:rPr lang="en-US" dirty="0"/>
              <a:t>department. We can assign subnet 3 to our </a:t>
            </a:r>
            <a:r>
              <a:rPr lang="en-US" b="1" dirty="0" smtClean="0">
                <a:solidFill>
                  <a:srgbClr val="7030A0"/>
                </a:solidFill>
              </a:rPr>
              <a:t>EEE</a:t>
            </a:r>
            <a:r>
              <a:rPr lang="en-US" dirty="0" smtClean="0"/>
              <a:t> </a:t>
            </a:r>
            <a:r>
              <a:rPr lang="en-US" dirty="0"/>
              <a:t>department.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10201524"/>
              </p:ext>
            </p:extLst>
          </p:nvPr>
        </p:nvGraphicFramePr>
        <p:xfrm>
          <a:off x="1143000" y="3124200"/>
          <a:ext cx="7391400" cy="2966720"/>
        </p:xfrm>
        <a:graphic>
          <a:graphicData uri="http://schemas.openxmlformats.org/drawingml/2006/table">
            <a:tbl>
              <a:tblPr firstRow="1" bandRow="1">
                <a:tableStyleId>{5C22544A-7EE6-4342-B048-85BDC9FD1C3A}</a:tableStyleId>
              </a:tblPr>
              <a:tblGrid>
                <a:gridCol w="3695700"/>
                <a:gridCol w="3695700"/>
              </a:tblGrid>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Segment</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smtClean="0">
                          <a:effectLst/>
                          <a:latin typeface="Georgia"/>
                          <a:ea typeface="Times New Roman"/>
                          <a:cs typeface="Times New Roman"/>
                        </a:rPr>
                        <a:t>EEE</a:t>
                      </a:r>
                      <a:endParaRPr lang="en-US" sz="2000" dirty="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Requirement </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52</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CIDR</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/26</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Subnet mask</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255.255.255.192</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Network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192.168.1.128</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First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192.168.1.129</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a:effectLst/>
                          <a:latin typeface="Georgia"/>
                          <a:ea typeface="Times New Roman"/>
                          <a:cs typeface="Times New Roman"/>
                        </a:rPr>
                        <a:t>Last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latin typeface="Georgia"/>
                          <a:ea typeface="Times New Roman"/>
                          <a:cs typeface="Times New Roman"/>
                        </a:rPr>
                        <a:t>192.168.1.190</a:t>
                      </a:r>
                      <a:endParaRPr lang="en-US" sz="20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Broadcast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latin typeface="Georgia"/>
                          <a:ea typeface="Times New Roman"/>
                          <a:cs typeface="Times New Roman"/>
                        </a:rPr>
                        <a:t>192.168.1.191</a:t>
                      </a: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10703921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Step-5</a:t>
            </a:r>
            <a:endParaRPr lang="en-US" dirty="0"/>
          </a:p>
        </p:txBody>
      </p:sp>
      <p:sp>
        <p:nvSpPr>
          <p:cNvPr id="3" name="Content Placeholder 2"/>
          <p:cNvSpPr>
            <a:spLocks noGrp="1"/>
          </p:cNvSpPr>
          <p:nvPr>
            <p:ph sz="quarter" idx="1"/>
          </p:nvPr>
        </p:nvSpPr>
        <p:spPr/>
        <p:txBody>
          <a:bodyPr/>
          <a:lstStyle/>
          <a:p>
            <a:r>
              <a:rPr lang="en-US" dirty="0"/>
              <a:t>Our next segment requires 28 hosts. From above subnetting we have subnet 3 and subnet 4 available. </a:t>
            </a:r>
            <a:r>
              <a:rPr lang="en-US" dirty="0" smtClean="0"/>
              <a:t>Do </a:t>
            </a:r>
            <a:r>
              <a:rPr lang="en-US" dirty="0"/>
              <a:t>subnetting for the requirement of 28 hosts</a:t>
            </a:r>
            <a:r>
              <a:rPr lang="en-US" dirty="0" smtClean="0"/>
              <a:t>.</a:t>
            </a:r>
            <a:r>
              <a:rPr lang="en-US" dirty="0"/>
              <a:t> </a:t>
            </a:r>
            <a:r>
              <a:rPr lang="en-US" dirty="0" smtClean="0"/>
              <a:t>		</a:t>
            </a:r>
            <a:r>
              <a:rPr lang="en-US" dirty="0" smtClean="0">
                <a:solidFill>
                  <a:schemeClr val="accent1"/>
                </a:solidFill>
              </a:rPr>
              <a:t>192.168.1.0/27</a:t>
            </a:r>
            <a:endParaRPr lang="en-US" dirty="0">
              <a:solidFill>
                <a:schemeClr val="accent1"/>
              </a:solidFill>
            </a:endParaRPr>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889985484"/>
              </p:ext>
            </p:extLst>
          </p:nvPr>
        </p:nvGraphicFramePr>
        <p:xfrm>
          <a:off x="914400" y="3207665"/>
          <a:ext cx="7696197" cy="2894584"/>
        </p:xfrm>
        <a:graphic>
          <a:graphicData uri="http://schemas.openxmlformats.org/drawingml/2006/table">
            <a:tbl>
              <a:tblPr firstRow="1" bandRow="1">
                <a:tableStyleId>{5C22544A-7EE6-4342-B048-85BDC9FD1C3A}</a:tableStyleId>
              </a:tblPr>
              <a:tblGrid>
                <a:gridCol w="1066800"/>
                <a:gridCol w="643466"/>
                <a:gridCol w="855133"/>
                <a:gridCol w="855133"/>
                <a:gridCol w="855133"/>
                <a:gridCol w="855133"/>
                <a:gridCol w="855133"/>
                <a:gridCol w="855133"/>
                <a:gridCol w="855133"/>
              </a:tblGrid>
              <a:tr h="370840">
                <a:tc>
                  <a:txBody>
                    <a:bodyPr/>
                    <a:lstStyle/>
                    <a:p>
                      <a:pPr marL="0" marR="0" algn="just">
                        <a:lnSpc>
                          <a:spcPct val="115000"/>
                        </a:lnSpc>
                        <a:spcBef>
                          <a:spcPts val="0"/>
                        </a:spcBef>
                        <a:spcAft>
                          <a:spcPts val="0"/>
                        </a:spcAft>
                      </a:pPr>
                      <a:r>
                        <a:rPr lang="en-US" sz="1800" dirty="0">
                          <a:effectLst/>
                          <a:latin typeface="Georgia"/>
                          <a:ea typeface="Times New Roman"/>
                          <a:cs typeface="Times New Roman"/>
                        </a:rPr>
                        <a:t>Subnet</a:t>
                      </a:r>
                      <a:endParaRPr lang="en-US" sz="18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1</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2</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3</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4</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5</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bg1"/>
                          </a:solidFill>
                          <a:effectLst/>
                          <a:latin typeface="Georgia"/>
                          <a:ea typeface="Times New Roman"/>
                          <a:cs typeface="Times New Roman"/>
                        </a:rPr>
                        <a:t>Sub 6</a:t>
                      </a:r>
                      <a:endParaRPr lang="en-US" sz="1800" dirty="0">
                        <a:solidFill>
                          <a:schemeClr val="bg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Sub 7</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Sub 8</a:t>
                      </a:r>
                      <a:endParaRPr lang="en-US" sz="18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dirty="0">
                          <a:effectLst/>
                          <a:latin typeface="Georgia"/>
                          <a:ea typeface="Times New Roman"/>
                          <a:cs typeface="Times New Roman"/>
                        </a:rPr>
                        <a:t>Net ID</a:t>
                      </a:r>
                      <a:endParaRPr lang="en-US" sz="18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0</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32</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64</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96</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128</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160</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192</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224</a:t>
                      </a:r>
                      <a:endParaRPr lang="en-US" sz="18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a:effectLst/>
                          <a:latin typeface="Georgia"/>
                          <a:ea typeface="Times New Roman"/>
                          <a:cs typeface="Times New Roman"/>
                        </a:rPr>
                        <a:t>First Host</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1</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33</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65</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95</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129</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161</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193</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225</a:t>
                      </a:r>
                      <a:endParaRPr lang="en-US" sz="18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a:effectLst/>
                          <a:latin typeface="Georgia"/>
                          <a:ea typeface="Times New Roman"/>
                          <a:cs typeface="Times New Roman"/>
                        </a:rPr>
                        <a:t>Last </a:t>
                      </a:r>
                      <a:endParaRPr lang="en-US" sz="1800">
                        <a:effectLst/>
                        <a:latin typeface="Calibri"/>
                        <a:ea typeface="Times New Roman"/>
                        <a:cs typeface="Times New Roman"/>
                      </a:endParaRPr>
                    </a:p>
                    <a:p>
                      <a:pPr marL="0" marR="0" algn="just">
                        <a:lnSpc>
                          <a:spcPct val="115000"/>
                        </a:lnSpc>
                        <a:spcBef>
                          <a:spcPts val="0"/>
                        </a:spcBef>
                        <a:spcAft>
                          <a:spcPts val="0"/>
                        </a:spcAft>
                      </a:pPr>
                      <a:r>
                        <a:rPr lang="en-US" sz="1800">
                          <a:effectLst/>
                          <a:latin typeface="Georgia"/>
                          <a:ea typeface="Times New Roman"/>
                          <a:cs typeface="Times New Roman"/>
                        </a:rPr>
                        <a:t>Host</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30</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62</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94</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126</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158</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190</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222</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254</a:t>
                      </a:r>
                      <a:endParaRPr lang="en-US" sz="1800">
                        <a:effectLst/>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dirty="0">
                          <a:effectLst/>
                          <a:latin typeface="Georgia"/>
                          <a:ea typeface="Times New Roman"/>
                          <a:cs typeface="Times New Roman"/>
                        </a:rPr>
                        <a:t>Broad-</a:t>
                      </a:r>
                      <a:endParaRPr lang="en-US" sz="1800" dirty="0">
                        <a:effectLst/>
                        <a:latin typeface="Calibri"/>
                        <a:ea typeface="Times New Roman"/>
                        <a:cs typeface="Times New Roman"/>
                      </a:endParaRPr>
                    </a:p>
                    <a:p>
                      <a:pPr marL="0" marR="0" algn="just">
                        <a:lnSpc>
                          <a:spcPct val="115000"/>
                        </a:lnSpc>
                        <a:spcBef>
                          <a:spcPts val="0"/>
                        </a:spcBef>
                        <a:spcAft>
                          <a:spcPts val="0"/>
                        </a:spcAft>
                      </a:pPr>
                      <a:r>
                        <a:rPr lang="en-US" sz="1800" dirty="0">
                          <a:effectLst/>
                          <a:latin typeface="Georgia"/>
                          <a:ea typeface="Times New Roman"/>
                          <a:cs typeface="Times New Roman"/>
                        </a:rPr>
                        <a:t>cast ID</a:t>
                      </a:r>
                      <a:endParaRPr lang="en-US" sz="18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solidFill>
                            <a:schemeClr val="tx1"/>
                          </a:solidFill>
                          <a:effectLst/>
                          <a:latin typeface="Georgia"/>
                          <a:ea typeface="Times New Roman"/>
                          <a:cs typeface="Times New Roman"/>
                        </a:rPr>
                        <a:t>31</a:t>
                      </a:r>
                      <a:endParaRPr lang="en-US" sz="180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63</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95</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127</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159</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solidFill>
                            <a:schemeClr val="tx1"/>
                          </a:solidFill>
                          <a:effectLst/>
                          <a:latin typeface="Georgia"/>
                          <a:ea typeface="Times New Roman"/>
                          <a:cs typeface="Times New Roman"/>
                        </a:rPr>
                        <a:t>191</a:t>
                      </a:r>
                      <a:endParaRPr lang="en-US" sz="1800" dirty="0">
                        <a:solidFill>
                          <a:schemeClr val="tx1"/>
                        </a:solidFill>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a:effectLst/>
                          <a:latin typeface="Georgia"/>
                          <a:ea typeface="Times New Roman"/>
                          <a:cs typeface="Times New Roman"/>
                        </a:rPr>
                        <a:t>223</a:t>
                      </a:r>
                      <a:endParaRPr lang="en-US" sz="18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1800" dirty="0">
                          <a:effectLst/>
                          <a:latin typeface="Georgia"/>
                          <a:ea typeface="Times New Roman"/>
                          <a:cs typeface="Times New Roman"/>
                        </a:rPr>
                        <a:t>255</a:t>
                      </a:r>
                      <a:endParaRPr lang="en-US" sz="18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5900363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a:t>Subnets 1 to 6 [address from 0 to 191] are already occupied by previous segments. We can assign subnet 7 to this segment.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17183206"/>
              </p:ext>
            </p:extLst>
          </p:nvPr>
        </p:nvGraphicFramePr>
        <p:xfrm>
          <a:off x="914400" y="2892552"/>
          <a:ext cx="7772400" cy="3364992"/>
        </p:xfrm>
        <a:graphic>
          <a:graphicData uri="http://schemas.openxmlformats.org/drawingml/2006/table">
            <a:tbl>
              <a:tblPr firstRow="1" firstCol="1" bandRow="1">
                <a:tableStyleId>{5C22544A-7EE6-4342-B048-85BDC9FD1C3A}</a:tableStyleId>
              </a:tblPr>
              <a:tblGrid>
                <a:gridCol w="3511570"/>
                <a:gridCol w="4260830"/>
              </a:tblGrid>
              <a:tr h="0">
                <a:tc>
                  <a:txBody>
                    <a:bodyPr/>
                    <a:lstStyle/>
                    <a:p>
                      <a:pPr marL="0" marR="0" algn="just">
                        <a:lnSpc>
                          <a:spcPct val="115000"/>
                        </a:lnSpc>
                        <a:spcBef>
                          <a:spcPts val="0"/>
                        </a:spcBef>
                        <a:spcAft>
                          <a:spcPts val="0"/>
                        </a:spcAft>
                      </a:pPr>
                      <a:r>
                        <a:rPr lang="en-US" sz="2400" dirty="0">
                          <a:effectLst/>
                        </a:rPr>
                        <a:t>Segment</a:t>
                      </a:r>
                      <a:endParaRPr lang="en-US" sz="24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smtClean="0">
                          <a:effectLst/>
                        </a:rPr>
                        <a:t>Administration</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dirty="0">
                          <a:effectLst/>
                        </a:rPr>
                        <a:t>Requirement </a:t>
                      </a:r>
                      <a:endParaRPr lang="en-US" sz="24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28</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a:effectLst/>
                        </a:rPr>
                        <a:t>CIDR</a:t>
                      </a:r>
                      <a:endParaRPr lang="en-US" sz="24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/27</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dirty="0">
                          <a:effectLst/>
                        </a:rPr>
                        <a:t>Subnet mask</a:t>
                      </a:r>
                      <a:endParaRPr lang="en-US" sz="24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255.255.255.224</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dirty="0">
                          <a:effectLst/>
                        </a:rPr>
                        <a:t>Network ID</a:t>
                      </a:r>
                      <a:endParaRPr lang="en-US" sz="24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192.168.1.192</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a:effectLst/>
                        </a:rPr>
                        <a:t>First hosts</a:t>
                      </a:r>
                      <a:endParaRPr lang="en-US" sz="24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192.168.1.193</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a:effectLst/>
                        </a:rPr>
                        <a:t>Last hosts</a:t>
                      </a:r>
                      <a:endParaRPr lang="en-US" sz="24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192.168.1.222</a:t>
                      </a:r>
                      <a:endParaRPr lang="en-US" sz="24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400">
                          <a:effectLst/>
                        </a:rPr>
                        <a:t>Broadcast ID</a:t>
                      </a:r>
                      <a:endParaRPr lang="en-US" sz="24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400" dirty="0">
                          <a:effectLst/>
                        </a:rPr>
                        <a:t>192.168.1.223</a:t>
                      </a:r>
                      <a:endParaRPr lang="en-US" sz="24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1885752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Step-6  </a:t>
            </a:r>
            <a:endParaRPr lang="en-US" dirty="0"/>
          </a:p>
        </p:txBody>
      </p:sp>
      <p:sp>
        <p:nvSpPr>
          <p:cNvPr id="3" name="Content Placeholder 2"/>
          <p:cNvSpPr>
            <a:spLocks noGrp="1"/>
          </p:cNvSpPr>
          <p:nvPr>
            <p:ph sz="quarter" idx="1"/>
          </p:nvPr>
        </p:nvSpPr>
        <p:spPr>
          <a:xfrm>
            <a:off x="914400" y="1447800"/>
            <a:ext cx="7772400" cy="4953000"/>
          </a:xfrm>
        </p:spPr>
        <p:txBody>
          <a:bodyPr/>
          <a:lstStyle/>
          <a:p>
            <a:r>
              <a:rPr lang="en-US" dirty="0"/>
              <a:t>Our last three segments require 2 hosts per subnet. Do subnetting for </a:t>
            </a:r>
            <a:r>
              <a:rPr lang="en-US" dirty="0" smtClean="0"/>
              <a:t>these-192.168.1.0/30</a:t>
            </a:r>
            <a:endParaRPr lang="en-US" dirty="0"/>
          </a:p>
          <a:p>
            <a:r>
              <a:rPr lang="en-US" dirty="0"/>
              <a:t>Valid subnets are:- </a:t>
            </a:r>
          </a:p>
          <a:p>
            <a:r>
              <a:rPr lang="en-US" sz="1600" dirty="0">
                <a:solidFill>
                  <a:srgbClr val="FF0000"/>
                </a:solidFill>
              </a:rPr>
              <a:t>0,4,8,12,16,20,24,28,32,36,40,44,48,52,56,60,64,68,72,76,80,84,88,92,96,100,104,108,112,116,120,124,128,132,136,140,144,148,152,156,160,164,168,172,176,180,184,188,192,196,200,204,208,212,216,220,</a:t>
            </a:r>
            <a:r>
              <a:rPr lang="en-US" sz="1800" dirty="0">
                <a:solidFill>
                  <a:srgbClr val="00B050"/>
                </a:solidFill>
              </a:rPr>
              <a:t>224,228,232,236,240,244,248,252,256</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52055676"/>
              </p:ext>
            </p:extLst>
          </p:nvPr>
        </p:nvGraphicFramePr>
        <p:xfrm>
          <a:off x="1143000" y="3962400"/>
          <a:ext cx="7391400" cy="2362200"/>
        </p:xfrm>
        <a:graphic>
          <a:graphicData uri="http://schemas.openxmlformats.org/drawingml/2006/table">
            <a:tbl>
              <a:tblPr firstRow="1" firstCol="1" bandRow="1">
                <a:tableStyleId>{5C22544A-7EE6-4342-B048-85BDC9FD1C3A}</a:tableStyleId>
              </a:tblPr>
              <a:tblGrid>
                <a:gridCol w="1847850"/>
                <a:gridCol w="1847850"/>
                <a:gridCol w="1847850"/>
                <a:gridCol w="1847850"/>
              </a:tblGrid>
              <a:tr h="472440">
                <a:tc>
                  <a:txBody>
                    <a:bodyPr/>
                    <a:lstStyle/>
                    <a:p>
                      <a:pPr marL="0" marR="0" algn="just">
                        <a:lnSpc>
                          <a:spcPct val="115000"/>
                        </a:lnSpc>
                        <a:spcBef>
                          <a:spcPts val="0"/>
                        </a:spcBef>
                        <a:spcAft>
                          <a:spcPts val="0"/>
                        </a:spcAft>
                      </a:pPr>
                      <a:r>
                        <a:rPr lang="en-US" sz="2000" dirty="0">
                          <a:effectLst/>
                        </a:rPr>
                        <a:t>Subnet</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Subnet 57</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Subnet 58</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Subnet 59</a:t>
                      </a:r>
                      <a:endParaRPr lang="en-US" sz="2000" dirty="0">
                        <a:effectLst/>
                        <a:latin typeface="Calibri"/>
                        <a:ea typeface="Times New Roman"/>
                        <a:cs typeface="Times New Roman"/>
                      </a:endParaRPr>
                    </a:p>
                  </a:txBody>
                  <a:tcPr marL="68580" marR="68580" marT="0" marB="0"/>
                </a:tc>
              </a:tr>
              <a:tr h="472440">
                <a:tc>
                  <a:txBody>
                    <a:bodyPr/>
                    <a:lstStyle/>
                    <a:p>
                      <a:pPr marL="0" marR="0" algn="just">
                        <a:lnSpc>
                          <a:spcPct val="115000"/>
                        </a:lnSpc>
                        <a:spcBef>
                          <a:spcPts val="0"/>
                        </a:spcBef>
                        <a:spcAft>
                          <a:spcPts val="0"/>
                        </a:spcAft>
                      </a:pPr>
                      <a:r>
                        <a:rPr lang="en-US" sz="2000" dirty="0">
                          <a:effectLst/>
                        </a:rPr>
                        <a:t>Network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224</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228</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232</a:t>
                      </a:r>
                      <a:endParaRPr lang="en-US" sz="2000" dirty="0">
                        <a:effectLst/>
                        <a:latin typeface="Calibri"/>
                        <a:ea typeface="Times New Roman"/>
                        <a:cs typeface="Times New Roman"/>
                      </a:endParaRPr>
                    </a:p>
                  </a:txBody>
                  <a:tcPr marL="68580" marR="68580" marT="0" marB="0"/>
                </a:tc>
              </a:tr>
              <a:tr h="472440">
                <a:tc>
                  <a:txBody>
                    <a:bodyPr/>
                    <a:lstStyle/>
                    <a:p>
                      <a:pPr marL="0" marR="0" algn="just">
                        <a:lnSpc>
                          <a:spcPct val="115000"/>
                        </a:lnSpc>
                        <a:spcBef>
                          <a:spcPts val="0"/>
                        </a:spcBef>
                        <a:spcAft>
                          <a:spcPts val="0"/>
                        </a:spcAft>
                      </a:pPr>
                      <a:r>
                        <a:rPr lang="en-US" sz="2000" dirty="0">
                          <a:effectLst/>
                        </a:rPr>
                        <a:t>First host</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225</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229</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233</a:t>
                      </a:r>
                      <a:endParaRPr lang="en-US" sz="2000" dirty="0">
                        <a:effectLst/>
                        <a:latin typeface="Calibri"/>
                        <a:ea typeface="Times New Roman"/>
                        <a:cs typeface="Times New Roman"/>
                      </a:endParaRPr>
                    </a:p>
                  </a:txBody>
                  <a:tcPr marL="68580" marR="68580" marT="0" marB="0"/>
                </a:tc>
              </a:tr>
              <a:tr h="472440">
                <a:tc>
                  <a:txBody>
                    <a:bodyPr/>
                    <a:lstStyle/>
                    <a:p>
                      <a:pPr marL="0" marR="0" algn="just">
                        <a:lnSpc>
                          <a:spcPct val="115000"/>
                        </a:lnSpc>
                        <a:spcBef>
                          <a:spcPts val="0"/>
                        </a:spcBef>
                        <a:spcAft>
                          <a:spcPts val="0"/>
                        </a:spcAft>
                      </a:pPr>
                      <a:r>
                        <a:rPr lang="en-US" sz="2000">
                          <a:effectLst/>
                        </a:rPr>
                        <a:t>Last host</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226</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230</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234</a:t>
                      </a:r>
                      <a:endParaRPr lang="en-US" sz="2000" dirty="0">
                        <a:effectLst/>
                        <a:latin typeface="Calibri"/>
                        <a:ea typeface="Times New Roman"/>
                        <a:cs typeface="Times New Roman"/>
                      </a:endParaRPr>
                    </a:p>
                  </a:txBody>
                  <a:tcPr marL="68580" marR="68580" marT="0" marB="0"/>
                </a:tc>
              </a:tr>
              <a:tr h="472440">
                <a:tc>
                  <a:txBody>
                    <a:bodyPr/>
                    <a:lstStyle/>
                    <a:p>
                      <a:pPr marL="0" marR="0" algn="just">
                        <a:lnSpc>
                          <a:spcPct val="115000"/>
                        </a:lnSpc>
                        <a:spcBef>
                          <a:spcPts val="0"/>
                        </a:spcBef>
                        <a:spcAft>
                          <a:spcPts val="0"/>
                        </a:spcAft>
                      </a:pPr>
                      <a:r>
                        <a:rPr lang="en-US" sz="2000">
                          <a:effectLst/>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227</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231</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235</a:t>
                      </a:r>
                      <a:endParaRPr lang="en-US" sz="2000" dirty="0">
                        <a:effectLst/>
                        <a:latin typeface="Calibri"/>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4470628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WAN </a:t>
            </a:r>
            <a:r>
              <a:rPr lang="en-US" b="1" dirty="0"/>
              <a:t>Link 1 </a:t>
            </a:r>
            <a:endParaRPr lang="en-US" dirty="0"/>
          </a:p>
        </p:txBody>
      </p:sp>
      <p:graphicFrame>
        <p:nvGraphicFramePr>
          <p:cNvPr id="8" name="Content Placeholder 7"/>
          <p:cNvGraphicFramePr>
            <a:graphicFrameLocks noGrp="1"/>
          </p:cNvGraphicFramePr>
          <p:nvPr>
            <p:ph sz="quarter" idx="1"/>
            <p:extLst>
              <p:ext uri="{D42A27DB-BD31-4B8C-83A1-F6EECF244321}">
                <p14:modId xmlns:p14="http://schemas.microsoft.com/office/powerpoint/2010/main" val="3441586022"/>
              </p:ext>
            </p:extLst>
          </p:nvPr>
        </p:nvGraphicFramePr>
        <p:xfrm>
          <a:off x="990600" y="3810000"/>
          <a:ext cx="7772400" cy="2804160"/>
        </p:xfrm>
        <a:graphic>
          <a:graphicData uri="http://schemas.openxmlformats.org/drawingml/2006/table">
            <a:tbl>
              <a:tblPr firstRow="1" firstCol="1" bandRow="1">
                <a:tableStyleId>{5C22544A-7EE6-4342-B048-85BDC9FD1C3A}</a:tableStyleId>
              </a:tblPr>
              <a:tblGrid>
                <a:gridCol w="3511570"/>
                <a:gridCol w="4260830"/>
              </a:tblGrid>
              <a:tr h="0">
                <a:tc>
                  <a:txBody>
                    <a:bodyPr/>
                    <a:lstStyle/>
                    <a:p>
                      <a:pPr marL="0" marR="0" algn="just">
                        <a:lnSpc>
                          <a:spcPct val="115000"/>
                        </a:lnSpc>
                        <a:spcBef>
                          <a:spcPts val="0"/>
                        </a:spcBef>
                        <a:spcAft>
                          <a:spcPts val="0"/>
                        </a:spcAft>
                      </a:pPr>
                      <a:r>
                        <a:rPr lang="en-US" sz="2000" dirty="0">
                          <a:effectLst/>
                        </a:rPr>
                        <a:t>Segments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Wan Link 1</a:t>
                      </a:r>
                      <a:endParaRPr lang="en-US" sz="200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dirty="0">
                          <a:effectLst/>
                        </a:rPr>
                        <a:t>Requirement </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a:t>
                      </a:r>
                      <a:endParaRPr lang="en-US" sz="200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dirty="0">
                          <a:effectLst/>
                        </a:rPr>
                        <a:t>CIDR</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/30</a:t>
                      </a:r>
                      <a:endParaRPr lang="en-US" sz="20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dirty="0">
                          <a:effectLst/>
                        </a:rPr>
                        <a:t>Subnet mask</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255.255.255.252</a:t>
                      </a:r>
                      <a:endParaRPr lang="en-US" sz="200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dirty="0">
                          <a:effectLst/>
                        </a:rPr>
                        <a:t>Network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192.168.1.224</a:t>
                      </a:r>
                      <a:endParaRPr lang="en-US" sz="20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dirty="0">
                          <a:effectLst/>
                        </a:rPr>
                        <a:t>First hosts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192.168.1.225</a:t>
                      </a:r>
                      <a:endParaRPr lang="en-US" sz="20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a:effectLst/>
                        </a:rPr>
                        <a:t>Last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192.168.1.226</a:t>
                      </a:r>
                      <a:endParaRPr lang="en-US" sz="2000" dirty="0">
                        <a:effectLst/>
                        <a:latin typeface="Calibri"/>
                        <a:ea typeface="Times New Roman"/>
                        <a:cs typeface="Times New Roman"/>
                      </a:endParaRPr>
                    </a:p>
                  </a:txBody>
                  <a:tcPr marL="68580" marR="68580" marT="0" marB="0"/>
                </a:tc>
              </a:tr>
              <a:tr h="0">
                <a:tc>
                  <a:txBody>
                    <a:bodyPr/>
                    <a:lstStyle/>
                    <a:p>
                      <a:pPr marL="0" marR="0" algn="just">
                        <a:lnSpc>
                          <a:spcPct val="115000"/>
                        </a:lnSpc>
                        <a:spcBef>
                          <a:spcPts val="0"/>
                        </a:spcBef>
                        <a:spcAft>
                          <a:spcPts val="0"/>
                        </a:spcAft>
                      </a:pPr>
                      <a:r>
                        <a:rPr lang="en-US" sz="2000">
                          <a:effectLst/>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192.168.1.227</a:t>
                      </a:r>
                      <a:endParaRPr lang="en-US" sz="2000" dirty="0">
                        <a:effectLst/>
                        <a:latin typeface="Calibri"/>
                        <a:ea typeface="Times New Roman"/>
                        <a:cs typeface="Times New Roman"/>
                      </a:endParaRPr>
                    </a:p>
                  </a:txBody>
                  <a:tcPr marL="68580" marR="68580" marT="0" marB="0"/>
                </a:tc>
              </a:tr>
            </a:tbl>
          </a:graphicData>
        </a:graphic>
      </p:graphicFrame>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118" y="1143000"/>
            <a:ext cx="4191000" cy="2667000"/>
          </a:xfrm>
          <a:prstGeom prst="rect">
            <a:avLst/>
          </a:prstGeom>
        </p:spPr>
      </p:pic>
    </p:spTree>
    <p:extLst>
      <p:ext uri="{BB962C8B-B14F-4D97-AF65-F5344CB8AC3E}">
        <p14:creationId xmlns:p14="http://schemas.microsoft.com/office/powerpoint/2010/main" val="10863973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 Link-2</a:t>
            </a:r>
            <a:endParaRPr lang="en-US"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311551785"/>
              </p:ext>
            </p:extLst>
          </p:nvPr>
        </p:nvGraphicFramePr>
        <p:xfrm>
          <a:off x="838200" y="3809999"/>
          <a:ext cx="7696200" cy="2928624"/>
        </p:xfrm>
        <a:graphic>
          <a:graphicData uri="http://schemas.openxmlformats.org/drawingml/2006/table">
            <a:tbl>
              <a:tblPr firstRow="1" firstCol="1" bandRow="1">
                <a:tableStyleId>{5C22544A-7EE6-4342-B048-85BDC9FD1C3A}</a:tableStyleId>
              </a:tblPr>
              <a:tblGrid>
                <a:gridCol w="3477143"/>
                <a:gridCol w="4219057"/>
              </a:tblGrid>
              <a:tr h="366078">
                <a:tc>
                  <a:txBody>
                    <a:bodyPr/>
                    <a:lstStyle/>
                    <a:p>
                      <a:pPr marL="0" marR="0" algn="just">
                        <a:lnSpc>
                          <a:spcPct val="115000"/>
                        </a:lnSpc>
                        <a:spcBef>
                          <a:spcPts val="0"/>
                        </a:spcBef>
                        <a:spcAft>
                          <a:spcPts val="0"/>
                        </a:spcAft>
                      </a:pPr>
                      <a:r>
                        <a:rPr lang="en-US" sz="2000" dirty="0">
                          <a:effectLst/>
                        </a:rPr>
                        <a:t>Segments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Wan Link 2</a:t>
                      </a:r>
                      <a:endParaRPr lang="en-US" sz="200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dirty="0">
                          <a:effectLst/>
                        </a:rPr>
                        <a:t>Requirement </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a:t>
                      </a:r>
                      <a:endParaRPr lang="en-US" sz="200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dirty="0">
                          <a:effectLst/>
                        </a:rPr>
                        <a:t>CIDR</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/30</a:t>
                      </a:r>
                      <a:endParaRPr lang="en-US" sz="200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dirty="0">
                          <a:effectLst/>
                        </a:rPr>
                        <a:t>Subnet mask</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255.255.255.252</a:t>
                      </a:r>
                      <a:endParaRPr lang="en-US" sz="200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dirty="0">
                          <a:effectLst/>
                        </a:rPr>
                        <a:t>Network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192.168.1.228</a:t>
                      </a:r>
                      <a:endParaRPr lang="en-US" sz="2000" dirty="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a:effectLst/>
                        </a:rPr>
                        <a:t>First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192.168.1.229</a:t>
                      </a:r>
                      <a:endParaRPr lang="en-US" sz="2000" dirty="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a:effectLst/>
                        </a:rPr>
                        <a:t>Last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192.168.1.230</a:t>
                      </a:r>
                      <a:endParaRPr lang="en-US" sz="2000" dirty="0">
                        <a:effectLst/>
                        <a:latin typeface="Calibri"/>
                        <a:ea typeface="Times New Roman"/>
                        <a:cs typeface="Times New Roman"/>
                      </a:endParaRPr>
                    </a:p>
                  </a:txBody>
                  <a:tcPr marL="68580" marR="68580" marT="0" marB="0"/>
                </a:tc>
              </a:tr>
              <a:tr h="366078">
                <a:tc>
                  <a:txBody>
                    <a:bodyPr/>
                    <a:lstStyle/>
                    <a:p>
                      <a:pPr marL="0" marR="0" algn="just">
                        <a:lnSpc>
                          <a:spcPct val="115000"/>
                        </a:lnSpc>
                        <a:spcBef>
                          <a:spcPts val="0"/>
                        </a:spcBef>
                        <a:spcAft>
                          <a:spcPts val="0"/>
                        </a:spcAft>
                      </a:pPr>
                      <a:r>
                        <a:rPr lang="en-US" sz="2000">
                          <a:effectLst/>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192.168.1.231</a:t>
                      </a:r>
                      <a:endParaRPr lang="en-US" sz="2000" dirty="0">
                        <a:effectLst/>
                        <a:latin typeface="Calibri"/>
                        <a:ea typeface="Times New Roman"/>
                        <a:cs typeface="Times New Roman"/>
                      </a:endParaRPr>
                    </a:p>
                  </a:txBody>
                  <a:tcPr marL="68580" marR="68580" marT="0" marB="0"/>
                </a:tc>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91000" y="685800"/>
            <a:ext cx="4267199" cy="3124199"/>
          </a:xfrm>
          <a:prstGeom prst="rect">
            <a:avLst/>
          </a:prstGeom>
        </p:spPr>
      </p:pic>
    </p:spTree>
    <p:extLst>
      <p:ext uri="{BB962C8B-B14F-4D97-AF65-F5344CB8AC3E}">
        <p14:creationId xmlns:p14="http://schemas.microsoft.com/office/powerpoint/2010/main" val="36861895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 Link-3</a:t>
            </a:r>
            <a:endParaRPr lang="en-US"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088503164"/>
              </p:ext>
            </p:extLst>
          </p:nvPr>
        </p:nvGraphicFramePr>
        <p:xfrm>
          <a:off x="685800" y="3990798"/>
          <a:ext cx="7827718" cy="2804160"/>
        </p:xfrm>
        <a:graphic>
          <a:graphicData uri="http://schemas.openxmlformats.org/drawingml/2006/table">
            <a:tbl>
              <a:tblPr firstRow="1" firstCol="1" bandRow="1">
                <a:tableStyleId>{5C22544A-7EE6-4342-B048-85BDC9FD1C3A}</a:tableStyleId>
              </a:tblPr>
              <a:tblGrid>
                <a:gridCol w="3578224"/>
                <a:gridCol w="4249494"/>
              </a:tblGrid>
              <a:tr h="337445">
                <a:tc>
                  <a:txBody>
                    <a:bodyPr/>
                    <a:lstStyle/>
                    <a:p>
                      <a:pPr marL="0" marR="0" algn="just">
                        <a:lnSpc>
                          <a:spcPct val="115000"/>
                        </a:lnSpc>
                        <a:spcBef>
                          <a:spcPts val="0"/>
                        </a:spcBef>
                        <a:spcAft>
                          <a:spcPts val="0"/>
                        </a:spcAft>
                      </a:pPr>
                      <a:r>
                        <a:rPr lang="en-US" sz="2000" dirty="0">
                          <a:effectLst/>
                        </a:rPr>
                        <a:t>Segments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Wan Link 3</a:t>
                      </a:r>
                      <a:endParaRPr lang="en-US" sz="2000" dirty="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dirty="0">
                          <a:effectLst/>
                        </a:rPr>
                        <a:t>Requirement </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a:t>
                      </a:r>
                      <a:endParaRPr lang="en-US" sz="200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dirty="0">
                          <a:effectLst/>
                        </a:rPr>
                        <a:t>CIDR</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/30</a:t>
                      </a:r>
                      <a:endParaRPr lang="en-US" sz="200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dirty="0">
                          <a:effectLst/>
                        </a:rPr>
                        <a:t>Subnet mask</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255.255.255.252</a:t>
                      </a:r>
                      <a:endParaRPr lang="en-US" sz="200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dirty="0">
                          <a:effectLst/>
                        </a:rPr>
                        <a:t>Network ID</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192.168.1.232</a:t>
                      </a:r>
                      <a:endParaRPr lang="en-US" sz="2000" dirty="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a:effectLst/>
                        </a:rPr>
                        <a:t>First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192.168.1.233</a:t>
                      </a:r>
                      <a:endParaRPr lang="en-US" sz="2000" dirty="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a:effectLst/>
                        </a:rPr>
                        <a:t>Last hosts</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192.168.1.234</a:t>
                      </a:r>
                      <a:endParaRPr lang="en-US" sz="2000" dirty="0">
                        <a:effectLst/>
                        <a:latin typeface="Calibri"/>
                        <a:ea typeface="Times New Roman"/>
                        <a:cs typeface="Times New Roman"/>
                      </a:endParaRPr>
                    </a:p>
                  </a:txBody>
                  <a:tcPr marL="68580" marR="68580" marT="0" marB="0"/>
                </a:tc>
              </a:tr>
              <a:tr h="337445">
                <a:tc>
                  <a:txBody>
                    <a:bodyPr/>
                    <a:lstStyle/>
                    <a:p>
                      <a:pPr marL="0" marR="0" algn="just">
                        <a:lnSpc>
                          <a:spcPct val="115000"/>
                        </a:lnSpc>
                        <a:spcBef>
                          <a:spcPts val="0"/>
                        </a:spcBef>
                        <a:spcAft>
                          <a:spcPts val="0"/>
                        </a:spcAft>
                      </a:pPr>
                      <a:r>
                        <a:rPr lang="en-US" sz="2000">
                          <a:effectLst/>
                        </a:rPr>
                        <a:t>Broadcast ID</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192.168.1.235</a:t>
                      </a:r>
                      <a:endParaRPr lang="en-US" sz="2000" dirty="0">
                        <a:effectLst/>
                        <a:latin typeface="Calibri"/>
                        <a:ea typeface="Times New Roman"/>
                        <a:cs typeface="Times New Roman"/>
                      </a:endParaRPr>
                    </a:p>
                  </a:txBody>
                  <a:tcPr marL="68580" marR="68580" marT="0" marB="0"/>
                </a:tc>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95800" y="152400"/>
            <a:ext cx="4017718" cy="3838398"/>
          </a:xfrm>
          <a:prstGeom prst="rect">
            <a:avLst/>
          </a:prstGeom>
        </p:spPr>
      </p:pic>
    </p:spTree>
    <p:extLst>
      <p:ext uri="{BB962C8B-B14F-4D97-AF65-F5344CB8AC3E}">
        <p14:creationId xmlns:p14="http://schemas.microsoft.com/office/powerpoint/2010/main" val="37907126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685800" y="1447800"/>
            <a:ext cx="7772400" cy="4572000"/>
          </a:xfrm>
        </p:spPr>
        <p:txBody>
          <a:bodyPr>
            <a:normAutofit/>
          </a:bodyPr>
          <a:lstStyle/>
          <a:p>
            <a:endParaRPr lang="en-US" sz="8000" dirty="0" smtClean="0"/>
          </a:p>
          <a:p>
            <a:pPr marL="594360" lvl="2" indent="0">
              <a:buNone/>
            </a:pPr>
            <a:r>
              <a:rPr lang="en-US" sz="7400" dirty="0" smtClean="0">
                <a:solidFill>
                  <a:schemeClr val="accent2">
                    <a:lumMod val="75000"/>
                  </a:schemeClr>
                </a:solidFill>
              </a:rPr>
              <a:t>		THANK YOU</a:t>
            </a:r>
            <a:endParaRPr lang="en-US" sz="7400" dirty="0">
              <a:solidFill>
                <a:schemeClr val="accent2">
                  <a:lumMod val="75000"/>
                </a:schemeClr>
              </a:solidFill>
            </a:endParaRPr>
          </a:p>
        </p:txBody>
      </p:sp>
    </p:spTree>
    <p:extLst>
      <p:ext uri="{BB962C8B-B14F-4D97-AF65-F5344CB8AC3E}">
        <p14:creationId xmlns:p14="http://schemas.microsoft.com/office/powerpoint/2010/main" val="373627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3">
                                            <p:txEl>
                                              <p:pRg st="1" end="1"/>
                                            </p:txEl>
                                          </p:spTgt>
                                        </p:tgtEl>
                                      </p:cBhvr>
                                    </p:animEffect>
                                    <p:anim calcmode="lin" valueType="num">
                                      <p:cBhvr>
                                        <p:cTn id="7" dur="1822" tmFilter="0,0; 0.14,0.31; 0.43,0.73; 0.71,0.91; 1.0,1.0">
                                          <p:stCondLst>
                                            <p:cond delay="0"/>
                                          </p:stCondLst>
                                        </p:cTn>
                                        <p:tgtEl>
                                          <p:spTgt spid="3">
                                            <p:txEl>
                                              <p:pRg st="1" end="1"/>
                                            </p:txEl>
                                          </p:spTgt>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
                                            <p:txEl>
                                              <p:pRg st="1" end="1"/>
                                            </p:txEl>
                                          </p:spTgt>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
                                            <p:txEl>
                                              <p:pRg st="1" end="1"/>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
                                            <p:txEl>
                                              <p:pRg st="1" end="1"/>
                                            </p:txEl>
                                          </p:spTgt>
                                        </p:tgtEl>
                                        <p:attrNameLst>
                                          <p:attrName>ppt_y</p:attrName>
                                        </p:attrNameLst>
                                      </p:cBhvr>
                                      <p:tavLst>
                                        <p:tav tm="0">
                                          <p:val>
                                            <p:strVal val="ppt_y"/>
                                          </p:val>
                                        </p:tav>
                                        <p:tav tm="100000">
                                          <p:val>
                                            <p:strVal val="ppt_y+ppt_h"/>
                                          </p:val>
                                        </p:tav>
                                      </p:tavLst>
                                    </p:anim>
                                    <p:animScale>
                                      <p:cBhvr>
                                        <p:cTn id="14" dur="26">
                                          <p:stCondLst>
                                            <p:cond delay="620"/>
                                          </p:stCondLst>
                                        </p:cTn>
                                        <p:tgtEl>
                                          <p:spTgt spid="3">
                                            <p:txEl>
                                              <p:pRg st="1" end="1"/>
                                            </p:txEl>
                                          </p:spTgt>
                                        </p:tgtEl>
                                      </p:cBhvr>
                                      <p:to x="100000" y="60000"/>
                                    </p:animScale>
                                    <p:animScale>
                                      <p:cBhvr>
                                        <p:cTn id="15" dur="166" decel="50000">
                                          <p:stCondLst>
                                            <p:cond delay="646"/>
                                          </p:stCondLst>
                                        </p:cTn>
                                        <p:tgtEl>
                                          <p:spTgt spid="3">
                                            <p:txEl>
                                              <p:pRg st="1" end="1"/>
                                            </p:txEl>
                                          </p:spTgt>
                                        </p:tgtEl>
                                      </p:cBhvr>
                                      <p:to x="100000" y="100000"/>
                                    </p:animScale>
                                    <p:animScale>
                                      <p:cBhvr>
                                        <p:cTn id="16" dur="26">
                                          <p:stCondLst>
                                            <p:cond delay="1312"/>
                                          </p:stCondLst>
                                        </p:cTn>
                                        <p:tgtEl>
                                          <p:spTgt spid="3">
                                            <p:txEl>
                                              <p:pRg st="1" end="1"/>
                                            </p:txEl>
                                          </p:spTgt>
                                        </p:tgtEl>
                                      </p:cBhvr>
                                      <p:to x="100000" y="80000"/>
                                    </p:animScale>
                                    <p:animScale>
                                      <p:cBhvr>
                                        <p:cTn id="17" dur="166" decel="50000">
                                          <p:stCondLst>
                                            <p:cond delay="1338"/>
                                          </p:stCondLst>
                                        </p:cTn>
                                        <p:tgtEl>
                                          <p:spTgt spid="3">
                                            <p:txEl>
                                              <p:pRg st="1" end="1"/>
                                            </p:txEl>
                                          </p:spTgt>
                                        </p:tgtEl>
                                      </p:cBhvr>
                                      <p:to x="100000" y="100000"/>
                                    </p:animScale>
                                    <p:animScale>
                                      <p:cBhvr>
                                        <p:cTn id="18" dur="26">
                                          <p:stCondLst>
                                            <p:cond delay="1642"/>
                                          </p:stCondLst>
                                        </p:cTn>
                                        <p:tgtEl>
                                          <p:spTgt spid="3">
                                            <p:txEl>
                                              <p:pRg st="1" end="1"/>
                                            </p:txEl>
                                          </p:spTgt>
                                        </p:tgtEl>
                                      </p:cBhvr>
                                      <p:to x="100000" y="90000"/>
                                    </p:animScale>
                                    <p:animScale>
                                      <p:cBhvr>
                                        <p:cTn id="19" dur="166" decel="50000">
                                          <p:stCondLst>
                                            <p:cond delay="1668"/>
                                          </p:stCondLst>
                                        </p:cTn>
                                        <p:tgtEl>
                                          <p:spTgt spid="3">
                                            <p:txEl>
                                              <p:pRg st="1" end="1"/>
                                            </p:txEl>
                                          </p:spTgt>
                                        </p:tgtEl>
                                      </p:cBhvr>
                                      <p:to x="100000" y="100000"/>
                                    </p:animScale>
                                    <p:animScale>
                                      <p:cBhvr>
                                        <p:cTn id="20" dur="26">
                                          <p:stCondLst>
                                            <p:cond delay="1808"/>
                                          </p:stCondLst>
                                        </p:cTn>
                                        <p:tgtEl>
                                          <p:spTgt spid="3">
                                            <p:txEl>
                                              <p:pRg st="1" end="1"/>
                                            </p:txEl>
                                          </p:spTgt>
                                        </p:tgtEl>
                                      </p:cBhvr>
                                      <p:to x="100000" y="95000"/>
                                    </p:animScale>
                                    <p:animScale>
                                      <p:cBhvr>
                                        <p:cTn id="21" dur="166" decel="50000">
                                          <p:stCondLst>
                                            <p:cond delay="1834"/>
                                          </p:stCondLst>
                                        </p:cTn>
                                        <p:tgtEl>
                                          <p:spTgt spid="3">
                                            <p:txEl>
                                              <p:pRg st="1" end="1"/>
                                            </p:txEl>
                                          </p:spTgt>
                                        </p:tgtEl>
                                      </p:cBhvr>
                                      <p:to x="100000" y="100000"/>
                                    </p:animScale>
                                    <p:set>
                                      <p:cBhvr>
                                        <p:cTn id="22"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1010</TotalTime>
  <Words>1145</Words>
  <Application>Microsoft Office PowerPoint</Application>
  <PresentationFormat>On-screen Show (4:3)</PresentationFormat>
  <Paragraphs>438</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 Narrow</vt:lpstr>
      <vt:lpstr>Calibri</vt:lpstr>
      <vt:lpstr>Franklin Gothic Book</vt:lpstr>
      <vt:lpstr>Georgia</vt:lpstr>
      <vt:lpstr>Perpetua</vt:lpstr>
      <vt:lpstr>Times New Roman</vt:lpstr>
      <vt:lpstr>Wingdings</vt:lpstr>
      <vt:lpstr>Wingdings 2</vt:lpstr>
      <vt:lpstr>Equity</vt:lpstr>
      <vt:lpstr>Subnetting</vt:lpstr>
      <vt:lpstr>What is Subnetting? </vt:lpstr>
      <vt:lpstr>Diagram</vt:lpstr>
      <vt:lpstr>Why Subnetting? </vt:lpstr>
      <vt:lpstr>How?</vt:lpstr>
      <vt:lpstr>Formulas &amp; Variables</vt:lpstr>
      <vt:lpstr>Example:-1 </vt:lpstr>
      <vt:lpstr>Example:-1</vt:lpstr>
      <vt:lpstr>Example:-2</vt:lpstr>
      <vt:lpstr>Example:-2</vt:lpstr>
      <vt:lpstr>Subnet Mask</vt:lpstr>
      <vt:lpstr>Case Study </vt:lpstr>
      <vt:lpstr>Diagram</vt:lpstr>
      <vt:lpstr>In real life scenario</vt:lpstr>
      <vt:lpstr>Choose address</vt:lpstr>
      <vt:lpstr>PowerPoint Presentation</vt:lpstr>
      <vt:lpstr>Step-1 </vt:lpstr>
      <vt:lpstr>Step-2</vt:lpstr>
      <vt:lpstr>Step-3</vt:lpstr>
      <vt:lpstr>Step-4</vt:lpstr>
      <vt:lpstr>PowerPoint Presentation</vt:lpstr>
      <vt:lpstr>Step-5</vt:lpstr>
      <vt:lpstr>PowerPoint Presentation</vt:lpstr>
      <vt:lpstr>Step-6  </vt:lpstr>
      <vt:lpstr>WAN Link 1 </vt:lpstr>
      <vt:lpstr>WAN Link-2</vt:lpstr>
      <vt:lpstr>WAN Link-3</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Subnetting</dc:title>
  <dc:creator>ismail - [2010]</dc:creator>
  <cp:lastModifiedBy>User</cp:lastModifiedBy>
  <cp:revision>47</cp:revision>
  <dcterms:created xsi:type="dcterms:W3CDTF">2016-11-29T18:20:34Z</dcterms:created>
  <dcterms:modified xsi:type="dcterms:W3CDTF">2026-05-10T02:14:29Z</dcterms:modified>
</cp:coreProperties>
</file>