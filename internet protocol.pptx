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28"/>
  </p:notesMasterIdLst>
  <p:handoutMasterIdLst>
    <p:handoutMasterId r:id="rId29"/>
  </p:handoutMasterIdLst>
  <p:sldIdLst>
    <p:sldId id="281" r:id="rId3"/>
    <p:sldId id="282" r:id="rId4"/>
    <p:sldId id="262" r:id="rId5"/>
    <p:sldId id="259" r:id="rId6"/>
    <p:sldId id="261" r:id="rId7"/>
    <p:sldId id="260" r:id="rId8"/>
    <p:sldId id="257" r:id="rId9"/>
    <p:sldId id="258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5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1" d="100"/>
          <a:sy n="51" d="100"/>
        </p:scale>
        <p:origin x="2352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5/11/2026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5/11/2026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5/11/2026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5/11/2026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19" name="Instructional Text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sz="1200" b="1" i="1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sz="1200" i="1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5/11/2026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5/11/2026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5/11/2026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5/11/2026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5/11/2026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5/11/2026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5/11/2026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5/11/2026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5/11/2026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/>
              <a:pPr/>
              <a:t>5/11/2026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PROTOCOLS AND TCP/IP PROTOCOL SUITE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09800" y="1905000"/>
            <a:ext cx="7848600" cy="381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4800" dirty="0">
              <a:solidFill>
                <a:prstClr val="white"/>
              </a:solidFill>
              <a:latin typeface="Arial Narrow" panose="020B060602020203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4800" dirty="0">
                <a:solidFill>
                  <a:prstClr val="white"/>
                </a:solidFill>
                <a:latin typeface="Arial Narrow" panose="020B0606020202030204" pitchFamily="34" charset="0"/>
              </a:rPr>
              <a:t>Introduction to Network Security &amp; Firewalls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4800" dirty="0">
                <a:solidFill>
                  <a:prstClr val="white"/>
                </a:solidFill>
                <a:latin typeface="Arial Narrow" panose="020B0606020202030204" pitchFamily="34" charset="0"/>
              </a:rPr>
              <a:t>By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4800" dirty="0" err="1">
                <a:solidFill>
                  <a:prstClr val="white"/>
                </a:solidFill>
                <a:latin typeface="Arial Narrow" panose="020B0606020202030204" pitchFamily="34" charset="0"/>
              </a:rPr>
              <a:t>Dr.Col</a:t>
            </a:r>
            <a:r>
              <a:rPr lang="en-US" sz="4800" dirty="0">
                <a:solidFill>
                  <a:prstClr val="white"/>
                </a:solidFill>
                <a:latin typeface="Arial Narrow" panose="020B0606020202030204" pitchFamily="34" charset="0"/>
              </a:rPr>
              <a:t> Joseph </a:t>
            </a:r>
            <a:r>
              <a:rPr lang="en-US" sz="4800" dirty="0" err="1">
                <a:solidFill>
                  <a:prstClr val="white"/>
                </a:solidFill>
                <a:latin typeface="Arial Narrow" panose="020B0606020202030204" pitchFamily="34" charset="0"/>
              </a:rPr>
              <a:t>Kalunga</a:t>
            </a:r>
            <a:r>
              <a:rPr lang="en-US" sz="4800" dirty="0">
                <a:solidFill>
                  <a:prstClr val="white"/>
                </a:solidFill>
                <a:latin typeface="Arial Narrow" panose="020B0606020202030204" pitchFamily="34" charset="0"/>
              </a:rPr>
              <a:t> (</a:t>
            </a:r>
            <a:r>
              <a:rPr lang="en-US" sz="4800" dirty="0" err="1">
                <a:solidFill>
                  <a:prstClr val="white"/>
                </a:solidFill>
                <a:latin typeface="Arial Narrow" panose="020B0606020202030204" pitchFamily="34" charset="0"/>
              </a:rPr>
              <a:t>Ph.D</a:t>
            </a:r>
            <a:r>
              <a:rPr lang="en-US" sz="4800" dirty="0">
                <a:solidFill>
                  <a:prstClr val="white"/>
                </a:solidFill>
                <a:latin typeface="Arial Narrow" panose="020B0606020202030204" pitchFamily="34" charset="0"/>
              </a:rPr>
              <a:t>)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4800" dirty="0">
              <a:solidFill>
                <a:prstClr val="white"/>
              </a:solidFill>
              <a:latin typeface="Arial Narrow" panose="020B060602020203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4800" dirty="0">
                <a:solidFill>
                  <a:prstClr val="white"/>
                </a:solidFill>
                <a:latin typeface="Arial Narrow" panose="020B0606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02950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/>
          <a:lstStyle/>
          <a:p>
            <a:r>
              <a:rPr lang="en-US" altLang="tr-TR" dirty="0"/>
              <a:t>Protocols and the TCP/IP Protocol Suite</a:t>
            </a:r>
            <a:endParaRPr lang="en-US" dirty="0"/>
          </a:p>
        </p:txBody>
      </p:sp>
      <p:pic>
        <p:nvPicPr>
          <p:cNvPr id="4" name="Picture Placeholder 3" descr="Open book on table, blurred shelves of books in background" title="Sample Picture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9880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5"/>
            <a:ext cx="4395568" cy="901272"/>
          </a:xfrm>
        </p:spPr>
        <p:txBody>
          <a:bodyPr/>
          <a:lstStyle/>
          <a:p>
            <a:r>
              <a:rPr lang="en-US" dirty="0" smtClean="0"/>
              <a:t>Content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3038622"/>
            <a:ext cx="10096499" cy="2428727"/>
          </a:xfrm>
        </p:spPr>
        <p:txBody>
          <a:bodyPr>
            <a:normAutofit/>
          </a:bodyPr>
          <a:lstStyle/>
          <a:p>
            <a:pPr marL="109728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 smtClean="0"/>
              <a:t>History</a:t>
            </a:r>
          </a:p>
          <a:p>
            <a:pPr marL="109728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 smtClean="0"/>
              <a:t>TCP/IP Suite Layer</a:t>
            </a:r>
            <a:endParaRPr lang="en-US" sz="2000" b="1" dirty="0"/>
          </a:p>
          <a:p>
            <a:pPr marL="1097280">
              <a:lnSpc>
                <a:spcPct val="100000"/>
              </a:lnSpc>
            </a:pPr>
            <a:r>
              <a:rPr lang="en-US" sz="2000" b="1" dirty="0"/>
              <a:t>	</a:t>
            </a:r>
            <a:r>
              <a:rPr lang="en-US" sz="2000" b="1" dirty="0" smtClean="0"/>
              <a:t>a} Network Interface</a:t>
            </a:r>
          </a:p>
          <a:p>
            <a:pPr marL="1097280">
              <a:lnSpc>
                <a:spcPct val="100000"/>
              </a:lnSpc>
            </a:pPr>
            <a:r>
              <a:rPr lang="en-US" sz="2000" b="1" dirty="0"/>
              <a:t>	</a:t>
            </a:r>
            <a:r>
              <a:rPr lang="en-US" sz="2000" b="1" dirty="0" smtClean="0"/>
              <a:t>b} Internet Layer</a:t>
            </a:r>
          </a:p>
          <a:p>
            <a:pPr marL="1097280">
              <a:lnSpc>
                <a:spcPct val="100000"/>
              </a:lnSpc>
            </a:pPr>
            <a:r>
              <a:rPr lang="en-US" sz="2000" b="1" dirty="0"/>
              <a:t>	</a:t>
            </a:r>
            <a:r>
              <a:rPr lang="en-US" sz="2000" b="1" dirty="0" smtClean="0"/>
              <a:t>c} Transport Layer</a:t>
            </a:r>
          </a:p>
          <a:p>
            <a:pPr marL="1097280">
              <a:lnSpc>
                <a:spcPct val="100000"/>
              </a:lnSpc>
            </a:pPr>
            <a:r>
              <a:rPr lang="en-US" sz="2000" b="1" dirty="0"/>
              <a:t>	</a:t>
            </a:r>
            <a:r>
              <a:rPr lang="en-US" sz="2000" b="1" dirty="0" smtClean="0"/>
              <a:t>d} Application Layer</a:t>
            </a:r>
          </a:p>
          <a:p>
            <a:pPr marL="1097280">
              <a:lnSpc>
                <a:spcPct val="100000"/>
              </a:lnSpc>
            </a:pPr>
            <a:r>
              <a:rPr lang="en-US" sz="2000" b="1" dirty="0" smtClean="0"/>
              <a:t>3.Comparison of OSI and IP</a:t>
            </a:r>
          </a:p>
        </p:txBody>
      </p:sp>
    </p:spTree>
    <p:extLst>
      <p:ext uri="{BB962C8B-B14F-4D97-AF65-F5344CB8AC3E}">
        <p14:creationId xmlns:p14="http://schemas.microsoft.com/office/powerpoint/2010/main" val="3412402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900" y="1600200"/>
            <a:ext cx="5225562" cy="4572000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b="1" dirty="0" smtClean="0"/>
              <a:t>Transmission Control Protocol/ Internet Protocol </a:t>
            </a:r>
            <a:r>
              <a:rPr lang="en-US" dirty="0" smtClean="0"/>
              <a:t>suite of protocol form the basis of the internet. It is TCP/IP that creates a virtual network when multiple computer networks are connected together. The TCP/IP networks was earlier known as ARPANET, but is now known as internet.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History Of TCP/IP Suite</a:t>
            </a:r>
            <a:endParaRPr lang="en-US" sz="3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6" name="Picture 4" descr="http://s25.postimg.org/me4rwfywf/TCP_I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2609" y="1600200"/>
            <a:ext cx="4572973" cy="3928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882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IP, Protocol?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104900" y="1645920"/>
            <a:ext cx="106978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Protocol: -</a:t>
            </a:r>
          </a:p>
          <a:p>
            <a:r>
              <a:rPr lang="en-US" dirty="0" smtClean="0"/>
              <a:t>In </a:t>
            </a:r>
            <a:r>
              <a:rPr lang="en-US" dirty="0"/>
              <a:t>information technology, a </a:t>
            </a:r>
            <a:r>
              <a:rPr lang="en-US" b="1" dirty="0"/>
              <a:t>protocol</a:t>
            </a:r>
            <a:r>
              <a:rPr lang="en-US" dirty="0"/>
              <a:t> is the special set of rules that end points in a telecommunication connection use when they </a:t>
            </a:r>
            <a:r>
              <a:rPr lang="en-US" dirty="0" smtClean="0"/>
              <a:t>communicate. Protocols</a:t>
            </a:r>
            <a:r>
              <a:rPr lang="en-US" dirty="0"/>
              <a:t> specify interactions between the communicating entities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IP: -</a:t>
            </a:r>
          </a:p>
          <a:p>
            <a:r>
              <a:rPr lang="en-US" dirty="0"/>
              <a:t>An Internet Protocol address (</a:t>
            </a:r>
            <a:r>
              <a:rPr lang="en-US" b="1" dirty="0"/>
              <a:t>IP</a:t>
            </a:r>
            <a:r>
              <a:rPr lang="en-US" dirty="0"/>
              <a:t> address) is a numerical label assigned to each device (e.g., computer, printer) participating in a computer network that uses the Internet Protocol for communication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5122" name="Picture 2" descr="http://us.i1.yimg.com/us.yimg.com/i/us/str/gr/ip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5729" y="3868615"/>
            <a:ext cx="6239999" cy="2505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139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1" y="1616299"/>
            <a:ext cx="10058400" cy="52417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9994" y="492369"/>
            <a:ext cx="101146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Working Of TCP/IP 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25221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TCP/IP Suite layer</a:t>
            </a:r>
            <a:endParaRPr lang="en-US" dirty="0"/>
          </a:p>
        </p:txBody>
      </p:sp>
      <p:pic>
        <p:nvPicPr>
          <p:cNvPr id="2050" name="Picture 2" descr="http://usercontent2.hubimg.com/3701507_f260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9082" y="1460181"/>
            <a:ext cx="2476500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04900" y="1674055"/>
            <a:ext cx="7363851" cy="441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TCP/IP Suite consists of Four layer</a:t>
            </a:r>
          </a:p>
          <a:p>
            <a:pPr>
              <a:lnSpc>
                <a:spcPct val="150000"/>
              </a:lnSpc>
            </a:pPr>
            <a:r>
              <a:rPr lang="en-US" b="1" dirty="0"/>
              <a:t>	</a:t>
            </a:r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 Interface</a:t>
            </a:r>
            <a:r>
              <a:rPr lang="en-US" b="1" dirty="0" smtClean="0"/>
              <a:t>: - </a:t>
            </a:r>
            <a:r>
              <a:rPr lang="en-US" dirty="0" smtClean="0"/>
              <a:t>It include the function of physical layer and data link layer.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TCP/IP protocol suite includes Host-to-network layer protocols such as Serial Line internet protocol and point to point protocol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	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Internet Layer</a:t>
            </a:r>
            <a:r>
              <a:rPr lang="en-US" dirty="0" smtClean="0"/>
              <a:t>: - The internet layer is exactly same to the network layer of OSI model.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IP is the primary protocol operating at this layer and it provides data </a:t>
            </a:r>
            <a:r>
              <a:rPr lang="en-US" smtClean="0"/>
              <a:t>encapsulation ,routing</a:t>
            </a:r>
            <a:r>
              <a:rPr lang="en-US" dirty="0" smtClean="0"/>
              <a:t>, addressing and fragmentation services to the protocols at the transport layer above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32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 Suite layer</a:t>
            </a:r>
          </a:p>
        </p:txBody>
      </p:sp>
      <p:pic>
        <p:nvPicPr>
          <p:cNvPr id="3" name="Picture 2" descr="http://usercontent2.hubimg.com/3701507_f26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9082" y="1460181"/>
            <a:ext cx="2476500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04900" y="1659988"/>
            <a:ext cx="7335715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Transport Layer: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dirty="0"/>
              <a:t>TCP/IP Suite </a:t>
            </a:r>
            <a:r>
              <a:rPr lang="en-US" dirty="0" smtClean="0"/>
              <a:t>includes two protocol at this layer, the transmission control protocol and the user datagram protocol</a:t>
            </a:r>
          </a:p>
          <a:p>
            <a:pPr>
              <a:lnSpc>
                <a:spcPct val="150000"/>
              </a:lnSpc>
            </a:pPr>
            <a:r>
              <a:rPr lang="en-US" dirty="0"/>
              <a:t>	</a:t>
            </a:r>
            <a:r>
              <a:rPr lang="en-US" dirty="0" smtClean="0"/>
              <a:t>These protocol provides connection or connectionless data transfer services.</a:t>
            </a:r>
          </a:p>
          <a:p>
            <a:pPr>
              <a:lnSpc>
                <a:spcPct val="150000"/>
              </a:lnSpc>
            </a:pPr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 layer</a:t>
            </a:r>
            <a:r>
              <a:rPr lang="en-US" dirty="0" smtClean="0"/>
              <a:t>: - The </a:t>
            </a:r>
            <a:r>
              <a:rPr lang="en-US" dirty="0"/>
              <a:t>TCP/IP </a:t>
            </a:r>
            <a:r>
              <a:rPr lang="en-US" dirty="0" smtClean="0"/>
              <a:t>protocol at the application layer can take different forms of Protocols, such as the File Transfer Protocol, Hypertext Transfer Protocol.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445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 Interface Layer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4900" y="1674055"/>
            <a:ext cx="62806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is the bottom layer of TCP/IP Model lies below the Internet Layer.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is also known as Host To Network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Function of this layer is to connect the Host To Network &amp; inform the upper layers so that they could start sending the data packets.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This layer varies from network to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Host To Network Layer protocols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SLIP(Serial Line IP 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PPP( Point To Point Protocol 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538" y="1674055"/>
            <a:ext cx="3560942" cy="331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24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://www.bev.net/sites/all/files/images/net_access_guide/figure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414" y="4412288"/>
            <a:ext cx="7095231" cy="2194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43189" y="476518"/>
            <a:ext cx="9066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Serial Line Internet Protocol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43189" y="1661375"/>
            <a:ext cx="8706118" cy="2943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/>
              <a:t>Serial line Internet protocol is very simple and used to connect the workstation to internet over dial-up line using a modem.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/>
              <a:t>SLIP(</a:t>
            </a:r>
            <a:r>
              <a:rPr lang="en-US" dirty="0"/>
              <a:t>Serial line Internet protocol </a:t>
            </a:r>
            <a:r>
              <a:rPr lang="en-US" dirty="0" smtClean="0"/>
              <a:t>) is not a standard protocol for carrying IP Packets over the a serial line between a home user and The ISP server. But , it has become popular because of its simplicity 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/>
              <a:t>The role of SLIP begins only when there is a proper connection between the two modem.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934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4704" y="489397"/>
            <a:ext cx="6800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Problem with SLIP Protocol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94705" y="1571223"/>
            <a:ext cx="4778062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It is not an approved internet standard.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It does not provide any authentication.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SLIP provides no way for the two devices to communicate control information between them to manage the link. </a:t>
            </a:r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SLIP doesn't provide any way of detecting or correcting errors in transmissions.</a:t>
            </a:r>
          </a:p>
        </p:txBody>
      </p:sp>
      <p:pic>
        <p:nvPicPr>
          <p:cNvPr id="7170" name="Picture 2" descr="http://www.ustudy.in/sites/default/files/dialupconnection_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0921" y="2200318"/>
            <a:ext cx="3609975" cy="237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1424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to Point Protocol ( PPP )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979099" y="1535612"/>
            <a:ext cx="82322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Point to Point Protocol is a data link layer Protocol.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PPP is another examples of the evolving the nature of internet.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It has become standard internet protocol for remote access, using dial-up connection.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The basic Functionality of PPP is similar to the SLIP.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It passes the and other packets in the form of frames between a client and ISP Server.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PPP is more complex than SLIP.</a:t>
            </a:r>
          </a:p>
        </p:txBody>
      </p:sp>
      <p:pic>
        <p:nvPicPr>
          <p:cNvPr id="8194" name="Picture 2" descr="http://www.cisco.com/web/about/ac123/ac147/images/ipj/ipj_1-2/figure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098" y="4206386"/>
            <a:ext cx="8232283" cy="1903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4079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220" y="643944"/>
            <a:ext cx="9478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PPP Set of Protocol Are as given below: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120462" y="1558344"/>
            <a:ext cx="9569003" cy="4190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Line control Protocol(LCP): - The Line control protocol is responsible for establishing , maintaining the connection between the Two end ( Home User and the ISP 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Password Authentication Protocol( PAP ) : - password authentication protocol is used.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Here the user must establish a proof of identity , so that he can connect to ISP.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Network Control protocol ( NCP ): - Once the Authentication is done, PPP on the client side sends out a NCP packet. This packet tells the ISP server what kind of traffic is to be passed over this PPP link.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IP Control Protocol ( IPCP ) : - the IP Control Protocol takes over. Here , actual IP packet are now exchanged. IPCP establishes the connection between the Host user and ISP.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506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between The SLIP And PPP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1581183"/>
            <a:ext cx="9185320" cy="502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67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Internet Layer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104900" y="1854558"/>
            <a:ext cx="7433793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fives network layer protocol are as follows:-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ARP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RARP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IP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ICMP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IGMP</a:t>
            </a:r>
          </a:p>
          <a:p>
            <a:r>
              <a:rPr lang="en-US" dirty="0" smtClean="0"/>
              <a:t>IP is an Important protocol in this layer.</a:t>
            </a:r>
          </a:p>
          <a:p>
            <a:r>
              <a:rPr lang="en-US" sz="2000" b="1" dirty="0" smtClean="0"/>
              <a:t>ARP ( Address resolution protocol 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 smtClean="0"/>
              <a:t>Every machine on internet has one address, these address cannot actually be used for sending packets data because data link layer does not understand the internet address.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 smtClean="0"/>
              <a:t>ARP Provides an essential services when TCP/IP is running in LAN.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144000" y="1764406"/>
            <a:ext cx="2060620" cy="9787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IP Address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9659155" y="3417223"/>
            <a:ext cx="1068946" cy="8757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ARP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182637" y="4906851"/>
            <a:ext cx="2021983" cy="9488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Physical Address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0154992" y="2743200"/>
            <a:ext cx="19318" cy="6740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0193628" y="4262907"/>
            <a:ext cx="19318" cy="6740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61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RARP ( Reverse Address </a:t>
            </a:r>
            <a:r>
              <a:rPr lang="en-US" dirty="0"/>
              <a:t>R</a:t>
            </a:r>
            <a:r>
              <a:rPr lang="en-US" dirty="0" smtClean="0"/>
              <a:t>esolution </a:t>
            </a:r>
            <a:r>
              <a:rPr lang="en-US" dirty="0"/>
              <a:t>P</a:t>
            </a:r>
            <a:r>
              <a:rPr lang="en-US" dirty="0" smtClean="0"/>
              <a:t>rotocol )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9086136" y="4992854"/>
            <a:ext cx="2060620" cy="9787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IP Address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9562655" y="3425867"/>
            <a:ext cx="1068946" cy="8757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RARP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063599" y="1803042"/>
            <a:ext cx="2021983" cy="9488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Physical Address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0077810" y="2751844"/>
            <a:ext cx="19318" cy="6740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0097128" y="4301630"/>
            <a:ext cx="19318" cy="6740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04900" y="1687132"/>
            <a:ext cx="74853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The Reverse Address Resolution Protocol is used to obtain the IP address of a Host based on Its physical address. That is , it preform a job that is exactly opposite to that of ARP.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RARP works in a very similar way to ARP. but in the exactly opposite direction , as shown in the side figure.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27627" y="4301630"/>
            <a:ext cx="7485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Note: - IP Address is a universally unique address and inter-networked address.</a:t>
            </a:r>
          </a:p>
          <a:p>
            <a:r>
              <a:rPr lang="en-US" b="1" dirty="0"/>
              <a:t>	</a:t>
            </a:r>
            <a:r>
              <a:rPr lang="en-US" b="1" dirty="0" smtClean="0"/>
              <a:t>MAC Address is local address. It is unique locally but not universally.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7436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Internet Protocol ( IP )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104899" y="1584101"/>
            <a:ext cx="6454999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Internet Protocol is very important protocol present in this network layer.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IP is the protocol responsible for carrying data, generated by nearly all the other TCP/IP protocol, from the source system to its destination .</a:t>
            </a:r>
          </a:p>
          <a:p>
            <a:r>
              <a:rPr lang="en-US" sz="2000" b="1" dirty="0" smtClean="0"/>
              <a:t>IP Features : - 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 smtClean="0"/>
              <a:t>Unreliable </a:t>
            </a:r>
          </a:p>
          <a:p>
            <a:r>
              <a:rPr lang="en-US" dirty="0"/>
              <a:t>	</a:t>
            </a:r>
            <a:r>
              <a:rPr lang="en-US" dirty="0" smtClean="0"/>
              <a:t>	IP is unreliable , it means that it does not provide a guarantee that a datagram send from a source computer definitely will arrive at the destination.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 smtClean="0"/>
              <a:t>Connectionless	</a:t>
            </a:r>
          </a:p>
          <a:p>
            <a:r>
              <a:rPr lang="en-US" dirty="0"/>
              <a:t>	</a:t>
            </a:r>
            <a:r>
              <a:rPr lang="en-US" dirty="0" smtClean="0"/>
              <a:t>	IP services is similar to the postal service.</a:t>
            </a:r>
          </a:p>
          <a:p>
            <a:r>
              <a:rPr lang="en-US" dirty="0" smtClean="0"/>
              <a:t>It is possible that the order in which the message are sent and the order in which they are received is different.</a:t>
            </a:r>
            <a:endParaRPr lang="en-US" dirty="0"/>
          </a:p>
        </p:txBody>
      </p:sp>
      <p:pic>
        <p:nvPicPr>
          <p:cNvPr id="9218" name="Picture 2" descr="https://cdn0.iconfinder.com/data/icons/pixel-perfect-at-24px-volume-6/24/2173-51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4719" y="2164316"/>
            <a:ext cx="3411873" cy="2840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978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Difference Between IPv4 And IPv6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389901"/>
            <a:ext cx="4919472" cy="593445"/>
          </a:xfrm>
        </p:spPr>
        <p:txBody>
          <a:bodyPr>
            <a:noAutofit/>
          </a:bodyPr>
          <a:lstStyle/>
          <a:p>
            <a:pPr algn="ctr"/>
            <a:r>
              <a:rPr lang="en-US" sz="40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IPv4</a:t>
            </a:r>
            <a:endParaRPr lang="en-US" sz="4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383461"/>
            <a:ext cx="4919472" cy="599885"/>
          </a:xfrm>
        </p:spPr>
        <p:txBody>
          <a:bodyPr>
            <a:noAutofit/>
          </a:bodyPr>
          <a:lstStyle/>
          <a:p>
            <a:pPr algn="ctr"/>
            <a:r>
              <a:rPr lang="en-US" sz="40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IPv6</a:t>
            </a:r>
            <a:endParaRPr lang="en-US" sz="4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823" y="2193645"/>
            <a:ext cx="8976574" cy="419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51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Transport Layer ( TCP and UDP )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104900" y="1661375"/>
            <a:ext cx="99806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The transport layer runs on the top of internet layer and is mainly concerned with transport of packets from the source to the destination.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The main function of transport layer is to deliver packets between the end points.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In TCP/IP, the transport layer include to protocols : TCP and UDP.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33363" y="3541690"/>
            <a:ext cx="2781837" cy="8628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Transport Layer Protocols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8203841" y="5331854"/>
            <a:ext cx="2678805" cy="9015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datagram protocols ( USP )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1104899" y="5331854"/>
            <a:ext cx="2678805" cy="9015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Transmission control Protocol( TCP )</a:t>
            </a:r>
            <a:endParaRPr lang="en-US" dirty="0"/>
          </a:p>
        </p:txBody>
      </p:sp>
      <p:cxnSp>
        <p:nvCxnSpPr>
          <p:cNvPr id="8" name="Straight Connector 7"/>
          <p:cNvCxnSpPr>
            <a:stCxn id="4" idx="2"/>
          </p:cNvCxnSpPr>
          <p:nvPr/>
        </p:nvCxnSpPr>
        <p:spPr>
          <a:xfrm flipH="1">
            <a:off x="5924281" y="4404575"/>
            <a:ext cx="1" cy="46363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444302" y="4868214"/>
            <a:ext cx="709894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2460715" y="4868215"/>
            <a:ext cx="1" cy="46363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9543244" y="4868214"/>
            <a:ext cx="1" cy="46363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1174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between TCP And UDP 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405308"/>
              </p:ext>
            </p:extLst>
          </p:nvPr>
        </p:nvGraphicFramePr>
        <p:xfrm>
          <a:off x="1233510" y="1777284"/>
          <a:ext cx="9636258" cy="3944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2086"/>
                <a:gridCol w="3212086"/>
                <a:gridCol w="3212086"/>
              </a:tblGrid>
              <a:tr h="497298">
                <a:tc>
                  <a:txBody>
                    <a:bodyPr/>
                    <a:lstStyle/>
                    <a:p>
                      <a:r>
                        <a:rPr lang="en-US" dirty="0" smtClean="0"/>
                        <a:t>Parameter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UDP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TCP</a:t>
                      </a:r>
                      <a:endParaRPr lang="en-US" dirty="0"/>
                    </a:p>
                  </a:txBody>
                  <a:tcPr/>
                </a:tc>
              </a:tr>
              <a:tr h="1226214">
                <a:tc>
                  <a:txBody>
                    <a:bodyPr/>
                    <a:lstStyle/>
                    <a:p>
                      <a:r>
                        <a:rPr lang="en-US" dirty="0" smtClean="0"/>
                        <a:t>Data Transfer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is sent</a:t>
                      </a:r>
                      <a:r>
                        <a:rPr lang="en-US" baseline="0" dirty="0" smtClean="0"/>
                        <a:t> in discrete packages by the application.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is sent by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the application</a:t>
                      </a:r>
                      <a:r>
                        <a:rPr lang="en-US" baseline="0" dirty="0" smtClean="0"/>
                        <a:t> with no particular structure.</a:t>
                      </a:r>
                      <a:endParaRPr lang="en-US" dirty="0"/>
                    </a:p>
                  </a:txBody>
                  <a:tcPr/>
                </a:tc>
              </a:tr>
              <a:tr h="497298">
                <a:tc>
                  <a:txBody>
                    <a:bodyPr/>
                    <a:lstStyle/>
                    <a:p>
                      <a:r>
                        <a:rPr lang="en-US" dirty="0" smtClean="0"/>
                        <a:t>Transmission</a:t>
                      </a:r>
                      <a:r>
                        <a:rPr lang="en-US" baseline="0" dirty="0" smtClean="0"/>
                        <a:t> speed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Very High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 but</a:t>
                      </a:r>
                      <a:r>
                        <a:rPr lang="en-US" baseline="0" dirty="0" smtClean="0"/>
                        <a:t> not as high s UDP</a:t>
                      </a:r>
                      <a:endParaRPr lang="en-US" dirty="0"/>
                    </a:p>
                  </a:txBody>
                  <a:tcPr/>
                </a:tc>
              </a:tr>
              <a:tr h="497298">
                <a:tc>
                  <a:txBody>
                    <a:bodyPr/>
                    <a:lstStyle/>
                    <a:p>
                      <a:r>
                        <a:rPr lang="en-US" dirty="0" smtClean="0"/>
                        <a:t>Protocol connection setup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Connectionless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Connection</a:t>
                      </a:r>
                      <a:r>
                        <a:rPr lang="en-US" baseline="0" dirty="0" smtClean="0"/>
                        <a:t> oriented</a:t>
                      </a:r>
                      <a:endParaRPr lang="en-US" dirty="0"/>
                    </a:p>
                  </a:txBody>
                  <a:tcPr/>
                </a:tc>
              </a:tr>
              <a:tr h="1226214">
                <a:tc>
                  <a:txBody>
                    <a:bodyPr/>
                    <a:lstStyle/>
                    <a:p>
                      <a:r>
                        <a:rPr lang="en-US" dirty="0" smtClean="0"/>
                        <a:t>Used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UDP is useful when speed</a:t>
                      </a:r>
                      <a:r>
                        <a:rPr lang="en-US" baseline="0" dirty="0" smtClean="0"/>
                        <a:t> of delivery is critical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TCP is useful</a:t>
                      </a:r>
                      <a:r>
                        <a:rPr lang="en-US" baseline="0" dirty="0" smtClean="0"/>
                        <a:t> for transmission of data without error.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27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Layer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104900" y="1635617"/>
            <a:ext cx="93398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 smtClean="0"/>
              <a:t>The TCP/IP Model Does Not have Session or presentation layer on the top of the transport layer.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 smtClean="0"/>
              <a:t>It is just has the application layer. It contains all higher level protocols.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 smtClean="0"/>
              <a:t>Higher Level Protocols Used in application layer are as Follows: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3619231"/>
            <a:ext cx="9980682" cy="293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47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Protocol In application Layer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04900" y="1738648"/>
            <a:ext cx="66353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TELNET: - the virtual terminal protocol allows a user on one machine to log onto a distant machine and work there.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FTP: - File Transfer protocol provides a way to move data efficiently from one machine to another.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SMTP: - 	Simple mail transfer protocol developed for email transfer.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DNS: -Domain Name System Protocol is used for mapping the host names onto their network address.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HTTP: -hyper Text transfer Protocol is used for fetching pages on the world wide web (WWW) and many others.</a:t>
            </a:r>
            <a:endParaRPr lang="en-US" dirty="0"/>
          </a:p>
        </p:txBody>
      </p:sp>
      <p:pic>
        <p:nvPicPr>
          <p:cNvPr id="10242" name="Picture 2" descr="Image result for teln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203" y="1552105"/>
            <a:ext cx="3714750" cy="1113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http://www.deskshare.com/resources/articles/images/ftp-protocol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203" y="3070628"/>
            <a:ext cx="4086225" cy="160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 descr="https://upload.wikimedia.org/wikipedia/commons/7/75/Internet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683" y="4896584"/>
            <a:ext cx="2302053" cy="108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857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TCP/IP Reference Model</a:t>
            </a:r>
            <a:endParaRPr lang="en-US" dirty="0"/>
          </a:p>
        </p:txBody>
      </p:sp>
      <p:pic>
        <p:nvPicPr>
          <p:cNvPr id="11266" name="Picture 2" descr="http://sourcedaddy.com/windows-xp/images/uti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712890"/>
            <a:ext cx="9980682" cy="467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037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Of OSI and TCP/IP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617246"/>
              </p:ext>
            </p:extLst>
          </p:nvPr>
        </p:nvGraphicFramePr>
        <p:xfrm>
          <a:off x="2031241" y="1556793"/>
          <a:ext cx="8128000" cy="494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OSI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TCP/IP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Its has seven Layer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Its has four</a:t>
                      </a:r>
                      <a:r>
                        <a:rPr lang="en-US" baseline="0" dirty="0" smtClean="0"/>
                        <a:t> layer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It Supports</a:t>
                      </a:r>
                      <a:r>
                        <a:rPr lang="en-US" baseline="0" dirty="0" smtClean="0"/>
                        <a:t> both connection oriented and connectionless communication.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Its support only connectionless communication.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Transport layer provides</a:t>
                      </a:r>
                      <a:r>
                        <a:rPr lang="en-US" baseline="0" dirty="0" smtClean="0"/>
                        <a:t> connection oriented communication.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Transport layer provides</a:t>
                      </a:r>
                      <a:r>
                        <a:rPr lang="en-US" baseline="0" dirty="0" smtClean="0"/>
                        <a:t> connection oriented communication and connectionless.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Transport layer</a:t>
                      </a:r>
                      <a:r>
                        <a:rPr lang="en-US" baseline="0" dirty="0" smtClean="0"/>
                        <a:t> guarantees delivery of packets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Transport layer</a:t>
                      </a:r>
                      <a:r>
                        <a:rPr lang="en-US" baseline="0" dirty="0" smtClean="0"/>
                        <a:t> does not guarantees delivery of packets</a:t>
                      </a:r>
                      <a:endParaRPr lang="en-US" dirty="0" smtClean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052293" y="2492058"/>
            <a:ext cx="2009104" cy="1661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Application</a:t>
            </a:r>
          </a:p>
          <a:p>
            <a:pPr algn="ctr"/>
            <a:r>
              <a:rPr lang="en-US" sz="1600" dirty="0" smtClean="0"/>
              <a:t>Presentation</a:t>
            </a:r>
          </a:p>
          <a:p>
            <a:pPr algn="ctr"/>
            <a:r>
              <a:rPr lang="en-US" sz="1600" dirty="0" smtClean="0"/>
              <a:t>Session</a:t>
            </a:r>
          </a:p>
          <a:p>
            <a:pPr algn="ctr"/>
            <a:r>
              <a:rPr lang="en-US" sz="1600" dirty="0" smtClean="0"/>
              <a:t>Transport</a:t>
            </a:r>
          </a:p>
          <a:p>
            <a:pPr algn="ctr"/>
            <a:r>
              <a:rPr lang="en-US" sz="1600" dirty="0" smtClean="0"/>
              <a:t>Network</a:t>
            </a:r>
          </a:p>
          <a:p>
            <a:pPr algn="ctr"/>
            <a:r>
              <a:rPr lang="en-US" sz="1600" dirty="0" smtClean="0"/>
              <a:t>Data link</a:t>
            </a:r>
          </a:p>
          <a:p>
            <a:pPr algn="ctr"/>
            <a:r>
              <a:rPr lang="en-US" sz="1600" dirty="0"/>
              <a:t>P</a:t>
            </a:r>
            <a:r>
              <a:rPr lang="en-US" sz="1600" dirty="0" smtClean="0"/>
              <a:t>hysical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7274418" y="2492057"/>
            <a:ext cx="2009104" cy="1661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Application</a:t>
            </a:r>
          </a:p>
          <a:p>
            <a:pPr algn="ctr"/>
            <a:r>
              <a:rPr lang="en-US" sz="1600" dirty="0" smtClean="0"/>
              <a:t>Transport</a:t>
            </a:r>
          </a:p>
          <a:p>
            <a:pPr algn="ctr"/>
            <a:r>
              <a:rPr lang="en-US" sz="1600" dirty="0" smtClean="0"/>
              <a:t>Internet</a:t>
            </a:r>
          </a:p>
          <a:p>
            <a:pPr algn="ctr"/>
            <a:r>
              <a:rPr lang="en-US" sz="1600" dirty="0" smtClean="0"/>
              <a:t>Network Interface</a:t>
            </a:r>
          </a:p>
        </p:txBody>
      </p:sp>
    </p:spTree>
    <p:extLst>
      <p:ext uri="{BB962C8B-B14F-4D97-AF65-F5344CB8AC3E}">
        <p14:creationId xmlns:p14="http://schemas.microsoft.com/office/powerpoint/2010/main" val="190962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50673" y="217386"/>
            <a:ext cx="57679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END 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OF CHAPTER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353216" y="2967335"/>
            <a:ext cx="34855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503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0</TotalTime>
  <Words>1104</Words>
  <Application>Microsoft Office PowerPoint</Application>
  <PresentationFormat>Widescreen</PresentationFormat>
  <Paragraphs>162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Arial Narrow</vt:lpstr>
      <vt:lpstr>Euphemia</vt:lpstr>
      <vt:lpstr>Plantagenet Cherokee</vt:lpstr>
      <vt:lpstr>Wingdings</vt:lpstr>
      <vt:lpstr>Academic Literature 16x9</vt:lpstr>
      <vt:lpstr>PROTOCOLS AND TCP/IP PROTOCOL SUITE</vt:lpstr>
      <vt:lpstr>Protocols and the TCP/IP Protocol Suite</vt:lpstr>
      <vt:lpstr>Content </vt:lpstr>
      <vt:lpstr>History Of TCP/IP Suite</vt:lpstr>
      <vt:lpstr>What is IP, Protocol?</vt:lpstr>
      <vt:lpstr>PowerPoint Presentation</vt:lpstr>
      <vt:lpstr>TCP/IP Suite layer</vt:lpstr>
      <vt:lpstr>TCP/IP Suite layer</vt:lpstr>
      <vt:lpstr>Network Interface Layer</vt:lpstr>
      <vt:lpstr>PowerPoint Presentation</vt:lpstr>
      <vt:lpstr>PowerPoint Presentation</vt:lpstr>
      <vt:lpstr>Point to Point Protocol ( PPP )</vt:lpstr>
      <vt:lpstr>PowerPoint Presentation</vt:lpstr>
      <vt:lpstr>Comparison between The SLIP And PPP</vt:lpstr>
      <vt:lpstr>Internet Layer</vt:lpstr>
      <vt:lpstr>RARP ( Reverse Address Resolution Protocol )</vt:lpstr>
      <vt:lpstr>Internet Protocol ( IP )</vt:lpstr>
      <vt:lpstr>Difference Between IPv4 And IPv6</vt:lpstr>
      <vt:lpstr>Transport Layer ( TCP and UDP )</vt:lpstr>
      <vt:lpstr>Comparison between TCP And UDP </vt:lpstr>
      <vt:lpstr>Application Layer</vt:lpstr>
      <vt:lpstr>Types Of Protocol In application Layer</vt:lpstr>
      <vt:lpstr>TCP/IP Reference Model</vt:lpstr>
      <vt:lpstr>Comparison Of OSI and TCP/IP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2016-01-23T16:53:42Z</dcterms:created>
  <dcterms:modified xsi:type="dcterms:W3CDTF">2026-05-11T01:59:37Z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TC034313809991</vt:lpwstr>
  </property>
</Properties>
</file>