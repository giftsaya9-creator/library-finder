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8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7" r:id="rId21"/>
    <p:sldId id="278" r:id="rId22"/>
    <p:sldId id="279" r:id="rId23"/>
    <p:sldId id="273" r:id="rId24"/>
    <p:sldId id="274" r:id="rId25"/>
    <p:sldId id="275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06" autoAdjust="0"/>
    <p:restoredTop sz="94660"/>
  </p:normalViewPr>
  <p:slideViewPr>
    <p:cSldViewPr snapToGrid="0">
      <p:cViewPr>
        <p:scale>
          <a:sx n="81" d="100"/>
          <a:sy n="81" d="100"/>
        </p:scale>
        <p:origin x="-312" y="-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20DEB-1FAE-41A1-9019-4B1451ADFF5D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4A14D-A163-439A-826B-8C4A74BF0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34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20DEB-1FAE-41A1-9019-4B1451ADFF5D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4A14D-A163-439A-826B-8C4A74BF0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628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20DEB-1FAE-41A1-9019-4B1451ADFF5D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4A14D-A163-439A-826B-8C4A74BF0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036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20DEB-1FAE-41A1-9019-4B1451ADFF5D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4A14D-A163-439A-826B-8C4A74BF0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835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20DEB-1FAE-41A1-9019-4B1451ADFF5D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4A14D-A163-439A-826B-8C4A74BF0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758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20DEB-1FAE-41A1-9019-4B1451ADFF5D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4A14D-A163-439A-826B-8C4A74BF0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605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20DEB-1FAE-41A1-9019-4B1451ADFF5D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4A14D-A163-439A-826B-8C4A74BF0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595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20DEB-1FAE-41A1-9019-4B1451ADFF5D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4A14D-A163-439A-826B-8C4A74BF0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145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20DEB-1FAE-41A1-9019-4B1451ADFF5D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4A14D-A163-439A-826B-8C4A74BF0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965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20DEB-1FAE-41A1-9019-4B1451ADFF5D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4A14D-A163-439A-826B-8C4A74BF0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29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20DEB-1FAE-41A1-9019-4B1451ADFF5D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4A14D-A163-439A-826B-8C4A74BF0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439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20DEB-1FAE-41A1-9019-4B1451ADFF5D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4A14D-A163-439A-826B-8C4A74BF0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796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1572" y="92053"/>
            <a:ext cx="9144000" cy="951136"/>
          </a:xfrm>
        </p:spPr>
        <p:txBody>
          <a:bodyPr/>
          <a:lstStyle/>
          <a:p>
            <a:pPr algn="l"/>
            <a:r>
              <a:rPr lang="en-IN" dirty="0"/>
              <a:t>O</a:t>
            </a:r>
            <a:r>
              <a:rPr lang="en-IN" dirty="0" smtClean="0"/>
              <a:t>utline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1572" y="1893193"/>
            <a:ext cx="9144000" cy="5814811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smtClean="0"/>
              <a:t>Introduction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smtClean="0"/>
              <a:t>Firewall design principles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smtClean="0"/>
              <a:t>Firewall characteristics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smtClean="0"/>
              <a:t>What firewalls do?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smtClean="0"/>
              <a:t>What firewalls cannot do?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smtClean="0"/>
              <a:t>Types of firewalls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smtClean="0"/>
              <a:t>references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4284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Firewall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13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1070"/>
            <a:ext cx="10515600" cy="4695893"/>
          </a:xfrm>
        </p:spPr>
        <p:txBody>
          <a:bodyPr>
            <a:normAutofit fontScale="92500" lnSpcReduction="10000"/>
          </a:bodyPr>
          <a:lstStyle/>
          <a:p>
            <a:pPr marL="342900" indent="-342900"/>
            <a:r>
              <a:rPr lang="en-IN" dirty="0"/>
              <a:t>A firewall : Acts as a security gateway between two networks-Usually between trusted and untrusted networks (such as between a corporate network and the Internet)</a:t>
            </a:r>
          </a:p>
          <a:p>
            <a:pPr marL="342900" indent="-342900"/>
            <a:r>
              <a:rPr lang="en-IN" dirty="0"/>
              <a:t>Tracks and controls network communications Decides whether to pass, reject, encrypt, or log communications (Access Control)</a:t>
            </a:r>
          </a:p>
          <a:p>
            <a:pPr marL="342900" indent="-342900"/>
            <a:r>
              <a:rPr lang="en-IN" dirty="0"/>
              <a:t>Is hardware, software, or a combination of both.</a:t>
            </a:r>
          </a:p>
          <a:p>
            <a:pPr marL="342900" indent="-342900"/>
            <a:r>
              <a:rPr lang="en-IN" dirty="0"/>
              <a:t>used to prevent unauthorized programs or Internet users from accessing a private network and/or a single computer.</a:t>
            </a:r>
          </a:p>
          <a:p>
            <a:pPr marL="342900" indent="-342900"/>
            <a:r>
              <a:rPr lang="en-IN" dirty="0"/>
              <a:t>A firewall sits at the junction point or gateway between</a:t>
            </a:r>
            <a:br>
              <a:rPr lang="en-IN" dirty="0"/>
            </a:br>
            <a:r>
              <a:rPr lang="en-IN" dirty="0"/>
              <a:t>the two networks, usually a private network and a public network such as the Internet. </a:t>
            </a:r>
            <a:br>
              <a:rPr lang="en-IN" dirty="0"/>
            </a:br>
            <a:endParaRPr lang="en-IN" dirty="0"/>
          </a:p>
          <a:p>
            <a:pPr marL="342900" indent="-342900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2982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350255"/>
            <a:ext cx="11758814" cy="6411153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grpSp>
        <p:nvGrpSpPr>
          <p:cNvPr id="4" name="Group 3"/>
          <p:cNvGrpSpPr/>
          <p:nvPr/>
        </p:nvGrpSpPr>
        <p:grpSpPr>
          <a:xfrm>
            <a:off x="2105025" y="1177009"/>
            <a:ext cx="7981950" cy="5218201"/>
            <a:chOff x="457200" y="725399"/>
            <a:chExt cx="7981950" cy="5218201"/>
          </a:xfrm>
        </p:grpSpPr>
        <p:sp>
          <p:nvSpPr>
            <p:cNvPr id="5" name="Cloud"/>
            <p:cNvSpPr>
              <a:spLocks noChangeAspect="1" noEditPoints="1" noChangeArrowheads="1"/>
            </p:cNvSpPr>
            <p:nvPr/>
          </p:nvSpPr>
          <p:spPr bwMode="auto">
            <a:xfrm>
              <a:off x="457200" y="2743200"/>
              <a:ext cx="2514600" cy="1838325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lIns="72000" rIns="72000"/>
            <a:lstStyle/>
            <a:p>
              <a:pPr algn="l" eaLnBrk="1" hangingPunct="1"/>
              <a:endParaRPr kumimoji="1" lang="en-US" altLang="zh-TW" sz="1800">
                <a:solidFill>
                  <a:srgbClr val="B2B2B2"/>
                </a:solidFill>
                <a:latin typeface="Arial" pitchFamily="34" charset="0"/>
                <a:ea typeface="新細明體" pitchFamily="18" charset="-120"/>
              </a:endParaRPr>
            </a:p>
            <a:p>
              <a:pPr algn="l" eaLnBrk="1" hangingPunct="1"/>
              <a:r>
                <a:rPr kumimoji="1" lang="en-US" altLang="zh-TW">
                  <a:solidFill>
                    <a:schemeClr val="hlink"/>
                  </a:solidFill>
                  <a:latin typeface="Arial" pitchFamily="34" charset="0"/>
                  <a:ea typeface="新細明體" pitchFamily="18" charset="-120"/>
                </a:rPr>
                <a:t>INTERNET</a:t>
              </a:r>
            </a:p>
          </p:txBody>
        </p:sp>
        <p:sp>
          <p:nvSpPr>
            <p:cNvPr id="6" name="computr2"/>
            <p:cNvSpPr>
              <a:spLocks noEditPoints="1" noChangeArrowheads="1"/>
            </p:cNvSpPr>
            <p:nvPr/>
          </p:nvSpPr>
          <p:spPr bwMode="auto">
            <a:xfrm>
              <a:off x="6629400" y="2914650"/>
              <a:ext cx="1809750" cy="1809750"/>
            </a:xfrm>
            <a:custGeom>
              <a:avLst/>
              <a:gdLst>
                <a:gd name="T0" fmla="*/ 10800 w 21600"/>
                <a:gd name="T1" fmla="*/ 0 h 21600"/>
                <a:gd name="T2" fmla="*/ 10800 w 21600"/>
                <a:gd name="T3" fmla="*/ 21600 h 21600"/>
                <a:gd name="T4" fmla="*/ 17326 w 21600"/>
                <a:gd name="T5" fmla="*/ 0 h 21600"/>
                <a:gd name="T6" fmla="*/ 4274 w 21600"/>
                <a:gd name="T7" fmla="*/ 0 h 21600"/>
                <a:gd name="T8" fmla="*/ 4274 w 21600"/>
                <a:gd name="T9" fmla="*/ 11631 h 21600"/>
                <a:gd name="T10" fmla="*/ 17326 w 21600"/>
                <a:gd name="T11" fmla="*/ 11631 h 21600"/>
                <a:gd name="T12" fmla="*/ 4274 w 21600"/>
                <a:gd name="T13" fmla="*/ 5816 h 21600"/>
                <a:gd name="T14" fmla="*/ 17326 w 21600"/>
                <a:gd name="T15" fmla="*/ 5816 h 21600"/>
                <a:gd name="T16" fmla="*/ 18828 w 21600"/>
                <a:gd name="T17" fmla="*/ 15785 h 21600"/>
                <a:gd name="T18" fmla="*/ 2772 w 21600"/>
                <a:gd name="T19" fmla="*/ 15785 h 21600"/>
                <a:gd name="T20" fmla="*/ 6194 w 21600"/>
                <a:gd name="T21" fmla="*/ 1913 h 21600"/>
                <a:gd name="T22" fmla="*/ 15565 w 21600"/>
                <a:gd name="T23" fmla="*/ 974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4495800" y="2133600"/>
              <a:ext cx="609600" cy="3048000"/>
            </a:xfrm>
            <a:prstGeom prst="cube">
              <a:avLst>
                <a:gd name="adj" fmla="val 76565"/>
              </a:avLst>
            </a:prstGeom>
            <a:solidFill>
              <a:srgbClr val="B2B2B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4038600" y="5257800"/>
              <a:ext cx="123666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 eaLnBrk="1" hangingPunct="1"/>
              <a:r>
                <a:rPr kumimoji="1" lang="en-US" altLang="zh-TW">
                  <a:solidFill>
                    <a:schemeClr val="hlink"/>
                  </a:solidFill>
                  <a:latin typeface="Arial" pitchFamily="34" charset="0"/>
                  <a:ea typeface="新細明體" pitchFamily="18" charset="-120"/>
                </a:rPr>
                <a:t>Firewall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6858000" y="4756150"/>
              <a:ext cx="1303338" cy="1187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TW">
                  <a:solidFill>
                    <a:schemeClr val="hlink"/>
                  </a:solidFill>
                  <a:latin typeface="Arial" pitchFamily="34" charset="0"/>
                  <a:ea typeface="新細明體" pitchFamily="18" charset="-120"/>
                </a:rPr>
                <a:t>Secure</a:t>
              </a:r>
            </a:p>
            <a:p>
              <a:pPr eaLnBrk="1" hangingPunct="1"/>
              <a:r>
                <a:rPr kumimoji="1" lang="en-US" altLang="zh-TW">
                  <a:solidFill>
                    <a:schemeClr val="hlink"/>
                  </a:solidFill>
                  <a:latin typeface="Arial" pitchFamily="34" charset="0"/>
                  <a:ea typeface="新細明體" pitchFamily="18" charset="-120"/>
                </a:rPr>
                <a:t>Private</a:t>
              </a:r>
            </a:p>
            <a:p>
              <a:pPr eaLnBrk="1" hangingPunct="1"/>
              <a:r>
                <a:rPr kumimoji="1" lang="en-US" altLang="zh-TW">
                  <a:solidFill>
                    <a:schemeClr val="hlink"/>
                  </a:solidFill>
                  <a:latin typeface="Arial" pitchFamily="34" charset="0"/>
                  <a:ea typeface="新細明體" pitchFamily="18" charset="-120"/>
                </a:rPr>
                <a:t>Network</a:t>
              </a: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2514600" y="3124200"/>
              <a:ext cx="1981200" cy="0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2514600" y="3429000"/>
              <a:ext cx="19050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4876800" y="3733800"/>
              <a:ext cx="19050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2514600" y="4038600"/>
              <a:ext cx="1981200" cy="0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4876800" y="3124200"/>
              <a:ext cx="1905000" cy="0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4876800" y="4038600"/>
              <a:ext cx="1905000" cy="0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grpSp>
          <p:nvGrpSpPr>
            <p:cNvPr id="16" name="Group 15"/>
            <p:cNvGrpSpPr>
              <a:grpSpLocks/>
            </p:cNvGrpSpPr>
            <p:nvPr/>
          </p:nvGrpSpPr>
          <p:grpSpPr bwMode="auto">
            <a:xfrm>
              <a:off x="4371975" y="3290888"/>
              <a:ext cx="547688" cy="573087"/>
              <a:chOff x="4149" y="612"/>
              <a:chExt cx="489" cy="453"/>
            </a:xfrm>
          </p:grpSpPr>
          <p:sp>
            <p:nvSpPr>
              <p:cNvPr id="21" name="Freeform 16"/>
              <p:cNvSpPr>
                <a:spLocks/>
              </p:cNvSpPr>
              <p:nvPr/>
            </p:nvSpPr>
            <p:spPr bwMode="auto">
              <a:xfrm>
                <a:off x="4149" y="612"/>
                <a:ext cx="489" cy="453"/>
              </a:xfrm>
              <a:custGeom>
                <a:avLst/>
                <a:gdLst/>
                <a:ahLst/>
                <a:cxnLst>
                  <a:cxn ang="0">
                    <a:pos x="216" y="0"/>
                  </a:cxn>
                  <a:cxn ang="0">
                    <a:pos x="738" y="0"/>
                  </a:cxn>
                  <a:cxn ang="0">
                    <a:pos x="979" y="186"/>
                  </a:cxn>
                  <a:cxn ang="0">
                    <a:pos x="979" y="659"/>
                  </a:cxn>
                  <a:cxn ang="0">
                    <a:pos x="740" y="906"/>
                  </a:cxn>
                  <a:cxn ang="0">
                    <a:pos x="221" y="906"/>
                  </a:cxn>
                  <a:cxn ang="0">
                    <a:pos x="0" y="665"/>
                  </a:cxn>
                  <a:cxn ang="0">
                    <a:pos x="0" y="181"/>
                  </a:cxn>
                  <a:cxn ang="0">
                    <a:pos x="216" y="0"/>
                  </a:cxn>
                </a:cxnLst>
                <a:rect l="0" t="0" r="r" b="b"/>
                <a:pathLst>
                  <a:path w="979" h="906">
                    <a:moveTo>
                      <a:pt x="216" y="0"/>
                    </a:moveTo>
                    <a:lnTo>
                      <a:pt x="738" y="0"/>
                    </a:lnTo>
                    <a:lnTo>
                      <a:pt x="979" y="186"/>
                    </a:lnTo>
                    <a:lnTo>
                      <a:pt x="979" y="659"/>
                    </a:lnTo>
                    <a:lnTo>
                      <a:pt x="740" y="906"/>
                    </a:lnTo>
                    <a:lnTo>
                      <a:pt x="221" y="906"/>
                    </a:lnTo>
                    <a:lnTo>
                      <a:pt x="0" y="665"/>
                    </a:lnTo>
                    <a:lnTo>
                      <a:pt x="0" y="181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17"/>
              <p:cNvSpPr>
                <a:spLocks/>
              </p:cNvSpPr>
              <p:nvPr/>
            </p:nvSpPr>
            <p:spPr bwMode="auto">
              <a:xfrm>
                <a:off x="4162" y="625"/>
                <a:ext cx="463" cy="428"/>
              </a:xfrm>
              <a:custGeom>
                <a:avLst/>
                <a:gdLst/>
                <a:ahLst/>
                <a:cxnLst>
                  <a:cxn ang="0">
                    <a:pos x="204" y="0"/>
                  </a:cxn>
                  <a:cxn ang="0">
                    <a:pos x="697" y="0"/>
                  </a:cxn>
                  <a:cxn ang="0">
                    <a:pos x="925" y="174"/>
                  </a:cxn>
                  <a:cxn ang="0">
                    <a:pos x="925" y="620"/>
                  </a:cxn>
                  <a:cxn ang="0">
                    <a:pos x="700" y="854"/>
                  </a:cxn>
                  <a:cxn ang="0">
                    <a:pos x="209" y="854"/>
                  </a:cxn>
                  <a:cxn ang="0">
                    <a:pos x="0" y="625"/>
                  </a:cxn>
                  <a:cxn ang="0">
                    <a:pos x="0" y="170"/>
                  </a:cxn>
                  <a:cxn ang="0">
                    <a:pos x="204" y="0"/>
                  </a:cxn>
                </a:cxnLst>
                <a:rect l="0" t="0" r="r" b="b"/>
                <a:pathLst>
                  <a:path w="925" h="854">
                    <a:moveTo>
                      <a:pt x="204" y="0"/>
                    </a:moveTo>
                    <a:lnTo>
                      <a:pt x="697" y="0"/>
                    </a:lnTo>
                    <a:lnTo>
                      <a:pt x="925" y="174"/>
                    </a:lnTo>
                    <a:lnTo>
                      <a:pt x="925" y="620"/>
                    </a:lnTo>
                    <a:lnTo>
                      <a:pt x="700" y="854"/>
                    </a:lnTo>
                    <a:lnTo>
                      <a:pt x="209" y="854"/>
                    </a:lnTo>
                    <a:lnTo>
                      <a:pt x="0" y="625"/>
                    </a:lnTo>
                    <a:lnTo>
                      <a:pt x="0" y="170"/>
                    </a:lnTo>
                    <a:lnTo>
                      <a:pt x="2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18"/>
              <p:cNvSpPr>
                <a:spLocks/>
              </p:cNvSpPr>
              <p:nvPr/>
            </p:nvSpPr>
            <p:spPr bwMode="auto">
              <a:xfrm>
                <a:off x="4174" y="637"/>
                <a:ext cx="439" cy="403"/>
              </a:xfrm>
              <a:custGeom>
                <a:avLst/>
                <a:gdLst/>
                <a:ahLst/>
                <a:cxnLst>
                  <a:cxn ang="0">
                    <a:pos x="194" y="0"/>
                  </a:cxn>
                  <a:cxn ang="0">
                    <a:pos x="662" y="0"/>
                  </a:cxn>
                  <a:cxn ang="0">
                    <a:pos x="878" y="164"/>
                  </a:cxn>
                  <a:cxn ang="0">
                    <a:pos x="878" y="586"/>
                  </a:cxn>
                  <a:cxn ang="0">
                    <a:pos x="664" y="806"/>
                  </a:cxn>
                  <a:cxn ang="0">
                    <a:pos x="198" y="806"/>
                  </a:cxn>
                  <a:cxn ang="0">
                    <a:pos x="0" y="590"/>
                  </a:cxn>
                  <a:cxn ang="0">
                    <a:pos x="0" y="161"/>
                  </a:cxn>
                  <a:cxn ang="0">
                    <a:pos x="194" y="0"/>
                  </a:cxn>
                </a:cxnLst>
                <a:rect l="0" t="0" r="r" b="b"/>
                <a:pathLst>
                  <a:path w="878" h="806">
                    <a:moveTo>
                      <a:pt x="194" y="0"/>
                    </a:moveTo>
                    <a:lnTo>
                      <a:pt x="662" y="0"/>
                    </a:lnTo>
                    <a:lnTo>
                      <a:pt x="878" y="164"/>
                    </a:lnTo>
                    <a:lnTo>
                      <a:pt x="878" y="586"/>
                    </a:lnTo>
                    <a:lnTo>
                      <a:pt x="664" y="806"/>
                    </a:lnTo>
                    <a:lnTo>
                      <a:pt x="198" y="806"/>
                    </a:lnTo>
                    <a:lnTo>
                      <a:pt x="0" y="590"/>
                    </a:lnTo>
                    <a:lnTo>
                      <a:pt x="0" y="161"/>
                    </a:lnTo>
                    <a:lnTo>
                      <a:pt x="194" y="0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19"/>
              <p:cNvSpPr>
                <a:spLocks/>
              </p:cNvSpPr>
              <p:nvPr/>
            </p:nvSpPr>
            <p:spPr bwMode="auto">
              <a:xfrm>
                <a:off x="4209" y="725"/>
                <a:ext cx="85" cy="199"/>
              </a:xfrm>
              <a:custGeom>
                <a:avLst/>
                <a:gdLst/>
                <a:ahLst/>
                <a:cxnLst>
                  <a:cxn ang="0">
                    <a:pos x="98" y="109"/>
                  </a:cxn>
                  <a:cxn ang="0">
                    <a:pos x="92" y="86"/>
                  </a:cxn>
                  <a:cxn ang="0">
                    <a:pos x="78" y="85"/>
                  </a:cxn>
                  <a:cxn ang="0">
                    <a:pos x="72" y="98"/>
                  </a:cxn>
                  <a:cxn ang="0">
                    <a:pos x="71" y="114"/>
                  </a:cxn>
                  <a:cxn ang="0">
                    <a:pos x="72" y="124"/>
                  </a:cxn>
                  <a:cxn ang="0">
                    <a:pos x="79" y="134"/>
                  </a:cxn>
                  <a:cxn ang="0">
                    <a:pos x="89" y="142"/>
                  </a:cxn>
                  <a:cxn ang="0">
                    <a:pos x="101" y="147"/>
                  </a:cxn>
                  <a:cxn ang="0">
                    <a:pos x="115" y="154"/>
                  </a:cxn>
                  <a:cxn ang="0">
                    <a:pos x="129" y="162"/>
                  </a:cxn>
                  <a:cxn ang="0">
                    <a:pos x="141" y="172"/>
                  </a:cxn>
                  <a:cxn ang="0">
                    <a:pos x="153" y="185"/>
                  </a:cxn>
                  <a:cxn ang="0">
                    <a:pos x="162" y="203"/>
                  </a:cxn>
                  <a:cxn ang="0">
                    <a:pos x="167" y="227"/>
                  </a:cxn>
                  <a:cxn ang="0">
                    <a:pos x="170" y="253"/>
                  </a:cxn>
                  <a:cxn ang="0">
                    <a:pos x="170" y="268"/>
                  </a:cxn>
                  <a:cxn ang="0">
                    <a:pos x="165" y="319"/>
                  </a:cxn>
                  <a:cxn ang="0">
                    <a:pos x="152" y="359"/>
                  </a:cxn>
                  <a:cxn ang="0">
                    <a:pos x="126" y="387"/>
                  </a:cxn>
                  <a:cxn ang="0">
                    <a:pos x="85" y="396"/>
                  </a:cxn>
                  <a:cxn ang="0">
                    <a:pos x="63" y="394"/>
                  </a:cxn>
                  <a:cxn ang="0">
                    <a:pos x="42" y="388"/>
                  </a:cxn>
                  <a:cxn ang="0">
                    <a:pos x="22" y="375"/>
                  </a:cxn>
                  <a:cxn ang="0">
                    <a:pos x="3" y="356"/>
                  </a:cxn>
                  <a:cxn ang="0">
                    <a:pos x="71" y="253"/>
                  </a:cxn>
                  <a:cxn ang="0">
                    <a:pos x="71" y="283"/>
                  </a:cxn>
                  <a:cxn ang="0">
                    <a:pos x="73" y="302"/>
                  </a:cxn>
                  <a:cxn ang="0">
                    <a:pos x="78" y="310"/>
                  </a:cxn>
                  <a:cxn ang="0">
                    <a:pos x="86" y="313"/>
                  </a:cxn>
                  <a:cxn ang="0">
                    <a:pos x="96" y="304"/>
                  </a:cxn>
                  <a:cxn ang="0">
                    <a:pos x="100" y="284"/>
                  </a:cxn>
                  <a:cxn ang="0">
                    <a:pos x="91" y="248"/>
                  </a:cxn>
                  <a:cxn ang="0">
                    <a:pos x="66" y="234"/>
                  </a:cxn>
                  <a:cxn ang="0">
                    <a:pos x="38" y="220"/>
                  </a:cxn>
                  <a:cxn ang="0">
                    <a:pos x="17" y="199"/>
                  </a:cxn>
                  <a:cxn ang="0">
                    <a:pos x="4" y="168"/>
                  </a:cxn>
                  <a:cxn ang="0">
                    <a:pos x="0" y="117"/>
                  </a:cxn>
                  <a:cxn ang="0">
                    <a:pos x="1" y="82"/>
                  </a:cxn>
                  <a:cxn ang="0">
                    <a:pos x="12" y="41"/>
                  </a:cxn>
                  <a:cxn ang="0">
                    <a:pos x="28" y="17"/>
                  </a:cxn>
                  <a:cxn ang="0">
                    <a:pos x="42" y="8"/>
                  </a:cxn>
                  <a:cxn ang="0">
                    <a:pos x="57" y="2"/>
                  </a:cxn>
                  <a:cxn ang="0">
                    <a:pos x="72" y="0"/>
                  </a:cxn>
                  <a:cxn ang="0">
                    <a:pos x="92" y="0"/>
                  </a:cxn>
                  <a:cxn ang="0">
                    <a:pos x="114" y="5"/>
                  </a:cxn>
                  <a:cxn ang="0">
                    <a:pos x="134" y="14"/>
                  </a:cxn>
                  <a:cxn ang="0">
                    <a:pos x="154" y="30"/>
                  </a:cxn>
                  <a:cxn ang="0">
                    <a:pos x="163" y="130"/>
                  </a:cxn>
                  <a:cxn ang="0">
                    <a:pos x="98" y="123"/>
                  </a:cxn>
                </a:cxnLst>
                <a:rect l="0" t="0" r="r" b="b"/>
                <a:pathLst>
                  <a:path w="170" h="396">
                    <a:moveTo>
                      <a:pt x="98" y="123"/>
                    </a:moveTo>
                    <a:lnTo>
                      <a:pt x="98" y="109"/>
                    </a:lnTo>
                    <a:lnTo>
                      <a:pt x="96" y="97"/>
                    </a:lnTo>
                    <a:lnTo>
                      <a:pt x="92" y="86"/>
                    </a:lnTo>
                    <a:lnTo>
                      <a:pt x="84" y="83"/>
                    </a:lnTo>
                    <a:lnTo>
                      <a:pt x="78" y="85"/>
                    </a:lnTo>
                    <a:lnTo>
                      <a:pt x="74" y="90"/>
                    </a:lnTo>
                    <a:lnTo>
                      <a:pt x="72" y="98"/>
                    </a:lnTo>
                    <a:lnTo>
                      <a:pt x="71" y="108"/>
                    </a:lnTo>
                    <a:lnTo>
                      <a:pt x="71" y="114"/>
                    </a:lnTo>
                    <a:lnTo>
                      <a:pt x="71" y="119"/>
                    </a:lnTo>
                    <a:lnTo>
                      <a:pt x="72" y="124"/>
                    </a:lnTo>
                    <a:lnTo>
                      <a:pt x="74" y="129"/>
                    </a:lnTo>
                    <a:lnTo>
                      <a:pt x="79" y="134"/>
                    </a:lnTo>
                    <a:lnTo>
                      <a:pt x="84" y="138"/>
                    </a:lnTo>
                    <a:lnTo>
                      <a:pt x="89" y="142"/>
                    </a:lnTo>
                    <a:lnTo>
                      <a:pt x="94" y="144"/>
                    </a:lnTo>
                    <a:lnTo>
                      <a:pt x="101" y="147"/>
                    </a:lnTo>
                    <a:lnTo>
                      <a:pt x="108" y="151"/>
                    </a:lnTo>
                    <a:lnTo>
                      <a:pt x="115" y="154"/>
                    </a:lnTo>
                    <a:lnTo>
                      <a:pt x="122" y="158"/>
                    </a:lnTo>
                    <a:lnTo>
                      <a:pt x="129" y="162"/>
                    </a:lnTo>
                    <a:lnTo>
                      <a:pt x="136" y="167"/>
                    </a:lnTo>
                    <a:lnTo>
                      <a:pt x="141" y="172"/>
                    </a:lnTo>
                    <a:lnTo>
                      <a:pt x="147" y="177"/>
                    </a:lnTo>
                    <a:lnTo>
                      <a:pt x="153" y="185"/>
                    </a:lnTo>
                    <a:lnTo>
                      <a:pt x="159" y="193"/>
                    </a:lnTo>
                    <a:lnTo>
                      <a:pt x="162" y="203"/>
                    </a:lnTo>
                    <a:lnTo>
                      <a:pt x="164" y="214"/>
                    </a:lnTo>
                    <a:lnTo>
                      <a:pt x="167" y="227"/>
                    </a:lnTo>
                    <a:lnTo>
                      <a:pt x="169" y="240"/>
                    </a:lnTo>
                    <a:lnTo>
                      <a:pt x="170" y="253"/>
                    </a:lnTo>
                    <a:lnTo>
                      <a:pt x="170" y="267"/>
                    </a:lnTo>
                    <a:lnTo>
                      <a:pt x="170" y="268"/>
                    </a:lnTo>
                    <a:lnTo>
                      <a:pt x="169" y="295"/>
                    </a:lnTo>
                    <a:lnTo>
                      <a:pt x="165" y="319"/>
                    </a:lnTo>
                    <a:lnTo>
                      <a:pt x="161" y="341"/>
                    </a:lnTo>
                    <a:lnTo>
                      <a:pt x="152" y="359"/>
                    </a:lnTo>
                    <a:lnTo>
                      <a:pt x="140" y="375"/>
                    </a:lnTo>
                    <a:lnTo>
                      <a:pt x="126" y="387"/>
                    </a:lnTo>
                    <a:lnTo>
                      <a:pt x="108" y="394"/>
                    </a:lnTo>
                    <a:lnTo>
                      <a:pt x="85" y="396"/>
                    </a:lnTo>
                    <a:lnTo>
                      <a:pt x="74" y="396"/>
                    </a:lnTo>
                    <a:lnTo>
                      <a:pt x="63" y="394"/>
                    </a:lnTo>
                    <a:lnTo>
                      <a:pt x="53" y="392"/>
                    </a:lnTo>
                    <a:lnTo>
                      <a:pt x="42" y="388"/>
                    </a:lnTo>
                    <a:lnTo>
                      <a:pt x="32" y="382"/>
                    </a:lnTo>
                    <a:lnTo>
                      <a:pt x="22" y="375"/>
                    </a:lnTo>
                    <a:lnTo>
                      <a:pt x="12" y="366"/>
                    </a:lnTo>
                    <a:lnTo>
                      <a:pt x="3" y="356"/>
                    </a:lnTo>
                    <a:lnTo>
                      <a:pt x="3" y="253"/>
                    </a:lnTo>
                    <a:lnTo>
                      <a:pt x="71" y="253"/>
                    </a:lnTo>
                    <a:lnTo>
                      <a:pt x="71" y="269"/>
                    </a:lnTo>
                    <a:lnTo>
                      <a:pt x="71" y="283"/>
                    </a:lnTo>
                    <a:lnTo>
                      <a:pt x="72" y="294"/>
                    </a:lnTo>
                    <a:lnTo>
                      <a:pt x="73" y="302"/>
                    </a:lnTo>
                    <a:lnTo>
                      <a:pt x="76" y="306"/>
                    </a:lnTo>
                    <a:lnTo>
                      <a:pt x="78" y="310"/>
                    </a:lnTo>
                    <a:lnTo>
                      <a:pt x="81" y="312"/>
                    </a:lnTo>
                    <a:lnTo>
                      <a:pt x="86" y="313"/>
                    </a:lnTo>
                    <a:lnTo>
                      <a:pt x="92" y="311"/>
                    </a:lnTo>
                    <a:lnTo>
                      <a:pt x="96" y="304"/>
                    </a:lnTo>
                    <a:lnTo>
                      <a:pt x="99" y="295"/>
                    </a:lnTo>
                    <a:lnTo>
                      <a:pt x="100" y="284"/>
                    </a:lnTo>
                    <a:lnTo>
                      <a:pt x="98" y="261"/>
                    </a:lnTo>
                    <a:lnTo>
                      <a:pt x="91" y="248"/>
                    </a:lnTo>
                    <a:lnTo>
                      <a:pt x="79" y="240"/>
                    </a:lnTo>
                    <a:lnTo>
                      <a:pt x="66" y="234"/>
                    </a:lnTo>
                    <a:lnTo>
                      <a:pt x="51" y="227"/>
                    </a:lnTo>
                    <a:lnTo>
                      <a:pt x="38" y="220"/>
                    </a:lnTo>
                    <a:lnTo>
                      <a:pt x="26" y="211"/>
                    </a:lnTo>
                    <a:lnTo>
                      <a:pt x="17" y="199"/>
                    </a:lnTo>
                    <a:lnTo>
                      <a:pt x="10" y="185"/>
                    </a:lnTo>
                    <a:lnTo>
                      <a:pt x="4" y="168"/>
                    </a:lnTo>
                    <a:lnTo>
                      <a:pt x="1" y="145"/>
                    </a:lnTo>
                    <a:lnTo>
                      <a:pt x="0" y="117"/>
                    </a:lnTo>
                    <a:lnTo>
                      <a:pt x="0" y="108"/>
                    </a:lnTo>
                    <a:lnTo>
                      <a:pt x="1" y="82"/>
                    </a:lnTo>
                    <a:lnTo>
                      <a:pt x="5" y="60"/>
                    </a:lnTo>
                    <a:lnTo>
                      <a:pt x="12" y="41"/>
                    </a:lnTo>
                    <a:lnTo>
                      <a:pt x="23" y="24"/>
                    </a:lnTo>
                    <a:lnTo>
                      <a:pt x="28" y="17"/>
                    </a:lnTo>
                    <a:lnTo>
                      <a:pt x="35" y="13"/>
                    </a:lnTo>
                    <a:lnTo>
                      <a:pt x="42" y="8"/>
                    </a:lnTo>
                    <a:lnTo>
                      <a:pt x="49" y="5"/>
                    </a:lnTo>
                    <a:lnTo>
                      <a:pt x="57" y="2"/>
                    </a:lnTo>
                    <a:lnTo>
                      <a:pt x="64" y="1"/>
                    </a:lnTo>
                    <a:lnTo>
                      <a:pt x="72" y="0"/>
                    </a:lnTo>
                    <a:lnTo>
                      <a:pt x="80" y="0"/>
                    </a:lnTo>
                    <a:lnTo>
                      <a:pt x="92" y="0"/>
                    </a:lnTo>
                    <a:lnTo>
                      <a:pt x="103" y="2"/>
                    </a:lnTo>
                    <a:lnTo>
                      <a:pt x="114" y="5"/>
                    </a:lnTo>
                    <a:lnTo>
                      <a:pt x="124" y="9"/>
                    </a:lnTo>
                    <a:lnTo>
                      <a:pt x="134" y="14"/>
                    </a:lnTo>
                    <a:lnTo>
                      <a:pt x="144" y="22"/>
                    </a:lnTo>
                    <a:lnTo>
                      <a:pt x="154" y="30"/>
                    </a:lnTo>
                    <a:lnTo>
                      <a:pt x="163" y="40"/>
                    </a:lnTo>
                    <a:lnTo>
                      <a:pt x="163" y="130"/>
                    </a:lnTo>
                    <a:lnTo>
                      <a:pt x="98" y="130"/>
                    </a:lnTo>
                    <a:lnTo>
                      <a:pt x="98" y="12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20"/>
              <p:cNvSpPr>
                <a:spLocks/>
              </p:cNvSpPr>
              <p:nvPr/>
            </p:nvSpPr>
            <p:spPr bwMode="auto">
              <a:xfrm>
                <a:off x="4300" y="730"/>
                <a:ext cx="97" cy="1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3" y="0"/>
                  </a:cxn>
                  <a:cxn ang="0">
                    <a:pos x="193" y="172"/>
                  </a:cxn>
                  <a:cxn ang="0">
                    <a:pos x="144" y="172"/>
                  </a:cxn>
                  <a:cxn ang="0">
                    <a:pos x="144" y="108"/>
                  </a:cxn>
                  <a:cxn ang="0">
                    <a:pos x="144" y="96"/>
                  </a:cxn>
                  <a:cxn ang="0">
                    <a:pos x="141" y="88"/>
                  </a:cxn>
                  <a:cxn ang="0">
                    <a:pos x="138" y="82"/>
                  </a:cxn>
                  <a:cxn ang="0">
                    <a:pos x="131" y="81"/>
                  </a:cxn>
                  <a:cxn ang="0">
                    <a:pos x="131" y="275"/>
                  </a:cxn>
                  <a:cxn ang="0">
                    <a:pos x="131" y="287"/>
                  </a:cxn>
                  <a:cxn ang="0">
                    <a:pos x="132" y="296"/>
                  </a:cxn>
                  <a:cxn ang="0">
                    <a:pos x="134" y="305"/>
                  </a:cxn>
                  <a:cxn ang="0">
                    <a:pos x="139" y="313"/>
                  </a:cxn>
                  <a:cxn ang="0">
                    <a:pos x="139" y="380"/>
                  </a:cxn>
                  <a:cxn ang="0">
                    <a:pos x="54" y="380"/>
                  </a:cxn>
                  <a:cxn ang="0">
                    <a:pos x="54" y="313"/>
                  </a:cxn>
                  <a:cxn ang="0">
                    <a:pos x="58" y="305"/>
                  </a:cxn>
                  <a:cxn ang="0">
                    <a:pos x="61" y="296"/>
                  </a:cxn>
                  <a:cxn ang="0">
                    <a:pos x="62" y="287"/>
                  </a:cxn>
                  <a:cxn ang="0">
                    <a:pos x="62" y="275"/>
                  </a:cxn>
                  <a:cxn ang="0">
                    <a:pos x="62" y="81"/>
                  </a:cxn>
                  <a:cxn ang="0">
                    <a:pos x="55" y="82"/>
                  </a:cxn>
                  <a:cxn ang="0">
                    <a:pos x="51" y="88"/>
                  </a:cxn>
                  <a:cxn ang="0">
                    <a:pos x="49" y="96"/>
                  </a:cxn>
                  <a:cxn ang="0">
                    <a:pos x="49" y="108"/>
                  </a:cxn>
                  <a:cxn ang="0">
                    <a:pos x="49" y="172"/>
                  </a:cxn>
                  <a:cxn ang="0">
                    <a:pos x="0" y="172"/>
                  </a:cxn>
                  <a:cxn ang="0">
                    <a:pos x="0" y="0"/>
                  </a:cxn>
                </a:cxnLst>
                <a:rect l="0" t="0" r="r" b="b"/>
                <a:pathLst>
                  <a:path w="193" h="380">
                    <a:moveTo>
                      <a:pt x="0" y="0"/>
                    </a:moveTo>
                    <a:lnTo>
                      <a:pt x="193" y="0"/>
                    </a:lnTo>
                    <a:lnTo>
                      <a:pt x="193" y="172"/>
                    </a:lnTo>
                    <a:lnTo>
                      <a:pt x="144" y="172"/>
                    </a:lnTo>
                    <a:lnTo>
                      <a:pt x="144" y="108"/>
                    </a:lnTo>
                    <a:lnTo>
                      <a:pt x="144" y="96"/>
                    </a:lnTo>
                    <a:lnTo>
                      <a:pt x="141" y="88"/>
                    </a:lnTo>
                    <a:lnTo>
                      <a:pt x="138" y="82"/>
                    </a:lnTo>
                    <a:lnTo>
                      <a:pt x="131" y="81"/>
                    </a:lnTo>
                    <a:lnTo>
                      <a:pt x="131" y="275"/>
                    </a:lnTo>
                    <a:lnTo>
                      <a:pt x="131" y="287"/>
                    </a:lnTo>
                    <a:lnTo>
                      <a:pt x="132" y="296"/>
                    </a:lnTo>
                    <a:lnTo>
                      <a:pt x="134" y="305"/>
                    </a:lnTo>
                    <a:lnTo>
                      <a:pt x="139" y="313"/>
                    </a:lnTo>
                    <a:lnTo>
                      <a:pt x="139" y="380"/>
                    </a:lnTo>
                    <a:lnTo>
                      <a:pt x="54" y="380"/>
                    </a:lnTo>
                    <a:lnTo>
                      <a:pt x="54" y="313"/>
                    </a:lnTo>
                    <a:lnTo>
                      <a:pt x="58" y="305"/>
                    </a:lnTo>
                    <a:lnTo>
                      <a:pt x="61" y="296"/>
                    </a:lnTo>
                    <a:lnTo>
                      <a:pt x="62" y="287"/>
                    </a:lnTo>
                    <a:lnTo>
                      <a:pt x="62" y="275"/>
                    </a:lnTo>
                    <a:lnTo>
                      <a:pt x="62" y="81"/>
                    </a:lnTo>
                    <a:lnTo>
                      <a:pt x="55" y="82"/>
                    </a:lnTo>
                    <a:lnTo>
                      <a:pt x="51" y="88"/>
                    </a:lnTo>
                    <a:lnTo>
                      <a:pt x="49" y="96"/>
                    </a:lnTo>
                    <a:lnTo>
                      <a:pt x="49" y="108"/>
                    </a:lnTo>
                    <a:lnTo>
                      <a:pt x="49" y="172"/>
                    </a:lnTo>
                    <a:lnTo>
                      <a:pt x="0" y="1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21"/>
              <p:cNvSpPr>
                <a:spLocks/>
              </p:cNvSpPr>
              <p:nvPr/>
            </p:nvSpPr>
            <p:spPr bwMode="auto">
              <a:xfrm>
                <a:off x="4403" y="725"/>
                <a:ext cx="83" cy="199"/>
              </a:xfrm>
              <a:custGeom>
                <a:avLst/>
                <a:gdLst/>
                <a:ahLst/>
                <a:cxnLst>
                  <a:cxn ang="0">
                    <a:pos x="167" y="279"/>
                  </a:cxn>
                  <a:cxn ang="0">
                    <a:pos x="166" y="311"/>
                  </a:cxn>
                  <a:cxn ang="0">
                    <a:pos x="161" y="336"/>
                  </a:cxn>
                  <a:cxn ang="0">
                    <a:pos x="153" y="357"/>
                  </a:cxn>
                  <a:cxn ang="0">
                    <a:pos x="144" y="372"/>
                  </a:cxn>
                  <a:cxn ang="0">
                    <a:pos x="131" y="383"/>
                  </a:cxn>
                  <a:cxn ang="0">
                    <a:pos x="117" y="390"/>
                  </a:cxn>
                  <a:cxn ang="0">
                    <a:pos x="100" y="395"/>
                  </a:cxn>
                  <a:cxn ang="0">
                    <a:pos x="83" y="396"/>
                  </a:cxn>
                  <a:cxn ang="0">
                    <a:pos x="65" y="395"/>
                  </a:cxn>
                  <a:cxn ang="0">
                    <a:pos x="49" y="390"/>
                  </a:cxn>
                  <a:cxn ang="0">
                    <a:pos x="36" y="383"/>
                  </a:cxn>
                  <a:cxn ang="0">
                    <a:pos x="23" y="372"/>
                  </a:cxn>
                  <a:cxn ang="0">
                    <a:pos x="14" y="357"/>
                  </a:cxn>
                  <a:cxn ang="0">
                    <a:pos x="6" y="336"/>
                  </a:cxn>
                  <a:cxn ang="0">
                    <a:pos x="1" y="311"/>
                  </a:cxn>
                  <a:cxn ang="0">
                    <a:pos x="0" y="279"/>
                  </a:cxn>
                  <a:cxn ang="0">
                    <a:pos x="0" y="117"/>
                  </a:cxn>
                  <a:cxn ang="0">
                    <a:pos x="1" y="85"/>
                  </a:cxn>
                  <a:cxn ang="0">
                    <a:pos x="6" y="60"/>
                  </a:cxn>
                  <a:cxn ang="0">
                    <a:pos x="14" y="39"/>
                  </a:cxn>
                  <a:cxn ang="0">
                    <a:pos x="23" y="24"/>
                  </a:cxn>
                  <a:cxn ang="0">
                    <a:pos x="36" y="13"/>
                  </a:cxn>
                  <a:cxn ang="0">
                    <a:pos x="49" y="6"/>
                  </a:cxn>
                  <a:cxn ang="0">
                    <a:pos x="65" y="1"/>
                  </a:cxn>
                  <a:cxn ang="0">
                    <a:pos x="83" y="0"/>
                  </a:cxn>
                  <a:cxn ang="0">
                    <a:pos x="100" y="1"/>
                  </a:cxn>
                  <a:cxn ang="0">
                    <a:pos x="117" y="6"/>
                  </a:cxn>
                  <a:cxn ang="0">
                    <a:pos x="131" y="13"/>
                  </a:cxn>
                  <a:cxn ang="0">
                    <a:pos x="144" y="24"/>
                  </a:cxn>
                  <a:cxn ang="0">
                    <a:pos x="153" y="39"/>
                  </a:cxn>
                  <a:cxn ang="0">
                    <a:pos x="161" y="60"/>
                  </a:cxn>
                  <a:cxn ang="0">
                    <a:pos x="166" y="85"/>
                  </a:cxn>
                  <a:cxn ang="0">
                    <a:pos x="167" y="117"/>
                  </a:cxn>
                  <a:cxn ang="0">
                    <a:pos x="167" y="279"/>
                  </a:cxn>
                </a:cxnLst>
                <a:rect l="0" t="0" r="r" b="b"/>
                <a:pathLst>
                  <a:path w="167" h="396">
                    <a:moveTo>
                      <a:pt x="167" y="279"/>
                    </a:moveTo>
                    <a:lnTo>
                      <a:pt x="166" y="311"/>
                    </a:lnTo>
                    <a:lnTo>
                      <a:pt x="161" y="336"/>
                    </a:lnTo>
                    <a:lnTo>
                      <a:pt x="153" y="357"/>
                    </a:lnTo>
                    <a:lnTo>
                      <a:pt x="144" y="372"/>
                    </a:lnTo>
                    <a:lnTo>
                      <a:pt x="131" y="383"/>
                    </a:lnTo>
                    <a:lnTo>
                      <a:pt x="117" y="390"/>
                    </a:lnTo>
                    <a:lnTo>
                      <a:pt x="100" y="395"/>
                    </a:lnTo>
                    <a:lnTo>
                      <a:pt x="83" y="396"/>
                    </a:lnTo>
                    <a:lnTo>
                      <a:pt x="65" y="395"/>
                    </a:lnTo>
                    <a:lnTo>
                      <a:pt x="49" y="390"/>
                    </a:lnTo>
                    <a:lnTo>
                      <a:pt x="36" y="383"/>
                    </a:lnTo>
                    <a:lnTo>
                      <a:pt x="23" y="372"/>
                    </a:lnTo>
                    <a:lnTo>
                      <a:pt x="14" y="357"/>
                    </a:lnTo>
                    <a:lnTo>
                      <a:pt x="6" y="336"/>
                    </a:lnTo>
                    <a:lnTo>
                      <a:pt x="1" y="311"/>
                    </a:lnTo>
                    <a:lnTo>
                      <a:pt x="0" y="279"/>
                    </a:lnTo>
                    <a:lnTo>
                      <a:pt x="0" y="117"/>
                    </a:lnTo>
                    <a:lnTo>
                      <a:pt x="1" y="85"/>
                    </a:lnTo>
                    <a:lnTo>
                      <a:pt x="6" y="60"/>
                    </a:lnTo>
                    <a:lnTo>
                      <a:pt x="14" y="39"/>
                    </a:lnTo>
                    <a:lnTo>
                      <a:pt x="23" y="24"/>
                    </a:lnTo>
                    <a:lnTo>
                      <a:pt x="36" y="13"/>
                    </a:lnTo>
                    <a:lnTo>
                      <a:pt x="49" y="6"/>
                    </a:lnTo>
                    <a:lnTo>
                      <a:pt x="65" y="1"/>
                    </a:lnTo>
                    <a:lnTo>
                      <a:pt x="83" y="0"/>
                    </a:lnTo>
                    <a:lnTo>
                      <a:pt x="100" y="1"/>
                    </a:lnTo>
                    <a:lnTo>
                      <a:pt x="117" y="6"/>
                    </a:lnTo>
                    <a:lnTo>
                      <a:pt x="131" y="13"/>
                    </a:lnTo>
                    <a:lnTo>
                      <a:pt x="144" y="24"/>
                    </a:lnTo>
                    <a:lnTo>
                      <a:pt x="153" y="39"/>
                    </a:lnTo>
                    <a:lnTo>
                      <a:pt x="161" y="60"/>
                    </a:lnTo>
                    <a:lnTo>
                      <a:pt x="166" y="85"/>
                    </a:lnTo>
                    <a:lnTo>
                      <a:pt x="167" y="117"/>
                    </a:lnTo>
                    <a:lnTo>
                      <a:pt x="167" y="27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22"/>
              <p:cNvSpPr>
                <a:spLocks/>
              </p:cNvSpPr>
              <p:nvPr/>
            </p:nvSpPr>
            <p:spPr bwMode="auto">
              <a:xfrm>
                <a:off x="4438" y="767"/>
                <a:ext cx="13" cy="115"/>
              </a:xfrm>
              <a:custGeom>
                <a:avLst/>
                <a:gdLst/>
                <a:ahLst/>
                <a:cxnLst>
                  <a:cxn ang="0">
                    <a:pos x="0" y="201"/>
                  </a:cxn>
                  <a:cxn ang="0">
                    <a:pos x="0" y="207"/>
                  </a:cxn>
                  <a:cxn ang="0">
                    <a:pos x="1" y="216"/>
                  </a:cxn>
                  <a:cxn ang="0">
                    <a:pos x="5" y="226"/>
                  </a:cxn>
                  <a:cxn ang="0">
                    <a:pos x="13" y="230"/>
                  </a:cxn>
                  <a:cxn ang="0">
                    <a:pos x="21" y="226"/>
                  </a:cxn>
                  <a:cxn ang="0">
                    <a:pos x="25" y="216"/>
                  </a:cxn>
                  <a:cxn ang="0">
                    <a:pos x="27" y="207"/>
                  </a:cxn>
                  <a:cxn ang="0">
                    <a:pos x="27" y="201"/>
                  </a:cxn>
                  <a:cxn ang="0">
                    <a:pos x="27" y="29"/>
                  </a:cxn>
                  <a:cxn ang="0">
                    <a:pos x="27" y="23"/>
                  </a:cxn>
                  <a:cxn ang="0">
                    <a:pos x="25" y="14"/>
                  </a:cxn>
                  <a:cxn ang="0">
                    <a:pos x="21" y="5"/>
                  </a:cxn>
                  <a:cxn ang="0">
                    <a:pos x="13" y="0"/>
                  </a:cxn>
                  <a:cxn ang="0">
                    <a:pos x="5" y="5"/>
                  </a:cxn>
                  <a:cxn ang="0">
                    <a:pos x="1" y="14"/>
                  </a:cxn>
                  <a:cxn ang="0">
                    <a:pos x="0" y="23"/>
                  </a:cxn>
                  <a:cxn ang="0">
                    <a:pos x="0" y="29"/>
                  </a:cxn>
                  <a:cxn ang="0">
                    <a:pos x="0" y="201"/>
                  </a:cxn>
                </a:cxnLst>
                <a:rect l="0" t="0" r="r" b="b"/>
                <a:pathLst>
                  <a:path w="27" h="230">
                    <a:moveTo>
                      <a:pt x="0" y="201"/>
                    </a:moveTo>
                    <a:lnTo>
                      <a:pt x="0" y="207"/>
                    </a:lnTo>
                    <a:lnTo>
                      <a:pt x="1" y="216"/>
                    </a:lnTo>
                    <a:lnTo>
                      <a:pt x="5" y="226"/>
                    </a:lnTo>
                    <a:lnTo>
                      <a:pt x="13" y="230"/>
                    </a:lnTo>
                    <a:lnTo>
                      <a:pt x="21" y="226"/>
                    </a:lnTo>
                    <a:lnTo>
                      <a:pt x="25" y="216"/>
                    </a:lnTo>
                    <a:lnTo>
                      <a:pt x="27" y="207"/>
                    </a:lnTo>
                    <a:lnTo>
                      <a:pt x="27" y="201"/>
                    </a:lnTo>
                    <a:lnTo>
                      <a:pt x="27" y="29"/>
                    </a:lnTo>
                    <a:lnTo>
                      <a:pt x="27" y="23"/>
                    </a:lnTo>
                    <a:lnTo>
                      <a:pt x="25" y="14"/>
                    </a:lnTo>
                    <a:lnTo>
                      <a:pt x="21" y="5"/>
                    </a:lnTo>
                    <a:lnTo>
                      <a:pt x="13" y="0"/>
                    </a:lnTo>
                    <a:lnTo>
                      <a:pt x="5" y="5"/>
                    </a:lnTo>
                    <a:lnTo>
                      <a:pt x="1" y="14"/>
                    </a:lnTo>
                    <a:lnTo>
                      <a:pt x="0" y="23"/>
                    </a:lnTo>
                    <a:lnTo>
                      <a:pt x="0" y="29"/>
                    </a:lnTo>
                    <a:lnTo>
                      <a:pt x="0" y="201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23"/>
              <p:cNvSpPr>
                <a:spLocks/>
              </p:cNvSpPr>
              <p:nvPr/>
            </p:nvSpPr>
            <p:spPr bwMode="auto">
              <a:xfrm>
                <a:off x="4497" y="730"/>
                <a:ext cx="87" cy="190"/>
              </a:xfrm>
              <a:custGeom>
                <a:avLst/>
                <a:gdLst/>
                <a:ahLst/>
                <a:cxnLst>
                  <a:cxn ang="0">
                    <a:pos x="8" y="105"/>
                  </a:cxn>
                  <a:cxn ang="0">
                    <a:pos x="8" y="93"/>
                  </a:cxn>
                  <a:cxn ang="0">
                    <a:pos x="8" y="84"/>
                  </a:cxn>
                  <a:cxn ang="0">
                    <a:pos x="4" y="75"/>
                  </a:cxn>
                  <a:cxn ang="0">
                    <a:pos x="0" y="67"/>
                  </a:cxn>
                  <a:cxn ang="0">
                    <a:pos x="0" y="0"/>
                  </a:cxn>
                  <a:cxn ang="0">
                    <a:pos x="91" y="0"/>
                  </a:cxn>
                  <a:cxn ang="0">
                    <a:pos x="99" y="0"/>
                  </a:cxn>
                  <a:cxn ang="0">
                    <a:pos x="106" y="0"/>
                  </a:cxn>
                  <a:cxn ang="0">
                    <a:pos x="115" y="1"/>
                  </a:cxn>
                  <a:cxn ang="0">
                    <a:pos x="123" y="2"/>
                  </a:cxn>
                  <a:cxn ang="0">
                    <a:pos x="131" y="5"/>
                  </a:cxn>
                  <a:cxn ang="0">
                    <a:pos x="138" y="8"/>
                  </a:cxn>
                  <a:cxn ang="0">
                    <a:pos x="145" y="13"/>
                  </a:cxn>
                  <a:cxn ang="0">
                    <a:pos x="152" y="20"/>
                  </a:cxn>
                  <a:cxn ang="0">
                    <a:pos x="165" y="48"/>
                  </a:cxn>
                  <a:cxn ang="0">
                    <a:pos x="172" y="81"/>
                  </a:cxn>
                  <a:cxn ang="0">
                    <a:pos x="174" y="108"/>
                  </a:cxn>
                  <a:cxn ang="0">
                    <a:pos x="174" y="123"/>
                  </a:cxn>
                  <a:cxn ang="0">
                    <a:pos x="174" y="154"/>
                  </a:cxn>
                  <a:cxn ang="0">
                    <a:pos x="172" y="180"/>
                  </a:cxn>
                  <a:cxn ang="0">
                    <a:pos x="170" y="203"/>
                  </a:cxn>
                  <a:cxn ang="0">
                    <a:pos x="165" y="222"/>
                  </a:cxn>
                  <a:cxn ang="0">
                    <a:pos x="159" y="240"/>
                  </a:cxn>
                  <a:cxn ang="0">
                    <a:pos x="149" y="252"/>
                  </a:cxn>
                  <a:cxn ang="0">
                    <a:pos x="137" y="263"/>
                  </a:cxn>
                  <a:cxn ang="0">
                    <a:pos x="122" y="268"/>
                  </a:cxn>
                  <a:cxn ang="0">
                    <a:pos x="102" y="271"/>
                  </a:cxn>
                  <a:cxn ang="0">
                    <a:pos x="77" y="271"/>
                  </a:cxn>
                  <a:cxn ang="0">
                    <a:pos x="77" y="284"/>
                  </a:cxn>
                  <a:cxn ang="0">
                    <a:pos x="78" y="296"/>
                  </a:cxn>
                  <a:cxn ang="0">
                    <a:pos x="80" y="305"/>
                  </a:cxn>
                  <a:cxn ang="0">
                    <a:pos x="85" y="313"/>
                  </a:cxn>
                  <a:cxn ang="0">
                    <a:pos x="85" y="380"/>
                  </a:cxn>
                  <a:cxn ang="0">
                    <a:pos x="0" y="380"/>
                  </a:cxn>
                  <a:cxn ang="0">
                    <a:pos x="0" y="313"/>
                  </a:cxn>
                  <a:cxn ang="0">
                    <a:pos x="4" y="305"/>
                  </a:cxn>
                  <a:cxn ang="0">
                    <a:pos x="8" y="296"/>
                  </a:cxn>
                  <a:cxn ang="0">
                    <a:pos x="8" y="287"/>
                  </a:cxn>
                  <a:cxn ang="0">
                    <a:pos x="8" y="275"/>
                  </a:cxn>
                  <a:cxn ang="0">
                    <a:pos x="8" y="105"/>
                  </a:cxn>
                </a:cxnLst>
                <a:rect l="0" t="0" r="r" b="b"/>
                <a:pathLst>
                  <a:path w="174" h="380">
                    <a:moveTo>
                      <a:pt x="8" y="105"/>
                    </a:moveTo>
                    <a:lnTo>
                      <a:pt x="8" y="93"/>
                    </a:lnTo>
                    <a:lnTo>
                      <a:pt x="8" y="84"/>
                    </a:lnTo>
                    <a:lnTo>
                      <a:pt x="4" y="75"/>
                    </a:lnTo>
                    <a:lnTo>
                      <a:pt x="0" y="67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9" y="0"/>
                    </a:lnTo>
                    <a:lnTo>
                      <a:pt x="106" y="0"/>
                    </a:lnTo>
                    <a:lnTo>
                      <a:pt x="115" y="1"/>
                    </a:lnTo>
                    <a:lnTo>
                      <a:pt x="123" y="2"/>
                    </a:lnTo>
                    <a:lnTo>
                      <a:pt x="131" y="5"/>
                    </a:lnTo>
                    <a:lnTo>
                      <a:pt x="138" y="8"/>
                    </a:lnTo>
                    <a:lnTo>
                      <a:pt x="145" y="13"/>
                    </a:lnTo>
                    <a:lnTo>
                      <a:pt x="152" y="20"/>
                    </a:lnTo>
                    <a:lnTo>
                      <a:pt x="165" y="48"/>
                    </a:lnTo>
                    <a:lnTo>
                      <a:pt x="172" y="81"/>
                    </a:lnTo>
                    <a:lnTo>
                      <a:pt x="174" y="108"/>
                    </a:lnTo>
                    <a:lnTo>
                      <a:pt x="174" y="123"/>
                    </a:lnTo>
                    <a:lnTo>
                      <a:pt x="174" y="154"/>
                    </a:lnTo>
                    <a:lnTo>
                      <a:pt x="172" y="180"/>
                    </a:lnTo>
                    <a:lnTo>
                      <a:pt x="170" y="203"/>
                    </a:lnTo>
                    <a:lnTo>
                      <a:pt x="165" y="222"/>
                    </a:lnTo>
                    <a:lnTo>
                      <a:pt x="159" y="240"/>
                    </a:lnTo>
                    <a:lnTo>
                      <a:pt x="149" y="252"/>
                    </a:lnTo>
                    <a:lnTo>
                      <a:pt x="137" y="263"/>
                    </a:lnTo>
                    <a:lnTo>
                      <a:pt x="122" y="268"/>
                    </a:lnTo>
                    <a:lnTo>
                      <a:pt x="102" y="271"/>
                    </a:lnTo>
                    <a:lnTo>
                      <a:pt x="77" y="271"/>
                    </a:lnTo>
                    <a:lnTo>
                      <a:pt x="77" y="284"/>
                    </a:lnTo>
                    <a:lnTo>
                      <a:pt x="78" y="296"/>
                    </a:lnTo>
                    <a:lnTo>
                      <a:pt x="80" y="305"/>
                    </a:lnTo>
                    <a:lnTo>
                      <a:pt x="85" y="313"/>
                    </a:lnTo>
                    <a:lnTo>
                      <a:pt x="85" y="380"/>
                    </a:lnTo>
                    <a:lnTo>
                      <a:pt x="0" y="380"/>
                    </a:lnTo>
                    <a:lnTo>
                      <a:pt x="0" y="313"/>
                    </a:lnTo>
                    <a:lnTo>
                      <a:pt x="4" y="305"/>
                    </a:lnTo>
                    <a:lnTo>
                      <a:pt x="8" y="296"/>
                    </a:lnTo>
                    <a:lnTo>
                      <a:pt x="8" y="287"/>
                    </a:lnTo>
                    <a:lnTo>
                      <a:pt x="8" y="275"/>
                    </a:lnTo>
                    <a:lnTo>
                      <a:pt x="8" y="10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24"/>
              <p:cNvSpPr>
                <a:spLocks/>
              </p:cNvSpPr>
              <p:nvPr/>
            </p:nvSpPr>
            <p:spPr bwMode="auto">
              <a:xfrm>
                <a:off x="4535" y="769"/>
                <a:ext cx="14" cy="56"/>
              </a:xfrm>
              <a:custGeom>
                <a:avLst/>
                <a:gdLst/>
                <a:ahLst/>
                <a:cxnLst>
                  <a:cxn ang="0">
                    <a:pos x="0" y="111"/>
                  </a:cxn>
                  <a:cxn ang="0">
                    <a:pos x="7" y="111"/>
                  </a:cxn>
                  <a:cxn ang="0">
                    <a:pos x="18" y="108"/>
                  </a:cxn>
                  <a:cxn ang="0">
                    <a:pos x="24" y="96"/>
                  </a:cxn>
                  <a:cxn ang="0">
                    <a:pos x="26" y="79"/>
                  </a:cxn>
                  <a:cxn ang="0">
                    <a:pos x="26" y="55"/>
                  </a:cxn>
                  <a:cxn ang="0">
                    <a:pos x="26" y="31"/>
                  </a:cxn>
                  <a:cxn ang="0">
                    <a:pos x="24" y="13"/>
                  </a:cxn>
                  <a:cxn ang="0">
                    <a:pos x="18" y="3"/>
                  </a:cxn>
                  <a:cxn ang="0">
                    <a:pos x="7" y="0"/>
                  </a:cxn>
                  <a:cxn ang="0">
                    <a:pos x="0" y="0"/>
                  </a:cxn>
                  <a:cxn ang="0">
                    <a:pos x="0" y="111"/>
                  </a:cxn>
                </a:cxnLst>
                <a:rect l="0" t="0" r="r" b="b"/>
                <a:pathLst>
                  <a:path w="26" h="111">
                    <a:moveTo>
                      <a:pt x="0" y="111"/>
                    </a:moveTo>
                    <a:lnTo>
                      <a:pt x="7" y="111"/>
                    </a:lnTo>
                    <a:lnTo>
                      <a:pt x="18" y="108"/>
                    </a:lnTo>
                    <a:lnTo>
                      <a:pt x="24" y="96"/>
                    </a:lnTo>
                    <a:lnTo>
                      <a:pt x="26" y="79"/>
                    </a:lnTo>
                    <a:lnTo>
                      <a:pt x="26" y="55"/>
                    </a:lnTo>
                    <a:lnTo>
                      <a:pt x="26" y="31"/>
                    </a:lnTo>
                    <a:lnTo>
                      <a:pt x="24" y="13"/>
                    </a:lnTo>
                    <a:lnTo>
                      <a:pt x="18" y="3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111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7" name="Rectangle 25"/>
            <p:cNvSpPr>
              <a:spLocks noChangeArrowheads="1"/>
            </p:cNvSpPr>
            <p:nvPr/>
          </p:nvSpPr>
          <p:spPr bwMode="auto">
            <a:xfrm>
              <a:off x="7162800" y="3048000"/>
              <a:ext cx="762000" cy="685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" name="Text Box 27"/>
            <p:cNvSpPr txBox="1">
              <a:spLocks noChangeArrowheads="1"/>
            </p:cNvSpPr>
            <p:nvPr/>
          </p:nvSpPr>
          <p:spPr bwMode="auto">
            <a:xfrm>
              <a:off x="7239000" y="32004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b="1">
                  <a:latin typeface="Arial" pitchFamily="34" charset="0"/>
                </a:rPr>
                <a:t>My PC</a:t>
              </a:r>
            </a:p>
          </p:txBody>
        </p:sp>
        <p:sp>
          <p:nvSpPr>
            <p:cNvPr id="19" name="Text Box 32"/>
            <p:cNvSpPr txBox="1">
              <a:spLocks noChangeArrowheads="1"/>
            </p:cNvSpPr>
            <p:nvPr/>
          </p:nvSpPr>
          <p:spPr bwMode="auto">
            <a:xfrm>
              <a:off x="3867150" y="725399"/>
              <a:ext cx="27432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rgbClr val="FF0000"/>
                  </a:solidFill>
                  <a:latin typeface="Arial" pitchFamily="34" charset="0"/>
                </a:rPr>
                <a:t>Rules Determine</a:t>
              </a:r>
            </a:p>
          </p:txBody>
        </p:sp>
        <p:sp>
          <p:nvSpPr>
            <p:cNvPr id="20" name="AutoShape 33"/>
            <p:cNvSpPr>
              <a:spLocks noChangeArrowheads="1"/>
            </p:cNvSpPr>
            <p:nvPr/>
          </p:nvSpPr>
          <p:spPr bwMode="auto">
            <a:xfrm>
              <a:off x="4656459" y="1388973"/>
              <a:ext cx="304800" cy="457200"/>
            </a:xfrm>
            <a:prstGeom prst="downArrow">
              <a:avLst>
                <a:gd name="adj1" fmla="val 50000"/>
                <a:gd name="adj2" fmla="val 37500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2023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Hardware vs. Software Firewalls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Hardware Firewalls</a:t>
            </a:r>
          </a:p>
          <a:p>
            <a:pPr lvl="1"/>
            <a:r>
              <a:rPr lang="en-US" dirty="0" smtClean="0"/>
              <a:t>Protect an entire network</a:t>
            </a:r>
          </a:p>
          <a:p>
            <a:pPr lvl="1"/>
            <a:r>
              <a:rPr lang="en-US" dirty="0" smtClean="0"/>
              <a:t>Implemented on the router level</a:t>
            </a:r>
          </a:p>
          <a:p>
            <a:pPr lvl="1"/>
            <a:r>
              <a:rPr lang="en-US" dirty="0" smtClean="0"/>
              <a:t>Usually more expensive, harder to configure</a:t>
            </a:r>
          </a:p>
          <a:p>
            <a:endParaRPr lang="en-US" dirty="0" smtClean="0"/>
          </a:p>
          <a:p>
            <a:r>
              <a:rPr lang="en-US" dirty="0" smtClean="0"/>
              <a:t>Software Firewalls</a:t>
            </a:r>
          </a:p>
          <a:p>
            <a:pPr lvl="1"/>
            <a:r>
              <a:rPr lang="en-US" dirty="0" smtClean="0"/>
              <a:t>Protect a single computer</a:t>
            </a:r>
          </a:p>
          <a:p>
            <a:pPr lvl="1"/>
            <a:r>
              <a:rPr lang="en-US" dirty="0" smtClean="0"/>
              <a:t>Usually less expensive, easier to configure</a:t>
            </a: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212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rPr>
              <a:t>Firewall Design</a:t>
            </a:r>
            <a:br>
              <a:rPr lang="sv-SE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rPr>
            </a:br>
            <a:r>
              <a:rPr lang="sv-SE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rPr>
              <a:t>Principles</a:t>
            </a:r>
            <a:r>
              <a:rPr lang="en-US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rPr>
              <a:t/>
            </a:r>
            <a:br>
              <a:rPr lang="en-US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latin typeface="Comic Sans MS" panose="030F0702030302020204" pitchFamily="66" charset="0"/>
              </a:rPr>
              <a:t>The firewall is inserted between the premises network and the Internet</a:t>
            </a:r>
          </a:p>
          <a:p>
            <a:r>
              <a:rPr lang="en-US" altLang="en-US" dirty="0" smtClean="0">
                <a:latin typeface="Comic Sans MS" panose="030F0702030302020204" pitchFamily="66" charset="0"/>
              </a:rPr>
              <a:t>Aims:</a:t>
            </a:r>
          </a:p>
          <a:p>
            <a:pPr lvl="1"/>
            <a:r>
              <a:rPr lang="en-US" altLang="en-US" dirty="0" smtClean="0">
                <a:latin typeface="Comic Sans MS" panose="030F0702030302020204" pitchFamily="66" charset="0"/>
              </a:rPr>
              <a:t>Establish a controlled link</a:t>
            </a:r>
          </a:p>
          <a:p>
            <a:pPr lvl="1"/>
            <a:r>
              <a:rPr lang="en-US" altLang="en-US" dirty="0" smtClean="0">
                <a:latin typeface="Comic Sans MS" panose="030F0702030302020204" pitchFamily="66" charset="0"/>
              </a:rPr>
              <a:t>Protect the premises network from Internet-based attacks</a:t>
            </a:r>
          </a:p>
          <a:p>
            <a:pPr lvl="1"/>
            <a:r>
              <a:rPr lang="en-US" altLang="en-US" dirty="0" smtClean="0">
                <a:latin typeface="Comic Sans MS" panose="030F0702030302020204" pitchFamily="66" charset="0"/>
              </a:rPr>
              <a:t>Provide a single choke point</a:t>
            </a:r>
          </a:p>
          <a:p>
            <a:endParaRPr lang="en-US" altLang="en-US" dirty="0" smtClean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67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rPr>
              <a:t>Firewall Characteristics</a:t>
            </a:r>
            <a:r>
              <a:rPr lang="en-US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rPr>
              <a:t/>
            </a:r>
            <a:br>
              <a:rPr lang="en-US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latin typeface="Comic Sans MS" panose="030F0702030302020204" pitchFamily="66" charset="0"/>
              </a:rPr>
              <a:t>Design goals:</a:t>
            </a:r>
          </a:p>
          <a:p>
            <a:pPr lvl="1"/>
            <a:r>
              <a:rPr lang="en-US" altLang="en-US" dirty="0" smtClean="0">
                <a:latin typeface="Comic Sans MS" panose="030F0702030302020204" pitchFamily="66" charset="0"/>
              </a:rPr>
              <a:t>All traffic from inside to outside must pass through the firewall </a:t>
            </a:r>
            <a:r>
              <a:rPr lang="en-US" altLang="en-US" dirty="0">
                <a:latin typeface="Comic Sans MS" panose="030F0702030302020204" pitchFamily="66" charset="0"/>
              </a:rPr>
              <a:t>.</a:t>
            </a:r>
            <a:endParaRPr lang="en-US" altLang="en-US" dirty="0" smtClean="0">
              <a:latin typeface="Comic Sans MS" panose="030F0702030302020204" pitchFamily="66" charset="0"/>
            </a:endParaRPr>
          </a:p>
          <a:p>
            <a:pPr lvl="1"/>
            <a:r>
              <a:rPr lang="en-US" altLang="en-US" dirty="0" smtClean="0">
                <a:latin typeface="Comic Sans MS" panose="030F0702030302020204" pitchFamily="66" charset="0"/>
              </a:rPr>
              <a:t>Only authorized traffic (defined by the local security police) will be allowed to pass</a:t>
            </a:r>
          </a:p>
          <a:p>
            <a:pPr lvl="1"/>
            <a:r>
              <a:rPr lang="en-US" altLang="en-US" dirty="0" smtClean="0">
                <a:latin typeface="Comic Sans MS" panose="030F0702030302020204" pitchFamily="66" charset="0"/>
              </a:rPr>
              <a:t>The firewall itself is immune to penetration (use of trusted system with a secure operating system)</a:t>
            </a:r>
          </a:p>
          <a:p>
            <a:pPr lvl="1"/>
            <a:endParaRPr lang="en-US" altLang="en-US" dirty="0" smtClean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065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rPr>
              <a:t>Firewall Characteristics</a:t>
            </a:r>
            <a:r>
              <a:rPr lang="en-US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rPr>
              <a:t/>
            </a:r>
            <a:br>
              <a:rPr lang="en-US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600" dirty="0" smtClean="0">
                <a:latin typeface="Comic Sans MS" pitchFamily="66" charset="0"/>
              </a:rPr>
              <a:t>Four general techniques:</a:t>
            </a:r>
          </a:p>
          <a:p>
            <a:pPr marL="342900" indent="-342900">
              <a:buFont typeface="+mj-lt"/>
              <a:buAutoNum type="arabicPeriod"/>
            </a:pPr>
            <a:endParaRPr lang="en-US" dirty="0" smtClean="0">
              <a:latin typeface="Comic Sans MS" pitchFamily="66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Comic Sans MS" pitchFamily="66" charset="0"/>
              </a:rPr>
              <a:t>Service control</a:t>
            </a:r>
          </a:p>
          <a:p>
            <a:pPr marL="800100" lvl="1" indent="-342900"/>
            <a:r>
              <a:rPr lang="en-US" dirty="0" smtClean="0">
                <a:latin typeface="Comic Sans MS" pitchFamily="66" charset="0"/>
              </a:rPr>
              <a:t>Determines the types of Internet services that can be accessed, inbound or outbound</a:t>
            </a:r>
          </a:p>
          <a:p>
            <a:pPr marL="800100" lvl="1" indent="-342900"/>
            <a:endParaRPr lang="en-US" dirty="0" smtClean="0">
              <a:latin typeface="Comic Sans MS" pitchFamily="66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Comic Sans MS" pitchFamily="66" charset="0"/>
              </a:rPr>
              <a:t>Direction control</a:t>
            </a:r>
          </a:p>
          <a:p>
            <a:pPr marL="800100" lvl="1" indent="-342900"/>
            <a:r>
              <a:rPr lang="en-US" dirty="0" smtClean="0">
                <a:latin typeface="Comic Sans MS" pitchFamily="66" charset="0"/>
              </a:rPr>
              <a:t>Determines the direction in which particular service requests are allowed to flow</a:t>
            </a:r>
          </a:p>
          <a:p>
            <a:pPr marL="800100" lvl="1" indent="-342900"/>
            <a:endParaRPr lang="en-US" dirty="0" smtClean="0">
              <a:latin typeface="Comic Sans MS" pitchFamily="66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Comic Sans MS" pitchFamily="66" charset="0"/>
              </a:rPr>
              <a:t>User control</a:t>
            </a:r>
          </a:p>
          <a:p>
            <a:pPr marL="800100" lvl="1" indent="-342900"/>
            <a:r>
              <a:rPr lang="en-US" dirty="0" smtClean="0">
                <a:latin typeface="Comic Sans MS" pitchFamily="66" charset="0"/>
              </a:rPr>
              <a:t>Controls access to a service according to which user is attempting to access it</a:t>
            </a:r>
          </a:p>
          <a:p>
            <a:pPr marL="800100" lvl="1" indent="-342900"/>
            <a:endParaRPr lang="en-US" dirty="0" smtClean="0">
              <a:latin typeface="Comic Sans MS" pitchFamily="66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Comic Sans MS" pitchFamily="66" charset="0"/>
              </a:rPr>
              <a:t>Behavior control</a:t>
            </a:r>
          </a:p>
          <a:p>
            <a:pPr marL="800100" lvl="1" indent="-342900"/>
            <a:r>
              <a:rPr lang="en-US" dirty="0" smtClean="0">
                <a:latin typeface="Comic Sans MS" pitchFamily="66" charset="0"/>
              </a:rPr>
              <a:t>Controls how particular services are used (e.g. filter e-mail)</a:t>
            </a:r>
          </a:p>
          <a:p>
            <a:pPr lvl="1"/>
            <a:endParaRPr lang="en-US" dirty="0" smtClean="0">
              <a:latin typeface="Comic Sans MS" pitchFamily="66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81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758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en-US" sz="4000" dirty="0" smtClean="0"/>
              <a:t/>
            </a:r>
            <a:br>
              <a:rPr lang="en-US" altLang="en-US" sz="4000" dirty="0" smtClean="0"/>
            </a:br>
            <a:r>
              <a:rPr lang="en-US" alt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Firewalls Do </a:t>
            </a:r>
            <a:br>
              <a:rPr lang="en-US" alt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US" altLang="en-US" b="1" dirty="0"/>
          </a:p>
          <a:p>
            <a:pPr>
              <a:defRPr/>
            </a:pPr>
            <a:r>
              <a:rPr lang="en-US" altLang="en-US" b="1" dirty="0"/>
              <a:t>Positive Effects</a:t>
            </a:r>
          </a:p>
          <a:p>
            <a:pPr>
              <a:defRPr/>
            </a:pPr>
            <a:r>
              <a:rPr lang="en-US" altLang="en-US" b="1" dirty="0"/>
              <a:t>Negative Effects </a:t>
            </a:r>
          </a:p>
          <a:p>
            <a:pPr>
              <a:defRPr/>
            </a:pPr>
            <a:endParaRPr lang="en-US" altLang="en-US" b="1" dirty="0"/>
          </a:p>
          <a:p>
            <a:pPr>
              <a:buNone/>
              <a:defRPr/>
            </a:pPr>
            <a:r>
              <a:rPr lang="en-US" altLang="en-US" b="1" dirty="0"/>
              <a:t>     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7366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buNone/>
              <a:defRPr/>
            </a:pPr>
            <a:r>
              <a:rPr lang="en-US" altLang="en-US" b="1" dirty="0"/>
              <a:t>Positive Effects</a:t>
            </a:r>
          </a:p>
          <a:p>
            <a:pPr>
              <a:lnSpc>
                <a:spcPct val="80000"/>
              </a:lnSpc>
              <a:defRPr/>
            </a:pPr>
            <a:endParaRPr lang="en-US" altLang="en-US" b="1" dirty="0"/>
          </a:p>
          <a:p>
            <a:pPr>
              <a:lnSpc>
                <a:spcPct val="80000"/>
              </a:lnSpc>
              <a:defRPr/>
            </a:pPr>
            <a:r>
              <a:rPr lang="en-US" altLang="en-US" b="1" dirty="0"/>
              <a:t>User authentication.</a:t>
            </a:r>
            <a:r>
              <a:rPr lang="en-US" altLang="en-US" dirty="0"/>
              <a:t>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dirty="0"/>
              <a:t>     Firewalls can be configured to require user authentication. This allows network administrators to control ,track specific user activity. </a:t>
            </a:r>
          </a:p>
          <a:p>
            <a:pPr>
              <a:lnSpc>
                <a:spcPct val="80000"/>
              </a:lnSpc>
              <a:buNone/>
              <a:defRPr/>
            </a:pPr>
            <a:endParaRPr lang="en-US" altLang="en-US" b="1" dirty="0"/>
          </a:p>
          <a:p>
            <a:pPr>
              <a:lnSpc>
                <a:spcPct val="80000"/>
              </a:lnSpc>
              <a:defRPr/>
            </a:pPr>
            <a:r>
              <a:rPr lang="en-US" altLang="en-US" b="1" dirty="0"/>
              <a:t>Auditing and logging.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dirty="0"/>
              <a:t>	By configuring a firewall to log and audit activity, information may be kept and analyzed at a later date. </a:t>
            </a:r>
          </a:p>
        </p:txBody>
      </p:sp>
    </p:spTree>
    <p:extLst>
      <p:ext uri="{BB962C8B-B14F-4D97-AF65-F5344CB8AC3E}">
        <p14:creationId xmlns:p14="http://schemas.microsoft.com/office/powerpoint/2010/main" val="1227656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sz="2400" b="1" u="sng" dirty="0" smtClean="0">
                <a:effectLst/>
              </a:rPr>
              <a:t>Anti-Spoofing</a:t>
            </a:r>
            <a:r>
              <a:rPr lang="en-US" altLang="en-US" sz="2400" dirty="0" smtClean="0">
                <a:effectLst/>
              </a:rPr>
              <a:t> - Detecting when the source of the network traffic is being "spoofed", i.e., when an individual attempting to access a blocked service alters the source address in the message so that the traffic is allowed. </a:t>
            </a:r>
          </a:p>
          <a:p>
            <a:endParaRPr lang="en-US" altLang="en-US" sz="2400" dirty="0" smtClean="0">
              <a:effectLst/>
            </a:endParaRPr>
          </a:p>
          <a:p>
            <a:r>
              <a:rPr lang="en-US" altLang="en-US" sz="2400" b="1" u="sng" dirty="0" smtClean="0">
                <a:effectLst/>
              </a:rPr>
              <a:t>Network Address Translation (NAT)</a:t>
            </a:r>
            <a:r>
              <a:rPr lang="en-US" altLang="en-US" sz="2400" dirty="0" smtClean="0">
                <a:effectLst/>
              </a:rPr>
              <a:t> - Changing the network addresses of devices on any side of the firewall to hide their true addresses from devices on other sides. There are two ways NAT is performed:</a:t>
            </a:r>
          </a:p>
          <a:p>
            <a:pPr>
              <a:buNone/>
            </a:pPr>
            <a:r>
              <a:rPr lang="en-US" altLang="en-US" sz="2400" dirty="0" smtClean="0">
                <a:effectLst/>
              </a:rPr>
              <a:t> </a:t>
            </a:r>
          </a:p>
          <a:p>
            <a:pPr lvl="1"/>
            <a:r>
              <a:rPr lang="en-US" altLang="en-US" b="1" dirty="0" smtClean="0">
                <a:effectLst/>
              </a:rPr>
              <a:t>One-to-One</a:t>
            </a:r>
            <a:r>
              <a:rPr lang="en-US" altLang="en-US" dirty="0" smtClean="0">
                <a:effectLst/>
              </a:rPr>
              <a:t> - where each true address is translated to a unique translated address. </a:t>
            </a:r>
          </a:p>
          <a:p>
            <a:pPr lvl="1"/>
            <a:r>
              <a:rPr lang="en-US" altLang="en-US" b="1" dirty="0" smtClean="0">
                <a:effectLst/>
              </a:rPr>
              <a:t>Many-to-One</a:t>
            </a:r>
            <a:r>
              <a:rPr lang="en-US" altLang="en-US" dirty="0" smtClean="0">
                <a:effectLst/>
              </a:rPr>
              <a:t> - where all true addresses are translated to a single address, usually that of the firewall.</a:t>
            </a:r>
          </a:p>
          <a:p>
            <a:endParaRPr lang="en-US" altLang="en-US" sz="2400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5929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7882"/>
            <a:ext cx="10515600" cy="5739081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en-US" sz="2400" b="1" dirty="0"/>
              <a:t>Negative Effects </a:t>
            </a:r>
          </a:p>
          <a:p>
            <a:pPr>
              <a:lnSpc>
                <a:spcPct val="80000"/>
              </a:lnSpc>
              <a:defRPr/>
            </a:pPr>
            <a:endParaRPr lang="en-US" altLang="en-US" sz="2400" b="1" dirty="0"/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     Although firewall solutions provide many benefits, negative effects may also be experienced.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en-US" sz="2400" dirty="0"/>
              <a:t> </a:t>
            </a:r>
            <a:endParaRPr lang="en-US" altLang="en-US" sz="2400" b="1" dirty="0"/>
          </a:p>
          <a:p>
            <a:pPr lvl="1">
              <a:lnSpc>
                <a:spcPct val="80000"/>
              </a:lnSpc>
              <a:defRPr/>
            </a:pPr>
            <a:r>
              <a:rPr lang="en-US" altLang="en-US" b="1" dirty="0"/>
              <a:t>Traffic bottlenecks.</a:t>
            </a:r>
            <a:r>
              <a:rPr lang="en-US" altLang="en-US" dirty="0"/>
              <a:t> By forcing all network traffic to pass through the firewall, there is a greater chance that the network will become congested. </a:t>
            </a:r>
          </a:p>
          <a:p>
            <a:pPr>
              <a:lnSpc>
                <a:spcPct val="80000"/>
              </a:lnSpc>
              <a:defRPr/>
            </a:pPr>
            <a:endParaRPr lang="en-US" altLang="en-US" sz="2400" b="1" dirty="0"/>
          </a:p>
          <a:p>
            <a:pPr lvl="1">
              <a:lnSpc>
                <a:spcPct val="80000"/>
              </a:lnSpc>
              <a:defRPr/>
            </a:pPr>
            <a:r>
              <a:rPr lang="en-US" altLang="en-US" b="1" dirty="0"/>
              <a:t>Single point of failure.</a:t>
            </a:r>
            <a:r>
              <a:rPr lang="en-US" altLang="en-US" dirty="0"/>
              <a:t> In most configurations where firewalls are the only link between networks, if they are not configured correctly or are unavailable, no traffic will be allowed through. </a:t>
            </a:r>
            <a:endParaRPr lang="en-US" altLang="en-US" b="1" dirty="0"/>
          </a:p>
          <a:p>
            <a:pPr lvl="1">
              <a:lnSpc>
                <a:spcPct val="80000"/>
              </a:lnSpc>
              <a:defRPr/>
            </a:pPr>
            <a:endParaRPr lang="en-US" altLang="en-US" b="1" dirty="0"/>
          </a:p>
          <a:p>
            <a:pPr lvl="1">
              <a:lnSpc>
                <a:spcPct val="80000"/>
              </a:lnSpc>
              <a:buNone/>
              <a:defRPr/>
            </a:pPr>
            <a:endParaRPr lang="en-US" altLang="en-US" b="1" dirty="0"/>
          </a:p>
          <a:p>
            <a:pPr lvl="1">
              <a:lnSpc>
                <a:spcPct val="80000"/>
              </a:lnSpc>
              <a:defRPr/>
            </a:pPr>
            <a:r>
              <a:rPr lang="en-US" altLang="en-US" b="1" dirty="0"/>
              <a:t>Increased management responsibilities.</a:t>
            </a:r>
            <a:r>
              <a:rPr lang="en-US" altLang="en-US" dirty="0"/>
              <a:t> A firewall often adds to network management responsibilities and makes network troubleshooting more complex. 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2805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Firewalls Cannot Do 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9403"/>
            <a:ext cx="10515600" cy="5370490"/>
          </a:xfrm>
        </p:spPr>
        <p:txBody>
          <a:bodyPr>
            <a:normAutofit/>
          </a:bodyPr>
          <a:lstStyle/>
          <a:p>
            <a:pPr marL="265176" lvl="0" indent="-265176">
              <a:spcBef>
                <a:spcPts val="250"/>
              </a:spcBef>
              <a:buClr>
                <a:schemeClr val="accent1"/>
              </a:buClr>
              <a:buSzPct val="80000"/>
              <a:buFontTx/>
              <a:buChar char="•"/>
              <a:defRPr/>
            </a:pPr>
            <a:r>
              <a:rPr lang="en-US" sz="2400" b="1" dirty="0">
                <a:latin typeface="Verdana" pitchFamily="34" charset="0"/>
              </a:rPr>
              <a:t>Do Firewalls Prevent Viruses and Trojans?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>
                <a:latin typeface="Verdana" pitchFamily="34" charset="0"/>
                <a:cs typeface="Arial" pitchFamily="34" charset="0"/>
              </a:rPr>
              <a:t>NO!! A firewall can only prevent a virus or Trojan from accessing the internet while on your machine </a:t>
            </a:r>
          </a:p>
          <a:p>
            <a:pPr marL="265176" lvl="0" indent="-265176">
              <a:spcBef>
                <a:spcPts val="250"/>
              </a:spcBef>
              <a:buClr>
                <a:schemeClr val="accent1"/>
              </a:buClr>
              <a:buSzPct val="80000"/>
              <a:buFontTx/>
              <a:buChar char="•"/>
              <a:defRPr/>
            </a:pPr>
            <a:r>
              <a:rPr lang="en-US" sz="2400" dirty="0">
                <a:latin typeface="Verdana" pitchFamily="34" charset="0"/>
                <a:cs typeface="Arial" pitchFamily="34" charset="0"/>
              </a:rPr>
              <a:t>95% of all viruses and Trojans are received via e-mail, through file </a:t>
            </a:r>
            <a:r>
              <a:rPr lang="en-US" sz="2400" dirty="0" smtClean="0">
                <a:latin typeface="Verdana" pitchFamily="34" charset="0"/>
                <a:cs typeface="Arial" pitchFamily="34" charset="0"/>
              </a:rPr>
              <a:t>sharing </a:t>
            </a:r>
            <a:r>
              <a:rPr lang="en-US" sz="2400" dirty="0">
                <a:latin typeface="Verdana" pitchFamily="34" charset="0"/>
                <a:cs typeface="Arial" pitchFamily="34" charset="0"/>
              </a:rPr>
              <a:t>or through direct download of a malicious program</a:t>
            </a:r>
          </a:p>
          <a:p>
            <a:pPr marL="265176" lvl="0" indent="-265176">
              <a:spcBef>
                <a:spcPts val="250"/>
              </a:spcBef>
              <a:buClr>
                <a:schemeClr val="accent1"/>
              </a:buClr>
              <a:buSzPct val="80000"/>
              <a:buFontTx/>
              <a:buChar char="•"/>
              <a:defRPr/>
            </a:pPr>
            <a:r>
              <a:rPr lang="en-US" sz="2400" dirty="0">
                <a:latin typeface="Verdana" pitchFamily="34" charset="0"/>
                <a:cs typeface="Arial" pitchFamily="34" charset="0"/>
              </a:rPr>
              <a:t>Firewalls can't prevent this -- only a good anti-virus software program can however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, once installed on your PC, many viruses and Trojans "call home" using the internet to the hacker that designed it</a:t>
            </a:r>
          </a:p>
          <a:p>
            <a:pPr marL="265176" lvl="0" indent="-265176">
              <a:spcBef>
                <a:spcPts val="250"/>
              </a:spcBef>
              <a:buClr>
                <a:schemeClr val="accent1"/>
              </a:buClr>
              <a:buSzPct val="80000"/>
              <a:buFontTx/>
              <a:buChar char="•"/>
              <a:defRPr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This lets the hacker activate the Trojan and he/she can now use your PC for his/her own purposes</a:t>
            </a:r>
          </a:p>
          <a:p>
            <a:pPr marL="265176" lvl="0" indent="-265176">
              <a:spcBef>
                <a:spcPts val="250"/>
              </a:spcBef>
              <a:buClr>
                <a:schemeClr val="accent1"/>
              </a:buClr>
              <a:buSzPct val="80000"/>
              <a:buFontTx/>
              <a:buChar char="•"/>
              <a:defRPr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A firewall can block the call home and can alert you if there is suspicious behavior taking place on your system</a:t>
            </a:r>
            <a:endParaRPr lang="en-US" sz="2400" dirty="0"/>
          </a:p>
          <a:p>
            <a:pPr marL="265176" lvl="0" indent="-265176">
              <a:spcBef>
                <a:spcPts val="250"/>
              </a:spcBef>
              <a:buClr>
                <a:schemeClr val="accent1"/>
              </a:buClr>
              <a:buSzPct val="80000"/>
              <a:buFontTx/>
              <a:buChar char="•"/>
              <a:defRPr/>
            </a:pPr>
            <a:endParaRPr lang="en-US" sz="2400" dirty="0">
              <a:latin typeface="Verdana" pitchFamily="34" charset="0"/>
              <a:cs typeface="Arial" pitchFamily="34" charset="0"/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33840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5185"/>
          </a:xfrm>
        </p:spPr>
        <p:txBody>
          <a:bodyPr>
            <a:normAutofit fontScale="90000"/>
          </a:bodyPr>
          <a:lstStyle/>
          <a:p>
            <a:r>
              <a:rPr lang="sv-SE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rPr>
              <a:t>Types of Firewalls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rPr>
              <a:t/>
            </a:r>
            <a:b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412" y="1030310"/>
            <a:ext cx="10515600" cy="2231219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Comic Sans MS" panose="030F0702030302020204" pitchFamily="66" charset="0"/>
              </a:rPr>
              <a:t>Three common types of Firewalls:</a:t>
            </a:r>
          </a:p>
          <a:p>
            <a:pPr lvl="1"/>
            <a:r>
              <a:rPr lang="en-US" altLang="en-US" dirty="0">
                <a:latin typeface="Comic Sans MS" panose="030F0702030302020204" pitchFamily="66" charset="0"/>
              </a:rPr>
              <a:t>Packet-filtering </a:t>
            </a:r>
            <a:r>
              <a:rPr lang="en-US" altLang="en-US" dirty="0" smtClean="0">
                <a:latin typeface="Comic Sans MS" panose="030F0702030302020204" pitchFamily="66" charset="0"/>
              </a:rPr>
              <a:t>routers</a:t>
            </a:r>
          </a:p>
          <a:p>
            <a:pPr lvl="1"/>
            <a:r>
              <a:rPr lang="en-US" altLang="en-US" dirty="0">
                <a:latin typeface="Comic Sans MS" panose="030F0702030302020204" pitchFamily="66" charset="0"/>
              </a:rPr>
              <a:t>Circuit-level </a:t>
            </a:r>
            <a:r>
              <a:rPr lang="en-US" altLang="en-US" dirty="0" smtClean="0">
                <a:latin typeface="Comic Sans MS" panose="030F0702030302020204" pitchFamily="66" charset="0"/>
              </a:rPr>
              <a:t>gateways</a:t>
            </a:r>
            <a:endParaRPr lang="en-US" altLang="en-US" dirty="0">
              <a:latin typeface="Comic Sans MS" panose="030F0702030302020204" pitchFamily="66" charset="0"/>
            </a:endParaRPr>
          </a:p>
          <a:p>
            <a:pPr lvl="1"/>
            <a:r>
              <a:rPr lang="en-US" altLang="en-US" dirty="0">
                <a:latin typeface="Comic Sans MS" panose="030F0702030302020204" pitchFamily="66" charset="0"/>
              </a:rPr>
              <a:t>Application-level gateways</a:t>
            </a:r>
          </a:p>
          <a:p>
            <a:r>
              <a:rPr lang="en-US" altLang="en-US" b="1" dirty="0" smtClean="0"/>
              <a:t>Basic </a:t>
            </a:r>
            <a:r>
              <a:rPr lang="en-US" altLang="en-US" b="1" dirty="0"/>
              <a:t>TCP/IP Flow review</a:t>
            </a:r>
          </a:p>
          <a:p>
            <a:endParaRPr lang="en-IN" dirty="0"/>
          </a:p>
        </p:txBody>
      </p:sp>
      <p:pic>
        <p:nvPicPr>
          <p:cNvPr id="4" name="Picture 4" descr="fire01_bi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261529"/>
            <a:ext cx="7676882" cy="3371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148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Packet Filtering Firewall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dirty="0">
                <a:latin typeface="Comic Sans MS" panose="030F0702030302020204" pitchFamily="66" charset="0"/>
              </a:rPr>
              <a:t>Applies a set of rules to each incoming IP packet and then forwards or discards the packet</a:t>
            </a:r>
          </a:p>
          <a:p>
            <a:pPr lvl="1"/>
            <a:r>
              <a:rPr lang="en-US" altLang="en-US" dirty="0">
                <a:latin typeface="Comic Sans MS" panose="030F0702030302020204" pitchFamily="66" charset="0"/>
              </a:rPr>
              <a:t>Filter packets going in both directions</a:t>
            </a:r>
          </a:p>
          <a:p>
            <a:pPr lvl="1"/>
            <a:r>
              <a:rPr lang="en-US" altLang="en-US" dirty="0">
                <a:latin typeface="Comic Sans MS" panose="030F0702030302020204" pitchFamily="66" charset="0"/>
              </a:rPr>
              <a:t>The packet filter is typically set up as a list of rules based on matches to fields in the IP or TCP header</a:t>
            </a:r>
          </a:p>
          <a:p>
            <a:pPr lvl="1"/>
            <a:r>
              <a:rPr lang="en-US" altLang="en-US" dirty="0">
                <a:latin typeface="Comic Sans MS" panose="030F0702030302020204" pitchFamily="66" charset="0"/>
              </a:rPr>
              <a:t>Two default policies (discard or forward)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1347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fw0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31831"/>
            <a:ext cx="10044448" cy="4340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6468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896" y="666526"/>
            <a:ext cx="10515600" cy="1381214"/>
          </a:xfrm>
        </p:spPr>
        <p:txBody>
          <a:bodyPr/>
          <a:lstStyle/>
          <a:p>
            <a:r>
              <a:rPr lang="en-US" altLang="en-US" dirty="0"/>
              <a:t>A packet filtering firewall is often called a network layer firewall because the filtering is primarily done at the network layer (layer three) or the transport layer (layer four) of the OSI reference model. </a:t>
            </a:r>
          </a:p>
          <a:p>
            <a:endParaRPr lang="en-IN" dirty="0"/>
          </a:p>
        </p:txBody>
      </p:sp>
      <p:pic>
        <p:nvPicPr>
          <p:cNvPr id="4" name="Picture 4" descr="fw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085" y="2047740"/>
            <a:ext cx="3464417" cy="4572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Packet Filtering Firewall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6213" y="2163650"/>
            <a:ext cx="7392474" cy="40339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1259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017" y="331676"/>
            <a:ext cx="10515600" cy="65263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en-US" altLang="en-US" sz="2400" dirty="0">
                <a:cs typeface="Tahoma" panose="020B0604030504040204" pitchFamily="34" charset="0"/>
              </a:rPr>
              <a:t>Packet filtering rules or filters can be configured to allow or deny traffic based on one or more of the following </a:t>
            </a:r>
            <a:r>
              <a:rPr lang="en-US" altLang="en-US" sz="2400">
                <a:cs typeface="Tahoma" panose="020B0604030504040204" pitchFamily="34" charset="0"/>
              </a:rPr>
              <a:t>variables</a:t>
            </a:r>
            <a:r>
              <a:rPr lang="en-US" altLang="en-US" sz="2400" smtClean="0">
                <a:cs typeface="Tahoma" panose="020B0604030504040204" pitchFamily="34" charset="0"/>
              </a:rPr>
              <a:t>:</a:t>
            </a:r>
          </a:p>
          <a:p>
            <a:pPr>
              <a:lnSpc>
                <a:spcPct val="100000"/>
              </a:lnSpc>
              <a:buNone/>
              <a:defRPr/>
            </a:pPr>
            <a:endParaRPr lang="en-US" altLang="en-US" sz="2400" dirty="0">
              <a:cs typeface="Tahoma" panose="020B0604030504040204" pitchFamily="34" charset="0"/>
            </a:endParaRPr>
          </a:p>
          <a:p>
            <a:pPr lvl="1">
              <a:lnSpc>
                <a:spcPct val="100000"/>
              </a:lnSpc>
              <a:defRPr/>
            </a:pPr>
            <a:r>
              <a:rPr lang="en-US" altLang="en-US" dirty="0">
                <a:cs typeface="Tahoma" panose="020B0604030504040204" pitchFamily="34" charset="0"/>
              </a:rPr>
              <a:t>Source IP address </a:t>
            </a:r>
          </a:p>
          <a:p>
            <a:pPr lvl="1">
              <a:lnSpc>
                <a:spcPct val="100000"/>
              </a:lnSpc>
              <a:defRPr/>
            </a:pPr>
            <a:r>
              <a:rPr lang="en-US" altLang="en-US" dirty="0">
                <a:cs typeface="Tahoma" panose="020B0604030504040204" pitchFamily="34" charset="0"/>
              </a:rPr>
              <a:t>Destination IP address </a:t>
            </a:r>
          </a:p>
          <a:p>
            <a:pPr lvl="1">
              <a:lnSpc>
                <a:spcPct val="100000"/>
              </a:lnSpc>
              <a:defRPr/>
            </a:pPr>
            <a:r>
              <a:rPr lang="en-US" altLang="en-US" dirty="0">
                <a:cs typeface="Tahoma" panose="020B0604030504040204" pitchFamily="34" charset="0"/>
              </a:rPr>
              <a:t>Protocol type (TCP/UDP) </a:t>
            </a:r>
          </a:p>
          <a:p>
            <a:pPr lvl="1">
              <a:lnSpc>
                <a:spcPct val="100000"/>
              </a:lnSpc>
              <a:defRPr/>
            </a:pPr>
            <a:r>
              <a:rPr lang="en-US" altLang="en-US" dirty="0">
                <a:cs typeface="Tahoma" panose="020B0604030504040204" pitchFamily="34" charset="0"/>
              </a:rPr>
              <a:t>Source port </a:t>
            </a:r>
          </a:p>
          <a:p>
            <a:pPr lvl="1">
              <a:lnSpc>
                <a:spcPct val="100000"/>
              </a:lnSpc>
              <a:defRPr/>
            </a:pPr>
            <a:r>
              <a:rPr lang="en-US" altLang="en-US" dirty="0">
                <a:cs typeface="Tahoma" panose="020B0604030504040204" pitchFamily="34" charset="0"/>
              </a:rPr>
              <a:t>Destination port </a:t>
            </a:r>
            <a:endParaRPr lang="en-US" altLang="en-US" sz="2400" dirty="0"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buNone/>
              <a:defRPr/>
            </a:pPr>
            <a:r>
              <a:rPr lang="en-US" altLang="en-US" sz="2400" dirty="0"/>
              <a:t>	</a:t>
            </a:r>
          </a:p>
          <a:p>
            <a:pPr>
              <a:lnSpc>
                <a:spcPct val="100000"/>
              </a:lnSpc>
              <a:defRPr/>
            </a:pPr>
            <a:endParaRPr lang="en-US" altLang="en-US" sz="2400" dirty="0"/>
          </a:p>
          <a:p>
            <a:pPr>
              <a:lnSpc>
                <a:spcPct val="100000"/>
              </a:lnSpc>
              <a:defRPr/>
            </a:pPr>
            <a:endParaRPr lang="en-US" altLang="en-US" sz="2400" dirty="0"/>
          </a:p>
          <a:p>
            <a:pPr>
              <a:lnSpc>
                <a:spcPct val="100000"/>
              </a:lnSpc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8732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92428"/>
            <a:ext cx="10515600" cy="558453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en-US" altLang="en-US" b="1" dirty="0" smtClean="0"/>
              <a:t>advantages:</a:t>
            </a:r>
            <a:endParaRPr lang="en-US" altLang="en-US" dirty="0"/>
          </a:p>
          <a:p>
            <a:pPr>
              <a:lnSpc>
                <a:spcPct val="100000"/>
              </a:lnSpc>
              <a:defRPr/>
            </a:pPr>
            <a:r>
              <a:rPr lang="en-US" altLang="en-US" dirty="0"/>
              <a:t>Packet filtering is typically </a:t>
            </a:r>
            <a:r>
              <a:rPr lang="en-US" altLang="en-US" u="sng" dirty="0"/>
              <a:t>faster</a:t>
            </a:r>
            <a:r>
              <a:rPr lang="en-US" altLang="en-US" dirty="0"/>
              <a:t> than other packet screening methods. Because packet filtering is done at the lower levels of the OSI model, the time it takes to process a packet is much quicker. </a:t>
            </a:r>
          </a:p>
          <a:p>
            <a:pPr>
              <a:lnSpc>
                <a:spcPct val="100000"/>
              </a:lnSpc>
              <a:defRPr/>
            </a:pPr>
            <a:r>
              <a:rPr lang="en-US" altLang="en-US" dirty="0"/>
              <a:t>Packet filtering firewalls can be </a:t>
            </a:r>
            <a:r>
              <a:rPr lang="en-US" altLang="en-US" u="sng" dirty="0"/>
              <a:t>implemented transparently</a:t>
            </a:r>
            <a:r>
              <a:rPr lang="en-US" altLang="en-US" dirty="0"/>
              <a:t>. They typically require no additional configuration for clients. </a:t>
            </a:r>
          </a:p>
          <a:p>
            <a:pPr>
              <a:lnSpc>
                <a:spcPct val="100000"/>
              </a:lnSpc>
              <a:defRPr/>
            </a:pPr>
            <a:r>
              <a:rPr lang="en-US" altLang="en-US" dirty="0"/>
              <a:t>Packet filtering firewalls are typically </a:t>
            </a:r>
            <a:r>
              <a:rPr lang="en-US" altLang="en-US" u="sng" dirty="0"/>
              <a:t>less expensive</a:t>
            </a:r>
            <a:r>
              <a:rPr lang="en-US" altLang="en-US" dirty="0"/>
              <a:t>. Many hardware devices and software packages have packet filtering features included as part of their standard package. </a:t>
            </a:r>
            <a:endParaRPr lang="en-US" altLang="en-US" dirty="0" smtClean="0"/>
          </a:p>
          <a:p>
            <a:pPr>
              <a:lnSpc>
                <a:spcPct val="100000"/>
              </a:lnSpc>
              <a:defRPr/>
            </a:pPr>
            <a:endParaRPr lang="en-US" altLang="en-US" dirty="0" smtClean="0">
              <a:latin typeface="Comic Sans MS" panose="030F0702030302020204" pitchFamily="66" charset="0"/>
            </a:endParaRPr>
          </a:p>
          <a:p>
            <a:r>
              <a:rPr lang="en-US" altLang="en-US" dirty="0" smtClean="0">
                <a:latin typeface="Comic Sans MS" panose="030F0702030302020204" pitchFamily="66" charset="0"/>
              </a:rPr>
              <a:t>Disadvantages</a:t>
            </a:r>
            <a:r>
              <a:rPr lang="en-US" altLang="en-US" dirty="0">
                <a:latin typeface="Comic Sans MS" panose="030F0702030302020204" pitchFamily="66" charset="0"/>
              </a:rPr>
              <a:t>:</a:t>
            </a:r>
          </a:p>
          <a:p>
            <a:pPr lvl="1"/>
            <a:r>
              <a:rPr lang="en-US" altLang="en-US" dirty="0">
                <a:latin typeface="Comic Sans MS" panose="030F0702030302020204" pitchFamily="66" charset="0"/>
              </a:rPr>
              <a:t>Difficulty of setting up packet filter rules</a:t>
            </a:r>
          </a:p>
          <a:p>
            <a:pPr lvl="1"/>
            <a:r>
              <a:rPr lang="en-US" altLang="en-US" dirty="0">
                <a:latin typeface="Comic Sans MS" panose="030F0702030302020204" pitchFamily="66" charset="0"/>
              </a:rPr>
              <a:t>Lack of Authentication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8602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Circuit-level Gateway 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altLang="en-US" dirty="0"/>
              <a:t>Unlike a packet filtering firewall, a circuit-level gateway does not examine individual packets. Instead, circuit-level gateways monitor TCP or UDP sessions</a:t>
            </a:r>
            <a:r>
              <a:rPr lang="en-US" altLang="en-US" dirty="0" smtClean="0"/>
              <a:t>.</a:t>
            </a:r>
          </a:p>
          <a:p>
            <a:pPr>
              <a:defRPr/>
            </a:pPr>
            <a:r>
              <a:rPr lang="en-US" altLang="en-US" dirty="0" smtClean="0"/>
              <a:t>The main difference between packet filtering and this is that it validates</a:t>
            </a:r>
          </a:p>
          <a:p>
            <a:pPr marL="0" indent="0">
              <a:buNone/>
              <a:defRPr/>
            </a:pPr>
            <a:r>
              <a:rPr lang="en-US" altLang="en-US" dirty="0"/>
              <a:t> </a:t>
            </a:r>
            <a:r>
              <a:rPr lang="en-US" altLang="en-US" dirty="0" smtClean="0"/>
              <a:t>   TCP and UDP sessions before opening a connection through the firewall.</a:t>
            </a: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buNone/>
              <a:defRPr/>
            </a:pPr>
            <a:r>
              <a:rPr lang="en-US" altLang="en-US" dirty="0"/>
              <a:t>	 Once a session has been established, it leaves the port open to allow all other packets belonging to that session to pass. The port is closed when the session is terminated. </a:t>
            </a:r>
          </a:p>
          <a:p>
            <a:pPr>
              <a:buNone/>
              <a:defRPr/>
            </a:pPr>
            <a:endParaRPr lang="en-US" altLang="en-US" dirty="0"/>
          </a:p>
          <a:p>
            <a:pPr>
              <a:buNone/>
              <a:defRPr/>
            </a:pPr>
            <a:r>
              <a:rPr lang="en-US" altLang="en-US" dirty="0"/>
              <a:t>	circuit-level gateways operate at the transport layer (layer 4) </a:t>
            </a:r>
            <a:r>
              <a:rPr lang="en-US" altLang="en-US" dirty="0" smtClean="0"/>
              <a:t>and session layer of </a:t>
            </a:r>
            <a:r>
              <a:rPr lang="en-US" altLang="en-US" dirty="0"/>
              <a:t>the OSI model.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711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Circuit level Gateway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01" y="347730"/>
            <a:ext cx="9633397" cy="6632619"/>
          </a:xfrm>
          <a:noFill/>
        </p:spPr>
      </p:pic>
    </p:spTree>
    <p:extLst>
      <p:ext uri="{BB962C8B-B14F-4D97-AF65-F5344CB8AC3E}">
        <p14:creationId xmlns:p14="http://schemas.microsoft.com/office/powerpoint/2010/main" val="1601954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304"/>
            <a:ext cx="10515600" cy="6677695"/>
          </a:xfrm>
        </p:spPr>
        <p:txBody>
          <a:bodyPr>
            <a:normAutofit/>
          </a:bodyPr>
          <a:lstStyle/>
          <a:p>
            <a:r>
              <a:rPr lang="en-IN" sz="3200" dirty="0" smtClean="0"/>
              <a:t>The firewall maintains a virtual circuit table, which stores the connection details of the successful connections.</a:t>
            </a:r>
          </a:p>
          <a:p>
            <a:pPr marL="0" indent="0">
              <a:buNone/>
            </a:pPr>
            <a:endParaRPr lang="en-IN" sz="3200" dirty="0" smtClean="0"/>
          </a:p>
          <a:p>
            <a:endParaRPr lang="en-IN" sz="3200" dirty="0"/>
          </a:p>
          <a:p>
            <a:pPr marL="0" indent="0">
              <a:buNone/>
            </a:pPr>
            <a:r>
              <a:rPr lang="en-IN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Advantages-</a:t>
            </a:r>
            <a:endParaRPr lang="en-IN" sz="3200" dirty="0" smtClean="0"/>
          </a:p>
          <a:p>
            <a:r>
              <a:rPr lang="en-IN" sz="3200" dirty="0" smtClean="0"/>
              <a:t>More secure than packet filter firewalls.</a:t>
            </a:r>
          </a:p>
          <a:p>
            <a:r>
              <a:rPr lang="en-IN" sz="3200" dirty="0" smtClean="0"/>
              <a:t>Faster than application level firewalls.</a:t>
            </a:r>
          </a:p>
          <a:p>
            <a:pPr marL="0" indent="0">
              <a:buNone/>
            </a:pPr>
            <a:r>
              <a:rPr lang="en-I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Disadvantages-</a:t>
            </a:r>
          </a:p>
          <a:p>
            <a:r>
              <a:rPr lang="en-IN" dirty="0" smtClean="0"/>
              <a:t>Only detect one transport layer protocol-TCP.</a:t>
            </a:r>
          </a:p>
          <a:p>
            <a:r>
              <a:rPr lang="en-IN" dirty="0" smtClean="0"/>
              <a:t>Cannot perform security checks on higher level protocols.</a:t>
            </a:r>
            <a:endParaRPr lang="en-IN" dirty="0"/>
          </a:p>
          <a:p>
            <a:pPr marL="0" indent="0">
              <a:buNone/>
            </a:pPr>
            <a:endParaRPr lang="en-IN" sz="3200" dirty="0" smtClean="0"/>
          </a:p>
        </p:txBody>
      </p:sp>
    </p:spTree>
    <p:extLst>
      <p:ext uri="{BB962C8B-B14F-4D97-AF65-F5344CB8AC3E}">
        <p14:creationId xmlns:p14="http://schemas.microsoft.com/office/powerpoint/2010/main" val="44321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mic Sans MS" panose="030F0702030302020204" pitchFamily="66" charset="0"/>
              </a:rPr>
              <a:t>Application-level Gateway</a:t>
            </a:r>
            <a:br>
              <a:rPr lang="en-US" altLang="en-US" dirty="0">
                <a:latin typeface="Comic Sans MS" panose="030F0702030302020204" pitchFamily="66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11524"/>
          </a:xfrm>
        </p:spPr>
        <p:txBody>
          <a:bodyPr/>
          <a:lstStyle/>
          <a:p>
            <a:pPr marL="228600" lvl="1">
              <a:spcBef>
                <a:spcPts val="1000"/>
              </a:spcBef>
            </a:pPr>
            <a:r>
              <a:rPr lang="en-US" altLang="en-US" dirty="0">
                <a:latin typeface="Comic Sans MS" panose="030F0702030302020204" pitchFamily="66" charset="0"/>
              </a:rPr>
              <a:t>Also called proxy </a:t>
            </a:r>
            <a:r>
              <a:rPr lang="en-US" altLang="en-US" dirty="0" smtClean="0">
                <a:latin typeface="Comic Sans MS" panose="030F0702030302020204" pitchFamily="66" charset="0"/>
              </a:rPr>
              <a:t>server</a:t>
            </a:r>
          </a:p>
          <a:p>
            <a:pPr marL="228600" lvl="1">
              <a:spcBef>
                <a:spcPts val="1000"/>
              </a:spcBef>
            </a:pPr>
            <a:r>
              <a:rPr lang="en-US" dirty="0"/>
              <a:t>Gateway sits between user on inside and server on outside. Instead of talking directly, user and server talk through proxy.</a:t>
            </a:r>
          </a:p>
          <a:p>
            <a:pPr marL="228600" lvl="1">
              <a:spcBef>
                <a:spcPts val="1000"/>
              </a:spcBef>
            </a:pPr>
            <a:r>
              <a:rPr lang="en-US" altLang="en-US" dirty="0"/>
              <a:t>This type of firewall operates at the application level of the OSI model. For source and destination endpoints to be able to communicate with each other, a proxy service must be implemented for each application protocol. </a:t>
            </a:r>
          </a:p>
          <a:p>
            <a:pPr marL="228600" lvl="1">
              <a:spcBef>
                <a:spcPts val="1000"/>
              </a:spcBef>
            </a:pPr>
            <a:endParaRPr lang="en-US" altLang="en-US" dirty="0">
              <a:latin typeface="Comic Sans MS" panose="030F0702030302020204" pitchFamily="66" charset="0"/>
            </a:endParaRPr>
          </a:p>
          <a:p>
            <a:endParaRPr lang="en-IN" dirty="0"/>
          </a:p>
        </p:txBody>
      </p:sp>
      <p:pic>
        <p:nvPicPr>
          <p:cNvPr id="4" name="Picture 4" descr="fw0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431" y="4419600"/>
            <a:ext cx="8603087" cy="144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9782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411" y="1"/>
            <a:ext cx="10515600" cy="850006"/>
          </a:xfrm>
        </p:spPr>
        <p:txBody>
          <a:bodyPr/>
          <a:lstStyle/>
          <a:p>
            <a:r>
              <a:rPr lang="en-IN" dirty="0" smtClean="0"/>
              <a:t>Advantages-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35" y="750531"/>
            <a:ext cx="11449318" cy="2082822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Allow the network administrator to have more control over traffic passing through the firewall. They can permit or deny specific applications or specific features of an application. </a:t>
            </a:r>
            <a:endParaRPr lang="en-US" altLang="en-US" dirty="0" smtClean="0"/>
          </a:p>
          <a:p>
            <a:endParaRPr lang="en-US" altLang="en-US" dirty="0"/>
          </a:p>
          <a:p>
            <a:pPr marL="228600" lvl="1">
              <a:spcBef>
                <a:spcPts val="1000"/>
              </a:spcBef>
            </a:pPr>
            <a:r>
              <a:rPr lang="en-US" altLang="en-US" dirty="0">
                <a:latin typeface="Comic Sans MS" panose="030F0702030302020204" pitchFamily="66" charset="0"/>
              </a:rPr>
              <a:t>Higher security than packet filters</a:t>
            </a:r>
          </a:p>
          <a:p>
            <a:pPr marL="0" indent="0">
              <a:buNone/>
            </a:pPr>
            <a:endParaRPr lang="en-US" altLang="en-US" dirty="0"/>
          </a:p>
          <a:p>
            <a:endParaRPr lang="en-IN" dirty="0"/>
          </a:p>
        </p:txBody>
      </p:sp>
      <p:pic>
        <p:nvPicPr>
          <p:cNvPr id="5" name="Picture 2" descr="http://www.vicomsoft.com/images/learning-center/firewalls/firewalldiagram6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31" y="2665926"/>
            <a:ext cx="8685191" cy="4095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83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Disadvantages-</a:t>
            </a:r>
            <a:endParaRPr lang="en-IN" dirty="0"/>
          </a:p>
        </p:txBody>
      </p:sp>
      <p:pic>
        <p:nvPicPr>
          <p:cNvPr id="4" name="Picture 4" descr="fw07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01486" y="1849247"/>
            <a:ext cx="3752313" cy="4628826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63132" y="184924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en-US" sz="2400" dirty="0">
                <a:latin typeface="Comic Sans MS" panose="030F0702030302020204" pitchFamily="66" charset="0"/>
              </a:rPr>
              <a:t>Additional processing overhead on each connection (gateway as splice point)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163132" y="304957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Not all services have </a:t>
            </a:r>
            <a:r>
              <a:rPr lang="en-US" sz="2400" dirty="0" err="1"/>
              <a:t>proxied</a:t>
            </a:r>
            <a:r>
              <a:rPr lang="en-US" sz="2400" dirty="0"/>
              <a:t> </a:t>
            </a:r>
            <a:r>
              <a:rPr lang="en-US" sz="2400" dirty="0" smtClean="0"/>
              <a:t>versions.</a:t>
            </a:r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May need different proxy server for each </a:t>
            </a:r>
            <a:r>
              <a:rPr lang="en-US" sz="2400" dirty="0" smtClean="0"/>
              <a:t>service.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5507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References-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Behrouz A. </a:t>
            </a:r>
            <a:r>
              <a:rPr lang="en-IN" dirty="0" err="1"/>
              <a:t>Forouzan</a:t>
            </a:r>
            <a:r>
              <a:rPr lang="en-IN" dirty="0"/>
              <a:t>, “Cryptography and Network Security”, McGraw-Hill publication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r>
              <a:rPr lang="en-IN" dirty="0"/>
              <a:t>William Stallings , “Cryptography and Network Security: Principles and Standards”, Prentice Hall India.</a:t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01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287" y="3018173"/>
            <a:ext cx="10515600" cy="1325563"/>
          </a:xfrm>
        </p:spPr>
        <p:txBody>
          <a:bodyPr/>
          <a:lstStyle/>
          <a:p>
            <a:pPr algn="ctr"/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1190</Words>
  <Application>Microsoft Office PowerPoint</Application>
  <PresentationFormat>Custom</PresentationFormat>
  <Paragraphs>157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Outline</vt:lpstr>
      <vt:lpstr>Firewall</vt:lpstr>
      <vt:lpstr>Introduction</vt:lpstr>
      <vt:lpstr>PowerPoint Presentation</vt:lpstr>
      <vt:lpstr>Hardware vs. Software Firewalls</vt:lpstr>
      <vt:lpstr>Firewall Design Principles </vt:lpstr>
      <vt:lpstr>Firewall Characteristics </vt:lpstr>
      <vt:lpstr>Firewall Characteristics </vt:lpstr>
      <vt:lpstr> What Firewalls Do  </vt:lpstr>
      <vt:lpstr>PowerPoint Presentation</vt:lpstr>
      <vt:lpstr>PowerPoint Presentation</vt:lpstr>
      <vt:lpstr>PowerPoint Presentation</vt:lpstr>
      <vt:lpstr>What Firewalls Cannot Do </vt:lpstr>
      <vt:lpstr>Types of Firewalls </vt:lpstr>
      <vt:lpstr>Packet Filtering Firewall</vt:lpstr>
      <vt:lpstr>PowerPoint Presentation</vt:lpstr>
      <vt:lpstr>PowerPoint Presentation</vt:lpstr>
      <vt:lpstr>PowerPoint Presentation</vt:lpstr>
      <vt:lpstr>PowerPoint Presentation</vt:lpstr>
      <vt:lpstr>Circuit-level Gateway </vt:lpstr>
      <vt:lpstr>PowerPoint Presentation</vt:lpstr>
      <vt:lpstr>PowerPoint Presentation</vt:lpstr>
      <vt:lpstr>Application-level Gateway </vt:lpstr>
      <vt:lpstr>Advantages-</vt:lpstr>
      <vt:lpstr>Disadvantages-</vt:lpstr>
      <vt:lpstr>References-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Ajeet kumar singh</dc:creator>
  <cp:lastModifiedBy>JKalunga</cp:lastModifiedBy>
  <cp:revision>61</cp:revision>
  <dcterms:created xsi:type="dcterms:W3CDTF">2015-11-16T14:11:59Z</dcterms:created>
  <dcterms:modified xsi:type="dcterms:W3CDTF">2026-05-14T21:33:12Z</dcterms:modified>
</cp:coreProperties>
</file>