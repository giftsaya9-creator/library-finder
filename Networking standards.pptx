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816" r:id="rId2"/>
  </p:sldMasterIdLst>
  <p:notesMasterIdLst>
    <p:notesMasterId r:id="rId21"/>
  </p:notesMasterIdLst>
  <p:handoutMasterIdLst>
    <p:handoutMasterId r:id="rId22"/>
  </p:handoutMasterIdLst>
  <p:sldIdLst>
    <p:sldId id="316" r:id="rId3"/>
    <p:sldId id="293" r:id="rId4"/>
    <p:sldId id="317" r:id="rId5"/>
    <p:sldId id="318" r:id="rId6"/>
    <p:sldId id="280" r:id="rId7"/>
    <p:sldId id="302" r:id="rId8"/>
    <p:sldId id="303" r:id="rId9"/>
    <p:sldId id="304" r:id="rId10"/>
    <p:sldId id="258" r:id="rId11"/>
    <p:sldId id="305" r:id="rId12"/>
    <p:sldId id="306" r:id="rId13"/>
    <p:sldId id="307" r:id="rId14"/>
    <p:sldId id="308" r:id="rId15"/>
    <p:sldId id="310" r:id="rId16"/>
    <p:sldId id="311" r:id="rId17"/>
    <p:sldId id="312" r:id="rId18"/>
    <p:sldId id="313" r:id="rId19"/>
    <p:sldId id="315" r:id="rId20"/>
  </p:sldIdLst>
  <p:sldSz cx="9144000" cy="6858000" type="screen4x3"/>
  <p:notesSz cx="6797675" cy="99298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atin typeface="Arial" pitchFamily="34" charset="0"/>
              </a:defRPr>
            </a:lvl1pPr>
          </a:lstStyle>
          <a:p>
            <a:pPr>
              <a:defRPr/>
            </a:pPr>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atin typeface="Arial" pitchFamily="34" charset="0"/>
              </a:defRPr>
            </a:lvl1pPr>
          </a:lstStyle>
          <a:p>
            <a:pPr>
              <a:defRPr/>
            </a:pPr>
            <a:fld id="{F23A3E67-6B20-47CA-9CF6-39F5BA1EE195}" type="datetimeFigureOut">
              <a:rPr lang="en-US"/>
              <a:pPr>
                <a:defRPr/>
              </a:pPr>
              <a:t>4/16/2026</a:t>
            </a:fld>
            <a:endParaRPr lang="en-US"/>
          </a:p>
        </p:txBody>
      </p:sp>
      <p:sp>
        <p:nvSpPr>
          <p:cNvPr id="4" name="Footer Placeholder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atin typeface="Arial" pitchFamily="34" charset="0"/>
              </a:defRPr>
            </a:lvl1pPr>
          </a:lstStyle>
          <a:p>
            <a:pPr>
              <a:defRPr/>
            </a:pPr>
            <a:endParaRPr lang="en-US"/>
          </a:p>
        </p:txBody>
      </p:sp>
      <p:sp>
        <p:nvSpPr>
          <p:cNvPr id="5" name="Slide Number Placeholder 4"/>
          <p:cNvSpPr>
            <a:spLocks noGrp="1"/>
          </p:cNvSpPr>
          <p:nvPr>
            <p:ph type="sldNum" sz="quarter" idx="3"/>
          </p:nvPr>
        </p:nvSpPr>
        <p:spPr>
          <a:xfrm>
            <a:off x="3849688" y="9431338"/>
            <a:ext cx="2946400" cy="496887"/>
          </a:xfrm>
          <a:prstGeom prst="rect">
            <a:avLst/>
          </a:prstGeom>
        </p:spPr>
        <p:txBody>
          <a:bodyPr vert="horz" lIns="91440" tIns="45720" rIns="91440" bIns="45720" rtlCol="0" anchor="b"/>
          <a:lstStyle>
            <a:lvl1pPr algn="r">
              <a:defRPr sz="1200">
                <a:latin typeface="Arial" pitchFamily="34" charset="0"/>
              </a:defRPr>
            </a:lvl1pPr>
          </a:lstStyle>
          <a:p>
            <a:pPr>
              <a:defRPr/>
            </a:pPr>
            <a:fld id="{0EE26887-8766-4878-B73D-F18972EBB270}" type="slidenum">
              <a:rPr lang="en-US"/>
              <a:pPr>
                <a:defRPr/>
              </a:pPr>
              <a:t>‹#›</a:t>
            </a:fld>
            <a:endParaRPr lang="en-US"/>
          </a:p>
        </p:txBody>
      </p:sp>
    </p:spTree>
    <p:extLst>
      <p:ext uri="{BB962C8B-B14F-4D97-AF65-F5344CB8AC3E}">
        <p14:creationId xmlns:p14="http://schemas.microsoft.com/office/powerpoint/2010/main" val="2247198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11267"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27652" name="Rectangle 4"/>
          <p:cNvSpPr>
            <a:spLocks noGrp="1" noRot="1" noChangeAspect="1" noChangeArrowheads="1" noTextEdit="1"/>
          </p:cNvSpPr>
          <p:nvPr>
            <p:ph type="sldImg" idx="2"/>
          </p:nvPr>
        </p:nvSpPr>
        <p:spPr bwMode="auto">
          <a:xfrm>
            <a:off x="915988" y="744538"/>
            <a:ext cx="4965700" cy="3724275"/>
          </a:xfrm>
          <a:prstGeom prst="rect">
            <a:avLst/>
          </a:prstGeom>
          <a:noFill/>
          <a:ln w="9525">
            <a:solidFill>
              <a:srgbClr val="000000"/>
            </a:solidFill>
            <a:miter lim="800000"/>
            <a:headEnd/>
            <a:tailEnd/>
          </a:ln>
        </p:spPr>
      </p:sp>
      <p:sp>
        <p:nvSpPr>
          <p:cNvPr id="11269" name="Rectangle 5"/>
          <p:cNvSpPr>
            <a:spLocks noGrp="1" noChangeArrowheads="1"/>
          </p:cNvSpPr>
          <p:nvPr>
            <p:ph type="body" sz="quarter" idx="3"/>
          </p:nvPr>
        </p:nvSpPr>
        <p:spPr bwMode="auto">
          <a:xfrm>
            <a:off x="679450" y="4716463"/>
            <a:ext cx="5438775" cy="44688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11271" name="Rectangle 7"/>
          <p:cNvSpPr>
            <a:spLocks noGrp="1" noChangeArrowheads="1"/>
          </p:cNvSpPr>
          <p:nvPr>
            <p:ph type="sldNum" sz="quarter" idx="5"/>
          </p:nvPr>
        </p:nvSpPr>
        <p:spPr bwMode="auto">
          <a:xfrm>
            <a:off x="3849688"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F95B96ED-7DE1-46A7-A628-3AF708A482A7}" type="slidenum">
              <a:rPr lang="en-US"/>
              <a:pPr>
                <a:defRPr/>
              </a:pPr>
              <a:t>‹#›</a:t>
            </a:fld>
            <a:endParaRPr lang="en-US"/>
          </a:p>
        </p:txBody>
      </p:sp>
    </p:spTree>
    <p:extLst>
      <p:ext uri="{BB962C8B-B14F-4D97-AF65-F5344CB8AC3E}">
        <p14:creationId xmlns:p14="http://schemas.microsoft.com/office/powerpoint/2010/main" val="10470317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p:spPr>
        <p:txBody>
          <a:bodyPr/>
          <a:lstStyle/>
          <a:p>
            <a:pPr marL="0" lvl="2"/>
            <a:r>
              <a:rPr lang="en-US" sz="1800" smtClean="0"/>
              <a:t>A good example of a de facto standard is the “AT” command set used by modems; virtually all modems use it, but this resulted not from an industry group agreeing to adopt and deploy it. Rather, it was developed unilaterally by Hayes, the pioneering modem company, and then adopted by virtually every other modem maker until it became a standard.</a:t>
            </a:r>
          </a:p>
          <a:p>
            <a:endParaRPr lang="en-US" smtClean="0"/>
          </a:p>
        </p:txBody>
      </p:sp>
      <p:sp>
        <p:nvSpPr>
          <p:cNvPr id="28676" name="Slide Number Placeholder 3"/>
          <p:cNvSpPr>
            <a:spLocks noGrp="1"/>
          </p:cNvSpPr>
          <p:nvPr>
            <p:ph type="sldNum" sz="quarter" idx="5"/>
          </p:nvPr>
        </p:nvSpPr>
        <p:spPr>
          <a:noFill/>
        </p:spPr>
        <p:txBody>
          <a:bodyPr/>
          <a:lstStyle/>
          <a:p>
            <a:fld id="{2CAE0380-D827-4B17-9AAB-65AB3DEB9349}" type="slidenum">
              <a:rPr lang="en-US" smtClean="0"/>
              <a:pPr/>
              <a:t>8</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0"/>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11"/>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12"/>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14"/>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smtClean="0"/>
              <a:t>Click to edit Master title style</a:t>
            </a:r>
            <a:endParaRPr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0" name="Date Placeholder 27"/>
          <p:cNvSpPr>
            <a:spLocks noGrp="1"/>
          </p:cNvSpPr>
          <p:nvPr>
            <p:ph type="dt" sz="half" idx="10"/>
          </p:nvPr>
        </p:nvSpPr>
        <p:spPr>
          <a:xfrm>
            <a:off x="6400800" y="6354763"/>
            <a:ext cx="2286000" cy="366712"/>
          </a:xfrm>
        </p:spPr>
        <p:txBody>
          <a:bodyPr/>
          <a:lstStyle>
            <a:lvl1pPr>
              <a:defRPr sz="1400"/>
            </a:lvl1pPr>
          </a:lstStyle>
          <a:p>
            <a:pPr>
              <a:defRPr/>
            </a:pPr>
            <a:endParaRPr lang="en-US" altLang="en-US"/>
          </a:p>
        </p:txBody>
      </p:sp>
      <p:sp>
        <p:nvSpPr>
          <p:cNvPr id="11" name="Footer Placeholder 16"/>
          <p:cNvSpPr>
            <a:spLocks noGrp="1"/>
          </p:cNvSpPr>
          <p:nvPr>
            <p:ph type="ftr" sz="quarter" idx="11"/>
          </p:nvPr>
        </p:nvSpPr>
        <p:spPr>
          <a:xfrm>
            <a:off x="2898775" y="6354763"/>
            <a:ext cx="3475038" cy="366712"/>
          </a:xfrm>
        </p:spPr>
        <p:txBody>
          <a:bodyPr/>
          <a:lstStyle>
            <a:lvl1pPr>
              <a:defRPr/>
            </a:lvl1pPr>
          </a:lstStyle>
          <a:p>
            <a:pPr>
              <a:defRPr/>
            </a:pPr>
            <a:endParaRPr lang="en-US" altLang="en-US"/>
          </a:p>
        </p:txBody>
      </p:sp>
      <p:sp>
        <p:nvSpPr>
          <p:cNvPr id="12" name="Slide Number Placeholder 28"/>
          <p:cNvSpPr>
            <a:spLocks noGrp="1"/>
          </p:cNvSpPr>
          <p:nvPr>
            <p:ph type="sldNum" sz="quarter" idx="12"/>
          </p:nvPr>
        </p:nvSpPr>
        <p:spPr>
          <a:xfrm>
            <a:off x="1216025" y="6354763"/>
            <a:ext cx="1219200" cy="366712"/>
          </a:xfrm>
        </p:spPr>
        <p:txBody>
          <a:bodyPr/>
          <a:lstStyle>
            <a:lvl1pPr>
              <a:defRPr/>
            </a:lvl1pPr>
          </a:lstStyle>
          <a:p>
            <a:pPr>
              <a:defRPr/>
            </a:pPr>
            <a:fld id="{4E5498D8-CCB3-45E8-9DAD-DFCCEED03E9E}"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1219200"/>
            <a:ext cx="8229600"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ltLang="en-US"/>
          </a:p>
        </p:txBody>
      </p:sp>
      <p:sp>
        <p:nvSpPr>
          <p:cNvPr id="5" name="Footer Placeholder 2"/>
          <p:cNvSpPr>
            <a:spLocks noGrp="1"/>
          </p:cNvSpPr>
          <p:nvPr>
            <p:ph type="ftr" sz="quarter" idx="11"/>
          </p:nvPr>
        </p:nvSpPr>
        <p:spPr/>
        <p:txBody>
          <a:bodyPr/>
          <a:lstStyle>
            <a:lvl1pPr>
              <a:defRPr/>
            </a:lvl1pPr>
          </a:lstStyle>
          <a:p>
            <a:pPr>
              <a:defRPr/>
            </a:pPr>
            <a:endParaRPr lang="en-US" altLang="en-US"/>
          </a:p>
        </p:txBody>
      </p:sp>
      <p:sp>
        <p:nvSpPr>
          <p:cNvPr id="6" name="Slide Number Placeholder 22"/>
          <p:cNvSpPr>
            <a:spLocks noGrp="1"/>
          </p:cNvSpPr>
          <p:nvPr>
            <p:ph type="sldNum" sz="quarter" idx="12"/>
          </p:nvPr>
        </p:nvSpPr>
        <p:spPr/>
        <p:txBody>
          <a:bodyPr/>
          <a:lstStyle>
            <a:lvl1pPr>
              <a:defRPr/>
            </a:lvl1pPr>
          </a:lstStyle>
          <a:p>
            <a:pPr>
              <a:defRPr/>
            </a:pPr>
            <a:fld id="{35EAF107-F13E-4DCE-978D-DA1268ADD838}"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10"/>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11"/>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6" name="Date Placeholder 3"/>
          <p:cNvSpPr>
            <a:spLocks noGrp="1"/>
          </p:cNvSpPr>
          <p:nvPr>
            <p:ph type="dt" sz="half" idx="10"/>
          </p:nvPr>
        </p:nvSpPr>
        <p:spPr>
          <a:xfrm>
            <a:off x="6400800" y="6354763"/>
            <a:ext cx="2286000" cy="366712"/>
          </a:xfrm>
        </p:spPr>
        <p:txBody>
          <a:bodyPr/>
          <a:lstStyle>
            <a:lvl1pPr>
              <a:defRPr/>
            </a:lvl1pPr>
          </a:lstStyle>
          <a:p>
            <a:pPr>
              <a:defRPr/>
            </a:pPr>
            <a:endParaRPr lang="en-US" altLang="en-US"/>
          </a:p>
        </p:txBody>
      </p:sp>
      <p:sp>
        <p:nvSpPr>
          <p:cNvPr id="7" name="Footer Placeholder 4"/>
          <p:cNvSpPr>
            <a:spLocks noGrp="1"/>
          </p:cNvSpPr>
          <p:nvPr>
            <p:ph type="ftr" sz="quarter" idx="11"/>
          </p:nvPr>
        </p:nvSpPr>
        <p:spPr>
          <a:xfrm>
            <a:off x="2898775" y="6354763"/>
            <a:ext cx="3475038" cy="366712"/>
          </a:xfrm>
        </p:spPr>
        <p:txBody>
          <a:bodyPr/>
          <a:lstStyle>
            <a:lvl1pPr>
              <a:defRPr/>
            </a:lvl1pPr>
          </a:lstStyle>
          <a:p>
            <a:pPr>
              <a:defRPr/>
            </a:pPr>
            <a:endParaRPr lang="en-US" altLang="en-US"/>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pPr>
              <a:defRPr/>
            </a:pPr>
            <a:fld id="{33E47F24-5B19-436A-A199-DFF94D1F0A5D}"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smtClean="0"/>
              <a:t>Click to edit Master title style</a:t>
            </a:r>
            <a:endParaRPr lang="en-US"/>
          </a:p>
        </p:txBody>
      </p:sp>
      <p:sp>
        <p:nvSpPr>
          <p:cNvPr id="9" name="Content Placeholder 8"/>
          <p:cNvSpPr>
            <a:spLocks noGrp="1"/>
          </p:cNvSpPr>
          <p:nvPr>
            <p:ph sz="quarter" idx="1"/>
          </p:nvPr>
        </p:nvSpPr>
        <p:spPr>
          <a:xfrm>
            <a:off x="457200" y="1219200"/>
            <a:ext cx="4041648"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632198" y="1216152"/>
            <a:ext cx="4041648"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ltLang="en-US"/>
          </a:p>
        </p:txBody>
      </p:sp>
      <p:sp>
        <p:nvSpPr>
          <p:cNvPr id="6" name="Footer Placeholder 2"/>
          <p:cNvSpPr>
            <a:spLocks noGrp="1"/>
          </p:cNvSpPr>
          <p:nvPr>
            <p:ph type="ftr" sz="quarter" idx="11"/>
          </p:nvPr>
        </p:nvSpPr>
        <p:spPr/>
        <p:txBody>
          <a:bodyPr/>
          <a:lstStyle>
            <a:lvl1pPr>
              <a:defRPr/>
            </a:lvl1pPr>
          </a:lstStyle>
          <a:p>
            <a:pPr>
              <a:defRPr/>
            </a:pPr>
            <a:endParaRPr lang="en-US" altLang="en-US"/>
          </a:p>
        </p:txBody>
      </p:sp>
      <p:sp>
        <p:nvSpPr>
          <p:cNvPr id="7" name="Slide Number Placeholder 22"/>
          <p:cNvSpPr>
            <a:spLocks noGrp="1"/>
          </p:cNvSpPr>
          <p:nvPr>
            <p:ph type="sldNum" sz="quarter" idx="12"/>
          </p:nvPr>
        </p:nvSpPr>
        <p:spPr/>
        <p:txBody>
          <a:bodyPr/>
          <a:lstStyle>
            <a:lvl1pPr>
              <a:defRPr/>
            </a:lvl1pPr>
          </a:lstStyle>
          <a:p>
            <a:pPr>
              <a:defRPr/>
            </a:pPr>
            <a:fld id="{C4596DE2-3E04-4323-8AFA-54D783A4205A}"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648200" y="2133600"/>
            <a:ext cx="40386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endParaRPr lang="en-US" altLang="en-US"/>
          </a:p>
        </p:txBody>
      </p:sp>
      <p:sp>
        <p:nvSpPr>
          <p:cNvPr id="8" name="Footer Placeholder 2"/>
          <p:cNvSpPr>
            <a:spLocks noGrp="1"/>
          </p:cNvSpPr>
          <p:nvPr>
            <p:ph type="ftr" sz="quarter" idx="11"/>
          </p:nvPr>
        </p:nvSpPr>
        <p:spPr/>
        <p:txBody>
          <a:bodyPr/>
          <a:lstStyle>
            <a:lvl1pPr>
              <a:defRPr/>
            </a:lvl1pPr>
          </a:lstStyle>
          <a:p>
            <a:pPr>
              <a:defRPr/>
            </a:pPr>
            <a:endParaRPr lang="en-US" altLang="en-US"/>
          </a:p>
        </p:txBody>
      </p:sp>
      <p:sp>
        <p:nvSpPr>
          <p:cNvPr id="9" name="Slide Number Placeholder 22"/>
          <p:cNvSpPr>
            <a:spLocks noGrp="1"/>
          </p:cNvSpPr>
          <p:nvPr>
            <p:ph type="sldNum" sz="quarter" idx="12"/>
          </p:nvPr>
        </p:nvSpPr>
        <p:spPr/>
        <p:txBody>
          <a:bodyPr/>
          <a:lstStyle>
            <a:lvl1pPr>
              <a:defRPr/>
            </a:lvl1pPr>
          </a:lstStyle>
          <a:p>
            <a:pPr>
              <a:defRPr/>
            </a:pPr>
            <a:fld id="{5C69CFDD-888F-41D8-8E4D-49D275203907}"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10"/>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28600"/>
            <a:ext cx="8229600" cy="914400"/>
          </a:xfrm>
        </p:spPr>
        <p:txBody>
          <a:bodyPr/>
          <a:lstStyle/>
          <a:p>
            <a:r>
              <a:rPr lang="en-US" smtClean="0"/>
              <a:t>Click to edit Master title style</a:t>
            </a:r>
            <a:endParaRPr lang="en-US"/>
          </a:p>
        </p:txBody>
      </p:sp>
      <p:sp>
        <p:nvSpPr>
          <p:cNvPr id="4" name="Date Placeholder 2"/>
          <p:cNvSpPr>
            <a:spLocks noGrp="1"/>
          </p:cNvSpPr>
          <p:nvPr>
            <p:ph type="dt" sz="half" idx="10"/>
          </p:nvPr>
        </p:nvSpPr>
        <p:spPr/>
        <p:txBody>
          <a:bodyPr/>
          <a:lstStyle>
            <a:lvl1pPr>
              <a:defRPr/>
            </a:lvl1pPr>
          </a:lstStyle>
          <a:p>
            <a:pPr>
              <a:defRPr/>
            </a:pPr>
            <a:endParaRPr lang="en-US" altLang="en-US"/>
          </a:p>
        </p:txBody>
      </p:sp>
      <p:sp>
        <p:nvSpPr>
          <p:cNvPr id="5" name="Footer Placeholder 3"/>
          <p:cNvSpPr>
            <a:spLocks noGrp="1"/>
          </p:cNvSpPr>
          <p:nvPr>
            <p:ph type="ftr" sz="quarter" idx="11"/>
          </p:nvPr>
        </p:nvSpPr>
        <p:spPr/>
        <p:txBody>
          <a:bodyPr/>
          <a:lstStyle>
            <a:lvl1pPr>
              <a:defRPr/>
            </a:lvl1pPr>
          </a:lstStyle>
          <a:p>
            <a:pPr>
              <a:defRPr/>
            </a:pPr>
            <a:endParaRPr lang="en-US" altLang="en-US"/>
          </a:p>
        </p:txBody>
      </p:sp>
      <p:sp>
        <p:nvSpPr>
          <p:cNvPr id="6" name="Slide Number Placeholder 4"/>
          <p:cNvSpPr>
            <a:spLocks noGrp="1"/>
          </p:cNvSpPr>
          <p:nvPr>
            <p:ph type="sldNum" sz="quarter" idx="12"/>
          </p:nvPr>
        </p:nvSpPr>
        <p:spPr/>
        <p:txBody>
          <a:bodyPr/>
          <a:lstStyle>
            <a:lvl1pPr>
              <a:defRPr/>
            </a:lvl1pPr>
          </a:lstStyle>
          <a:p>
            <a:pPr>
              <a:defRPr/>
            </a:pPr>
            <a:fld id="{48067977-93A5-4334-92B0-0C04D70D9B03}"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3" name="Isosceles Triangle 11"/>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p:cNvSpPr>
            <a:spLocks noGrp="1"/>
          </p:cNvSpPr>
          <p:nvPr>
            <p:ph type="dt" sz="half" idx="10"/>
          </p:nvPr>
        </p:nvSpPr>
        <p:spPr/>
        <p:txBody>
          <a:bodyPr/>
          <a:lstStyle>
            <a:lvl1pPr>
              <a:defRPr/>
            </a:lvl1pPr>
          </a:lstStyle>
          <a:p>
            <a:pPr>
              <a:defRPr/>
            </a:pPr>
            <a:endParaRPr lang="en-US" altLang="en-US"/>
          </a:p>
        </p:txBody>
      </p:sp>
      <p:sp>
        <p:nvSpPr>
          <p:cNvPr id="5" name="Footer Placeholder 2"/>
          <p:cNvSpPr>
            <a:spLocks noGrp="1"/>
          </p:cNvSpPr>
          <p:nvPr>
            <p:ph type="ftr" sz="quarter" idx="11"/>
          </p:nvPr>
        </p:nvSpPr>
        <p:spPr/>
        <p:txBody>
          <a:bodyPr/>
          <a:lstStyle>
            <a:lvl1pPr>
              <a:defRPr/>
            </a:lvl1pPr>
          </a:lstStyle>
          <a:p>
            <a:pPr>
              <a:defRPr/>
            </a:pPr>
            <a:endParaRPr lang="en-US" altLang="en-US"/>
          </a:p>
        </p:txBody>
      </p:sp>
      <p:sp>
        <p:nvSpPr>
          <p:cNvPr id="6" name="Slide Number Placeholder 3"/>
          <p:cNvSpPr>
            <a:spLocks noGrp="1"/>
          </p:cNvSpPr>
          <p:nvPr>
            <p:ph type="sldNum" sz="quarter" idx="12"/>
          </p:nvPr>
        </p:nvSpPr>
        <p:spPr/>
        <p:txBody>
          <a:bodyPr/>
          <a:lstStyle>
            <a:lvl1pPr>
              <a:defRPr/>
            </a:lvl1pPr>
          </a:lstStyle>
          <a:p>
            <a:pPr>
              <a:defRPr/>
            </a:pPr>
            <a:fld id="{5C04B9F7-1374-4E17-A824-AC1752AF23D9}"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6" name="Straight Connector 11"/>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p>
        </p:txBody>
      </p:sp>
      <p:sp>
        <p:nvSpPr>
          <p:cNvPr id="7" name="Isosceles Triangle 1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smtClean="0"/>
              <a:t>Click to edit Master title style</a:t>
            </a:r>
            <a:endParaRPr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4"/>
          <p:cNvSpPr>
            <a:spLocks noGrp="1"/>
          </p:cNvSpPr>
          <p:nvPr>
            <p:ph type="dt" sz="half" idx="10"/>
          </p:nvPr>
        </p:nvSpPr>
        <p:spPr/>
        <p:txBody>
          <a:bodyPr/>
          <a:lstStyle>
            <a:lvl1pPr>
              <a:defRPr/>
            </a:lvl1pPr>
          </a:lstStyle>
          <a:p>
            <a:pPr>
              <a:defRPr/>
            </a:pPr>
            <a:endParaRPr lang="en-US" altLang="en-US"/>
          </a:p>
        </p:txBody>
      </p:sp>
      <p:sp>
        <p:nvSpPr>
          <p:cNvPr id="9" name="Footer Placeholder 5"/>
          <p:cNvSpPr>
            <a:spLocks noGrp="1"/>
          </p:cNvSpPr>
          <p:nvPr>
            <p:ph type="ftr" sz="quarter" idx="11"/>
          </p:nvPr>
        </p:nvSpPr>
        <p:spPr/>
        <p:txBody>
          <a:bodyPr/>
          <a:lstStyle>
            <a:lvl1pPr>
              <a:defRPr/>
            </a:lvl1pPr>
          </a:lstStyle>
          <a:p>
            <a:pPr>
              <a:defRPr/>
            </a:pPr>
            <a:endParaRPr lang="en-US" altLang="en-US"/>
          </a:p>
        </p:txBody>
      </p:sp>
      <p:sp>
        <p:nvSpPr>
          <p:cNvPr id="10" name="Slide Number Placeholder 6"/>
          <p:cNvSpPr>
            <a:spLocks noGrp="1"/>
          </p:cNvSpPr>
          <p:nvPr>
            <p:ph type="sldNum" sz="quarter" idx="12"/>
          </p:nvPr>
        </p:nvSpPr>
        <p:spPr/>
        <p:txBody>
          <a:bodyPr/>
          <a:lstStyle>
            <a:lvl1pPr>
              <a:defRPr/>
            </a:lvl1pPr>
          </a:lstStyle>
          <a:p>
            <a:pPr>
              <a:defRPr/>
            </a:pPr>
            <a:fld id="{D5755A69-82C7-44C6-8CC4-74A523E702E2}"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6" name="Isosceles Triangle 11"/>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12"/>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ltLang="en-US"/>
          </a:p>
        </p:txBody>
      </p:sp>
      <p:sp>
        <p:nvSpPr>
          <p:cNvPr id="9" name="Footer Placeholder 5"/>
          <p:cNvSpPr>
            <a:spLocks noGrp="1"/>
          </p:cNvSpPr>
          <p:nvPr>
            <p:ph type="ftr" sz="quarter" idx="11"/>
          </p:nvPr>
        </p:nvSpPr>
        <p:spPr/>
        <p:txBody>
          <a:bodyPr/>
          <a:lstStyle>
            <a:lvl1pPr>
              <a:defRPr/>
            </a:lvl1pPr>
          </a:lstStyle>
          <a:p>
            <a:pPr>
              <a:defRPr/>
            </a:pPr>
            <a:endParaRPr lang="en-US" altLang="en-US"/>
          </a:p>
        </p:txBody>
      </p:sp>
      <p:sp>
        <p:nvSpPr>
          <p:cNvPr id="10" name="Slide Number Placeholder 6"/>
          <p:cNvSpPr>
            <a:spLocks noGrp="1"/>
          </p:cNvSpPr>
          <p:nvPr>
            <p:ph type="sldNum" sz="quarter" idx="12"/>
          </p:nvPr>
        </p:nvSpPr>
        <p:spPr/>
        <p:txBody>
          <a:bodyPr/>
          <a:lstStyle>
            <a:lvl1pPr>
              <a:defRPr/>
            </a:lvl1pPr>
          </a:lstStyle>
          <a:p>
            <a:pPr>
              <a:defRPr/>
            </a:pPr>
            <a:fld id="{3A99D04F-37E4-448B-8BD1-BBCEF9CF205B}"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ltLang="en-US"/>
          </a:p>
        </p:txBody>
      </p:sp>
      <p:sp>
        <p:nvSpPr>
          <p:cNvPr id="5" name="Footer Placeholder 2"/>
          <p:cNvSpPr>
            <a:spLocks noGrp="1"/>
          </p:cNvSpPr>
          <p:nvPr>
            <p:ph type="ftr" sz="quarter" idx="11"/>
          </p:nvPr>
        </p:nvSpPr>
        <p:spPr/>
        <p:txBody>
          <a:bodyPr/>
          <a:lstStyle>
            <a:lvl1pPr>
              <a:defRPr/>
            </a:lvl1pPr>
          </a:lstStyle>
          <a:p>
            <a:pPr>
              <a:defRPr/>
            </a:pPr>
            <a:endParaRPr lang="en-US" altLang="en-US"/>
          </a:p>
        </p:txBody>
      </p:sp>
      <p:sp>
        <p:nvSpPr>
          <p:cNvPr id="6" name="Slide Number Placeholder 22"/>
          <p:cNvSpPr>
            <a:spLocks noGrp="1"/>
          </p:cNvSpPr>
          <p:nvPr>
            <p:ph type="sldNum" sz="quarter" idx="12"/>
          </p:nvPr>
        </p:nvSpPr>
        <p:spPr/>
        <p:txBody>
          <a:bodyPr/>
          <a:lstStyle>
            <a:lvl1pPr>
              <a:defRPr/>
            </a:lvl1pPr>
          </a:lstStyle>
          <a:p>
            <a:pPr>
              <a:defRPr/>
            </a:pPr>
            <a:fld id="{1AD531E8-5CA8-47B7-A412-6AA104401553}"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5" name="Isosceles Triangle 11"/>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12"/>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ltLang="en-US"/>
          </a:p>
        </p:txBody>
      </p:sp>
      <p:sp>
        <p:nvSpPr>
          <p:cNvPr id="9" name="Slide Number Placeholder 5"/>
          <p:cNvSpPr>
            <a:spLocks noGrp="1"/>
          </p:cNvSpPr>
          <p:nvPr>
            <p:ph type="sldNum" sz="quarter" idx="12"/>
          </p:nvPr>
        </p:nvSpPr>
        <p:spPr/>
        <p:txBody>
          <a:bodyPr/>
          <a:lstStyle>
            <a:lvl1pPr>
              <a:defRPr/>
            </a:lvl1pPr>
          </a:lstStyle>
          <a:p>
            <a:pPr>
              <a:defRPr/>
            </a:pPr>
            <a:fld id="{A7D82963-CBBA-4373-87FB-9E5C1D20A621}"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4" name="Rectangle 3"/>
          <p:cNvSpPr/>
          <p:nvPr/>
        </p:nvSpPr>
        <p:spPr bwMode="ltGray">
          <a:xfrm>
            <a:off x="0" y="0"/>
            <a:ext cx="9144000" cy="513556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5" name="Rectangle 4"/>
          <p:cNvSpPr/>
          <p:nvPr/>
        </p:nvSpPr>
        <p:spPr bwMode="invGray">
          <a:xfrm>
            <a:off x="0" y="5127625"/>
            <a:ext cx="9144000" cy="460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2" name="Title 1"/>
          <p:cNvSpPr>
            <a:spLocks noGrp="1"/>
          </p:cNvSpPr>
          <p:nvPr>
            <p:ph type="ctrTitle"/>
          </p:nvPr>
        </p:nvSpPr>
        <p:spPr>
          <a:xfrm>
            <a:off x="685800" y="3355848"/>
            <a:ext cx="8077200" cy="1673352"/>
          </a:xfrm>
        </p:spPr>
        <p:txBody>
          <a:bodyPr tIns="0" bIns="0" anchor="t"/>
          <a:lstStyle>
            <a:lvl1pPr algn="l">
              <a:defRPr sz="4700" b="1"/>
            </a:lvl1pPr>
            <a:extLst/>
          </a:lstStyle>
          <a:p>
            <a:r>
              <a:rPr lang="en-US" smtClean="0"/>
              <a:t>Click to edit Master title style</a:t>
            </a:r>
            <a:endParaRPr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lang="en-US" smtClean="0"/>
              <a:t>Click to edit Master subtitle style</a:t>
            </a:r>
            <a:endParaRPr lang="en-US"/>
          </a:p>
        </p:txBody>
      </p:sp>
      <p:sp>
        <p:nvSpPr>
          <p:cNvPr id="6" name="Date Placeholder 3"/>
          <p:cNvSpPr>
            <a:spLocks noGrp="1"/>
          </p:cNvSpPr>
          <p:nvPr>
            <p:ph type="dt" sz="half" idx="10"/>
          </p:nvPr>
        </p:nvSpPr>
        <p:spPr/>
        <p:txBody>
          <a:bodyPr/>
          <a:lstStyle>
            <a:lvl1pPr>
              <a:defRPr/>
            </a:lvl1pPr>
          </a:lstStyle>
          <a:p>
            <a:pPr>
              <a:defRPr/>
            </a:pPr>
            <a:fld id="{F5041DA2-027A-4654-88D1-0EB6259E9E80}" type="datetimeFigureOut">
              <a:rPr lang="en-US">
                <a:solidFill>
                  <a:prstClr val="white">
                    <a:tint val="95000"/>
                  </a:prstClr>
                </a:solidFill>
              </a:rPr>
              <a:pPr>
                <a:defRPr/>
              </a:pPr>
              <a:t>4/16/2026</a:t>
            </a:fld>
            <a:endParaRPr lang="en-US">
              <a:solidFill>
                <a:prstClr val="white">
                  <a:tint val="95000"/>
                </a:prstClr>
              </a:solidFill>
            </a:endParaRPr>
          </a:p>
        </p:txBody>
      </p:sp>
      <p:sp>
        <p:nvSpPr>
          <p:cNvPr id="7" name="Footer Placeholder 4"/>
          <p:cNvSpPr>
            <a:spLocks noGrp="1"/>
          </p:cNvSpPr>
          <p:nvPr>
            <p:ph type="ftr" sz="quarter" idx="11"/>
          </p:nvPr>
        </p:nvSpPr>
        <p:spPr/>
        <p:txBody>
          <a:bodyPr/>
          <a:lstStyle>
            <a:lvl1pPr>
              <a:defRPr/>
            </a:lvl1pPr>
          </a:lstStyle>
          <a:p>
            <a:pPr>
              <a:defRPr/>
            </a:pPr>
            <a:endParaRPr lang="en-US">
              <a:solidFill>
                <a:prstClr val="white">
                  <a:tint val="95000"/>
                </a:prstClr>
              </a:solidFill>
            </a:endParaRPr>
          </a:p>
        </p:txBody>
      </p:sp>
      <p:sp>
        <p:nvSpPr>
          <p:cNvPr id="8" name="Slide Number Placeholder 5"/>
          <p:cNvSpPr>
            <a:spLocks noGrp="1"/>
          </p:cNvSpPr>
          <p:nvPr>
            <p:ph type="sldNum" sz="quarter" idx="12"/>
          </p:nvPr>
        </p:nvSpPr>
        <p:spPr/>
        <p:txBody>
          <a:bodyPr/>
          <a:lstStyle>
            <a:lvl1pPr>
              <a:defRPr/>
            </a:lvl1pPr>
          </a:lstStyle>
          <a:p>
            <a:pPr>
              <a:defRPr/>
            </a:pPr>
            <a:fld id="{1C56656C-3CC1-4EC4-B5F1-038F165E3BC6}" type="slidenum">
              <a:rPr lang="en-US">
                <a:solidFill>
                  <a:prstClr val="white">
                    <a:tint val="95000"/>
                  </a:prstClr>
                </a:solidFill>
              </a:rPr>
              <a:pPr>
                <a:defRPr/>
              </a:pPr>
              <a:t>‹#›</a:t>
            </a:fld>
            <a:endParaRPr lang="en-US">
              <a:solidFill>
                <a:prstClr val="white">
                  <a:tint val="95000"/>
                </a:prstClr>
              </a:solidFill>
            </a:endParaRPr>
          </a:p>
        </p:txBody>
      </p:sp>
    </p:spTree>
    <p:extLst>
      <p:ext uri="{BB962C8B-B14F-4D97-AF65-F5344CB8AC3E}">
        <p14:creationId xmlns:p14="http://schemas.microsoft.com/office/powerpoint/2010/main" val="203515792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9D36194-7B8C-4BF3-A289-8D632626A3D7}" type="datetimeFigureOut">
              <a:rPr lang="en-US">
                <a:solidFill>
                  <a:prstClr val="black">
                    <a:tint val="95000"/>
                  </a:prstClr>
                </a:solidFill>
              </a:rPr>
              <a:pPr>
                <a:defRPr/>
              </a:pPr>
              <a:t>4/16/2026</a:t>
            </a:fld>
            <a:endParaRPr lang="en-US">
              <a:solidFill>
                <a:prstClr val="black">
                  <a:tint val="9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84B4747-F5A1-40C0-81B9-521DD5F98259}"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3971538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4" name="Rectangle 3"/>
          <p:cNvSpPr/>
          <p:nvPr/>
        </p:nvSpPr>
        <p:spPr bwMode="ltGray">
          <a:xfrm>
            <a:off x="0" y="0"/>
            <a:ext cx="9144000" cy="26019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5" name="Rectangle 4"/>
          <p:cNvSpPr/>
          <p:nvPr/>
        </p:nvSpPr>
        <p:spPr bwMode="invGray">
          <a:xfrm>
            <a:off x="0" y="2601913"/>
            <a:ext cx="9144000" cy="460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2" name="Title 1"/>
          <p:cNvSpPr>
            <a:spLocks noGrp="1"/>
          </p:cNvSpPr>
          <p:nvPr>
            <p:ph type="title"/>
          </p:nvPr>
        </p:nvSpPr>
        <p:spPr>
          <a:xfrm>
            <a:off x="749808" y="118872"/>
            <a:ext cx="8013192" cy="1636776"/>
          </a:xfrm>
        </p:spPr>
        <p:txBody>
          <a:bodyPr tIns="0" rIns="91440" bIns="0" anchor="b"/>
          <a:lstStyle>
            <a:lvl1pPr algn="l">
              <a:defRPr sz="47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740664" y="1828800"/>
            <a:ext cx="8022336" cy="68580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lstStyle>
          <a:p>
            <a:pPr>
              <a:defRPr/>
            </a:pPr>
            <a:fld id="{2E9C67FE-07FE-4F4A-B859-B189B30123F5}" type="datetimeFigureOut">
              <a:rPr lang="en-US">
                <a:solidFill>
                  <a:prstClr val="white">
                    <a:tint val="95000"/>
                  </a:prstClr>
                </a:solidFill>
              </a:rPr>
              <a:pPr>
                <a:defRPr/>
              </a:pPr>
              <a:t>4/16/2026</a:t>
            </a:fld>
            <a:endParaRPr lang="en-US">
              <a:solidFill>
                <a:prstClr val="white">
                  <a:tint val="95000"/>
                </a:prstClr>
              </a:solidFill>
            </a:endParaRPr>
          </a:p>
        </p:txBody>
      </p:sp>
      <p:sp>
        <p:nvSpPr>
          <p:cNvPr id="7" name="Footer Placeholder 4"/>
          <p:cNvSpPr>
            <a:spLocks noGrp="1"/>
          </p:cNvSpPr>
          <p:nvPr>
            <p:ph type="ftr" sz="quarter" idx="11"/>
          </p:nvPr>
        </p:nvSpPr>
        <p:spPr/>
        <p:txBody>
          <a:bodyPr/>
          <a:lstStyle>
            <a:lvl1pPr>
              <a:defRPr/>
            </a:lvl1pPr>
          </a:lstStyle>
          <a:p>
            <a:pPr>
              <a:defRPr/>
            </a:pPr>
            <a:endParaRPr lang="en-US">
              <a:solidFill>
                <a:prstClr val="white">
                  <a:tint val="95000"/>
                </a:prstClr>
              </a:solidFill>
            </a:endParaRPr>
          </a:p>
        </p:txBody>
      </p:sp>
      <p:sp>
        <p:nvSpPr>
          <p:cNvPr id="8" name="Slide Number Placeholder 5"/>
          <p:cNvSpPr>
            <a:spLocks noGrp="1"/>
          </p:cNvSpPr>
          <p:nvPr>
            <p:ph type="sldNum" sz="quarter" idx="12"/>
          </p:nvPr>
        </p:nvSpPr>
        <p:spPr/>
        <p:txBody>
          <a:bodyPr/>
          <a:lstStyle>
            <a:lvl1pPr>
              <a:defRPr/>
            </a:lvl1pPr>
          </a:lstStyle>
          <a:p>
            <a:pPr>
              <a:defRPr/>
            </a:pPr>
            <a:fld id="{6D9BE78C-4E47-4BE2-AE98-494AD05CD981}" type="slidenum">
              <a:rPr lang="en-US">
                <a:solidFill>
                  <a:prstClr val="white">
                    <a:tint val="95000"/>
                  </a:prstClr>
                </a:solidFill>
              </a:rPr>
              <a:pPr>
                <a:defRPr/>
              </a:pPr>
              <a:t>‹#›</a:t>
            </a:fld>
            <a:endParaRPr lang="en-US">
              <a:solidFill>
                <a:prstClr val="white">
                  <a:tint val="95000"/>
                </a:prstClr>
              </a:solidFill>
            </a:endParaRPr>
          </a:p>
        </p:txBody>
      </p:sp>
    </p:spTree>
    <p:extLst>
      <p:ext uri="{BB962C8B-B14F-4D97-AF65-F5344CB8AC3E}">
        <p14:creationId xmlns:p14="http://schemas.microsoft.com/office/powerpoint/2010/main" val="108624870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5FA737-A4C8-429A-A2F0-95FC3A305905}" type="datetimeFigureOut">
              <a:rPr lang="en-US">
                <a:solidFill>
                  <a:prstClr val="black">
                    <a:tint val="95000"/>
                  </a:prstClr>
                </a:solidFill>
              </a:rPr>
              <a:pPr>
                <a:defRPr/>
              </a:pPr>
              <a:t>4/16/2026</a:t>
            </a:fld>
            <a:endParaRPr lang="en-US">
              <a:solidFill>
                <a:prstClr val="black">
                  <a:tint val="9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DDBE8D4-4488-4860-BD92-16798EA89A71}"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4203861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5955E653-D775-4C60-9435-65B67A5003F3}" type="datetimeFigureOut">
              <a:rPr lang="en-US">
                <a:solidFill>
                  <a:prstClr val="black">
                    <a:tint val="95000"/>
                  </a:prstClr>
                </a:solidFill>
              </a:rPr>
              <a:pPr>
                <a:defRPr/>
              </a:pPr>
              <a:t>4/16/2026</a:t>
            </a:fld>
            <a:endParaRPr lang="en-US">
              <a:solidFill>
                <a:prstClr val="black">
                  <a:tint val="9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9CD3393-A9B7-4F5D-9CE9-884A1B7F3FF0}"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1234758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1768384E-6544-49E0-802C-7C2A22E3D9B6}" type="datetimeFigureOut">
              <a:rPr lang="en-US">
                <a:solidFill>
                  <a:prstClr val="black">
                    <a:tint val="95000"/>
                  </a:prstClr>
                </a:solidFill>
              </a:rPr>
              <a:pPr>
                <a:defRPr/>
              </a:pPr>
              <a:t>4/16/2026</a:t>
            </a:fld>
            <a:endParaRPr lang="en-US">
              <a:solidFill>
                <a:prstClr val="black">
                  <a:tint val="9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3AC43332-5954-4A2F-8BA8-EAA44D1EFE2C}"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24422189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290B549F-0EFD-4BDF-BADF-5D0CF602AF20}" type="datetimeFigureOut">
              <a:rPr lang="en-US">
                <a:solidFill>
                  <a:prstClr val="black">
                    <a:tint val="95000"/>
                  </a:prstClr>
                </a:solidFill>
              </a:rPr>
              <a:pPr>
                <a:defRPr/>
              </a:pPr>
              <a:t>4/16/2026</a:t>
            </a:fld>
            <a:endParaRPr lang="en-US">
              <a:solidFill>
                <a:prstClr val="black">
                  <a:tint val="95000"/>
                </a:prstClr>
              </a:solidFill>
            </a:endParaRPr>
          </a:p>
        </p:txBody>
      </p:sp>
      <p:sp>
        <p:nvSpPr>
          <p:cNvPr id="3" name="Footer Placeholder 2"/>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4" name="Slide Number Placeholder 3"/>
          <p:cNvSpPr>
            <a:spLocks noGrp="1"/>
          </p:cNvSpPr>
          <p:nvPr>
            <p:ph type="sldNum" sz="quarter" idx="12"/>
          </p:nvPr>
        </p:nvSpPr>
        <p:spPr/>
        <p:txBody>
          <a:bodyPr/>
          <a:lstStyle>
            <a:lvl1pPr>
              <a:defRPr/>
            </a:lvl1pPr>
          </a:lstStyle>
          <a:p>
            <a:pPr>
              <a:defRPr/>
            </a:pPr>
            <a:fld id="{23D9BA41-4F4B-495E-BA58-CFCCFBA93401}"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38146220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6" name="Rectangle 5"/>
          <p:cNvSpPr/>
          <p:nvPr/>
        </p:nvSpPr>
        <p:spPr bwMode="invGray">
          <a:xfrm>
            <a:off x="2855913" y="0"/>
            <a:ext cx="46037"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2" name="Title 1"/>
          <p:cNvSpPr>
            <a:spLocks noGrp="1"/>
          </p:cNvSpPr>
          <p:nvPr>
            <p:ph type="title"/>
          </p:nvPr>
        </p:nvSpPr>
        <p:spPr>
          <a:xfrm>
            <a:off x="167838" y="152400"/>
            <a:ext cx="2523744" cy="978408"/>
          </a:xfrm>
        </p:spPr>
        <p:txBody>
          <a:bodyPr lIns="73152" bIns="0" anchor="b">
            <a:sp3d prstMaterial="matte"/>
          </a:bodyPr>
          <a:lstStyle>
            <a:lvl1pPr algn="l">
              <a:defRPr sz="2000" b="0"/>
            </a:lvl1pPr>
            <a:extLst/>
          </a:lstStyle>
          <a:p>
            <a:r>
              <a:rPr lang="en-US" smtClean="0"/>
              <a:t>Click to edit Master title style</a:t>
            </a:r>
            <a:endParaRPr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smtClean="0"/>
              <a:t>Click to edit Master text styles</a:t>
            </a:r>
          </a:p>
        </p:txBody>
      </p:sp>
      <p:sp>
        <p:nvSpPr>
          <p:cNvPr id="7" name="Date Placeholder 4"/>
          <p:cNvSpPr>
            <a:spLocks noGrp="1"/>
          </p:cNvSpPr>
          <p:nvPr>
            <p:ph type="dt" sz="half" idx="10"/>
          </p:nvPr>
        </p:nvSpPr>
        <p:spPr/>
        <p:txBody>
          <a:bodyPr/>
          <a:lstStyle>
            <a:lvl1pPr>
              <a:defRPr/>
            </a:lvl1pPr>
          </a:lstStyle>
          <a:p>
            <a:pPr>
              <a:defRPr/>
            </a:pPr>
            <a:fld id="{48C412A0-6F31-4EFE-94CD-43D56F7CE647}" type="datetimeFigureOut">
              <a:rPr lang="en-US">
                <a:solidFill>
                  <a:prstClr val="black">
                    <a:tint val="95000"/>
                  </a:prstClr>
                </a:solidFill>
              </a:rPr>
              <a:pPr>
                <a:defRPr/>
              </a:pPr>
              <a:t>4/16/2026</a:t>
            </a:fld>
            <a:endParaRPr lang="en-US">
              <a:solidFill>
                <a:prstClr val="black">
                  <a:tint val="95000"/>
                </a:prstClr>
              </a:solidFill>
            </a:endParaRPr>
          </a:p>
        </p:txBody>
      </p:sp>
      <p:sp>
        <p:nvSpPr>
          <p:cNvPr id="8" name="Footer Placeholder 5"/>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9" name="Slide Number Placeholder 6"/>
          <p:cNvSpPr>
            <a:spLocks noGrp="1"/>
          </p:cNvSpPr>
          <p:nvPr>
            <p:ph type="sldNum" sz="quarter" idx="12"/>
          </p:nvPr>
        </p:nvSpPr>
        <p:spPr/>
        <p:txBody>
          <a:bodyPr/>
          <a:lstStyle>
            <a:lvl1pPr>
              <a:defRPr/>
            </a:lvl1pPr>
          </a:lstStyle>
          <a:p>
            <a:pPr>
              <a:defRPr/>
            </a:pPr>
            <a:fld id="{96F6EA80-4623-422C-847E-69FBFD117424}"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32390970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2855913" y="0"/>
            <a:ext cx="46037"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6" name="Rectangle 5"/>
          <p:cNvSpPr/>
          <p:nvPr/>
        </p:nvSpPr>
        <p:spPr bwMode="invGray">
          <a:xfrm>
            <a:off x="2855913" y="0"/>
            <a:ext cx="46037"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lang="en-US" smtClean="0"/>
              <a:t>Click to edit Master title style</a:t>
            </a:r>
            <a:endParaRPr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smtClean="0"/>
              <a:t>Click to edit Master text styles</a:t>
            </a:r>
          </a:p>
        </p:txBody>
      </p:sp>
      <p:sp>
        <p:nvSpPr>
          <p:cNvPr id="7" name="Date Placeholder 4"/>
          <p:cNvSpPr>
            <a:spLocks noGrp="1"/>
          </p:cNvSpPr>
          <p:nvPr>
            <p:ph type="dt" sz="half" idx="10"/>
          </p:nvPr>
        </p:nvSpPr>
        <p:spPr>
          <a:xfrm>
            <a:off x="165100" y="1169988"/>
            <a:ext cx="2522538" cy="201612"/>
          </a:xfrm>
        </p:spPr>
        <p:txBody>
          <a:bodyPr/>
          <a:lstStyle>
            <a:lvl1pPr>
              <a:defRPr/>
            </a:lvl1pPr>
          </a:lstStyle>
          <a:p>
            <a:pPr>
              <a:defRPr/>
            </a:pPr>
            <a:fld id="{05F2A9D6-15A9-4829-B9B1-545698C12C4D}" type="datetimeFigureOut">
              <a:rPr lang="en-US">
                <a:solidFill>
                  <a:prstClr val="black">
                    <a:tint val="95000"/>
                  </a:prstClr>
                </a:solidFill>
              </a:rPr>
              <a:pPr>
                <a:defRPr/>
              </a:pPr>
              <a:t>4/16/2026</a:t>
            </a:fld>
            <a:endParaRPr lang="en-US">
              <a:solidFill>
                <a:prstClr val="black">
                  <a:tint val="95000"/>
                </a:prstClr>
              </a:solidFill>
            </a:endParaRPr>
          </a:p>
        </p:txBody>
      </p:sp>
      <p:sp>
        <p:nvSpPr>
          <p:cNvPr id="8" name="Footer Placeholder 5"/>
          <p:cNvSpPr>
            <a:spLocks noGrp="1"/>
          </p:cNvSpPr>
          <p:nvPr>
            <p:ph type="ftr" sz="quarter" idx="11"/>
          </p:nvPr>
        </p:nvSpPr>
        <p:spPr>
          <a:xfrm>
            <a:off x="3035300" y="1169988"/>
            <a:ext cx="5194300" cy="201612"/>
          </a:xfrm>
        </p:spPr>
        <p:txBody>
          <a:bodyPr/>
          <a:lstStyle>
            <a:lvl1pPr>
              <a:defRPr>
                <a:solidFill>
                  <a:schemeClr val="bg1">
                    <a:shade val="50000"/>
                  </a:schemeClr>
                </a:solidFill>
              </a:defRPr>
            </a:lvl1pPr>
          </a:lstStyle>
          <a:p>
            <a:pPr>
              <a:defRPr/>
            </a:pPr>
            <a:endParaRPr lang="en-US">
              <a:solidFill>
                <a:prstClr val="white">
                  <a:shade val="50000"/>
                </a:prstClr>
              </a:solidFill>
            </a:endParaRPr>
          </a:p>
        </p:txBody>
      </p:sp>
      <p:sp>
        <p:nvSpPr>
          <p:cNvPr id="9" name="Slide Number Placeholder 6"/>
          <p:cNvSpPr>
            <a:spLocks noGrp="1"/>
          </p:cNvSpPr>
          <p:nvPr>
            <p:ph type="sldNum" sz="quarter" idx="12"/>
          </p:nvPr>
        </p:nvSpPr>
        <p:spPr>
          <a:xfrm>
            <a:off x="8339138" y="1169988"/>
            <a:ext cx="733425" cy="201612"/>
          </a:xfrm>
        </p:spPr>
        <p:txBody>
          <a:bodyPr/>
          <a:lstStyle>
            <a:lvl1pPr>
              <a:defRPr/>
            </a:lvl1pPr>
          </a:lstStyle>
          <a:p>
            <a:pPr>
              <a:defRPr/>
            </a:pPr>
            <a:fld id="{8A616C68-31D9-4FD3-AD61-3E0DDC78C934}"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195108344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03E65DB-4B80-4C92-880A-DFB01FABECD2}" type="datetimeFigureOut">
              <a:rPr lang="en-US">
                <a:solidFill>
                  <a:prstClr val="black">
                    <a:tint val="95000"/>
                  </a:prstClr>
                </a:solidFill>
              </a:rPr>
              <a:pPr>
                <a:defRPr/>
              </a:pPr>
              <a:t>4/16/2026</a:t>
            </a:fld>
            <a:endParaRPr lang="en-US">
              <a:solidFill>
                <a:prstClr val="black">
                  <a:tint val="9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9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5CA6701-A6A9-41C9-A706-CEA4AB51F503}"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3961202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invGray">
          <a:xfrm>
            <a:off x="6599238" y="0"/>
            <a:ext cx="46037"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5" name="Rectangle 4"/>
          <p:cNvSpPr/>
          <p:nvPr/>
        </p:nvSpPr>
        <p:spPr bwMode="ltGray">
          <a:xfrm>
            <a:off x="6648450" y="0"/>
            <a:ext cx="2514600"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2" name="Vertical Title 1"/>
          <p:cNvSpPr>
            <a:spLocks noGrp="1"/>
          </p:cNvSpPr>
          <p:nvPr>
            <p:ph type="title" orient="vert"/>
          </p:nvPr>
        </p:nvSpPr>
        <p:spPr>
          <a:xfrm>
            <a:off x="6781800" y="274640"/>
            <a:ext cx="19050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fld id="{99B9EFD0-71AC-409B-9ED5-C63155A44B2A}" type="datetimeFigureOut">
              <a:rPr lang="en-US">
                <a:solidFill>
                  <a:prstClr val="black">
                    <a:tint val="95000"/>
                  </a:prstClr>
                </a:solidFill>
              </a:rPr>
              <a:pPr>
                <a:defRPr/>
              </a:pPr>
              <a:t>4/16/2026</a:t>
            </a:fld>
            <a:endParaRPr lang="en-US">
              <a:solidFill>
                <a:prstClr val="black">
                  <a:tint val="95000"/>
                </a:prstClr>
              </a:solidFill>
            </a:endParaRPr>
          </a:p>
        </p:txBody>
      </p:sp>
      <p:sp>
        <p:nvSpPr>
          <p:cNvPr id="7" name="Footer Placeholder 4"/>
          <p:cNvSpPr>
            <a:spLocks noGrp="1"/>
          </p:cNvSpPr>
          <p:nvPr>
            <p:ph type="ftr" sz="quarter" idx="11"/>
          </p:nvPr>
        </p:nvSpPr>
        <p:spPr>
          <a:xfrm>
            <a:off x="2640013" y="6376988"/>
            <a:ext cx="3836987" cy="365125"/>
          </a:xfrm>
        </p:spPr>
        <p:txBody>
          <a:bodyPr/>
          <a:lstStyle>
            <a:lvl1pPr>
              <a:defRPr/>
            </a:lvl1pPr>
          </a:lstStyle>
          <a:p>
            <a:pPr>
              <a:defRPr/>
            </a:pPr>
            <a:endParaRPr lang="en-US">
              <a:solidFill>
                <a:prstClr val="black">
                  <a:tint val="95000"/>
                </a:prstClr>
              </a:solidFill>
            </a:endParaRPr>
          </a:p>
        </p:txBody>
      </p:sp>
      <p:sp>
        <p:nvSpPr>
          <p:cNvPr id="8" name="Slide Number Placeholder 5"/>
          <p:cNvSpPr>
            <a:spLocks noGrp="1"/>
          </p:cNvSpPr>
          <p:nvPr>
            <p:ph type="sldNum" sz="quarter" idx="12"/>
          </p:nvPr>
        </p:nvSpPr>
        <p:spPr/>
        <p:txBody>
          <a:bodyPr/>
          <a:lstStyle>
            <a:lvl1pPr>
              <a:defRPr/>
            </a:lvl1pPr>
          </a:lstStyle>
          <a:p>
            <a:pPr>
              <a:defRPr/>
            </a:pPr>
            <a:fld id="{10D50139-9D12-430F-8912-33A1C3366977}"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1180882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7" name="Text Placeholder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latin typeface="Arial" charset="0"/>
              </a:defRPr>
            </a:lvl1pPr>
          </a:lstStyle>
          <a:p>
            <a:pPr>
              <a:defRPr/>
            </a:pPr>
            <a:endParaRPr lang="en-US" altLang="en-US"/>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charset="0"/>
              </a:defRPr>
            </a:lvl1pPr>
          </a:lstStyle>
          <a:p>
            <a:pPr>
              <a:defRPr/>
            </a:pPr>
            <a:endParaRPr lang="en-US" alt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lgn="l" eaLnBrk="1" latinLnBrk="0" hangingPunct="1">
              <a:defRPr kumimoji="0" sz="1400">
                <a:solidFill>
                  <a:schemeClr val="tx2"/>
                </a:solidFill>
                <a:latin typeface="Arial" charset="0"/>
              </a:defRPr>
            </a:lvl1pPr>
          </a:lstStyle>
          <a:p>
            <a:pPr>
              <a:defRPr/>
            </a:pPr>
            <a:fld id="{B92A5508-235E-44F5-A13A-C5F8FA4378A9}" type="slidenum">
              <a:rPr lang="en-US" altLang="en-US"/>
              <a:pPr>
                <a:defRPr/>
              </a:pPr>
              <a:t>‹#›</a:t>
            </a:fld>
            <a:endParaRPr lang="en-US" alt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809" r:id="rId1"/>
    <p:sldLayoutId id="2147483805" r:id="rId2"/>
    <p:sldLayoutId id="2147483810" r:id="rId3"/>
    <p:sldLayoutId id="2147483806" r:id="rId4"/>
    <p:sldLayoutId id="2147483807" r:id="rId5"/>
    <p:sldLayoutId id="2147483811" r:id="rId6"/>
    <p:sldLayoutId id="2147483812" r:id="rId7"/>
    <p:sldLayoutId id="2147483813" r:id="rId8"/>
    <p:sldLayoutId id="2147483814" r:id="rId9"/>
    <p:sldLayoutId id="2147483808" r:id="rId10"/>
    <p:sldLayoutId id="2147483815" r:id="rId11"/>
  </p:sldLayoutIdLst>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6688"/>
            <a:ext cx="9144000" cy="4445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7" name="Rectangle 6"/>
          <p:cNvSpPr/>
          <p:nvPr/>
        </p:nvSpPr>
        <p:spPr bwMode="ltGray">
          <a:xfrm>
            <a:off x="0" y="0"/>
            <a:ext cx="9144000" cy="14335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solidFill>
                <a:prstClr val="white"/>
              </a:solidFill>
            </a:endParaRPr>
          </a:p>
        </p:txBody>
      </p:sp>
      <p:sp>
        <p:nvSpPr>
          <p:cNvPr id="2" name="Title Placeholder 1"/>
          <p:cNvSpPr>
            <a:spLocks noGrp="1"/>
          </p:cNvSpPr>
          <p:nvPr>
            <p:ph type="title"/>
          </p:nvPr>
        </p:nvSpPr>
        <p:spPr>
          <a:xfrm>
            <a:off x="457200" y="152400"/>
            <a:ext cx="8229600" cy="125095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lang="en-US" smtClean="0"/>
              <a:t>Click to edit Master title style</a:t>
            </a:r>
            <a:endParaRPr lang="en-US"/>
          </a:p>
        </p:txBody>
      </p:sp>
      <p:sp>
        <p:nvSpPr>
          <p:cNvPr id="1029" name="Text Placeholder 2"/>
          <p:cNvSpPr>
            <a:spLocks noGrp="1"/>
          </p:cNvSpPr>
          <p:nvPr>
            <p:ph type="body" idx="1"/>
          </p:nvPr>
        </p:nvSpPr>
        <p:spPr bwMode="auto">
          <a:xfrm>
            <a:off x="457200" y="1774825"/>
            <a:ext cx="8229600" cy="4625975"/>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477000"/>
            <a:ext cx="2133600" cy="274638"/>
          </a:xfrm>
          <a:prstGeom prst="rect">
            <a:avLst/>
          </a:prstGeom>
        </p:spPr>
        <p:txBody>
          <a:bodyPr vert="horz" lIns="109728" rIns="45720" bIns="0" rtlCol="0" anchor="b"/>
          <a:lstStyle>
            <a:lvl1pPr algn="l" eaLnBrk="1" fontAlgn="auto" latinLnBrk="0" hangingPunct="1">
              <a:spcBef>
                <a:spcPts val="0"/>
              </a:spcBef>
              <a:spcAft>
                <a:spcPts val="0"/>
              </a:spcAft>
              <a:defRPr kumimoji="0" sz="1200">
                <a:solidFill>
                  <a:schemeClr val="tx1">
                    <a:tint val="95000"/>
                  </a:schemeClr>
                </a:solidFill>
                <a:latin typeface="+mn-lt"/>
                <a:cs typeface="+mn-cs"/>
              </a:defRPr>
            </a:lvl1pPr>
            <a:extLst/>
          </a:lstStyle>
          <a:p>
            <a:pPr>
              <a:defRPr/>
            </a:pPr>
            <a:fld id="{885165E6-9C11-473A-9CC2-A6FE811BF994}" type="datetimeFigureOut">
              <a:rPr lang="en-US">
                <a:solidFill>
                  <a:prstClr val="black">
                    <a:tint val="95000"/>
                  </a:prstClr>
                </a:solidFill>
              </a:rPr>
              <a:pPr>
                <a:defRPr/>
              </a:pPr>
              <a:t>4/16/2026</a:t>
            </a:fld>
            <a:endParaRPr lang="en-US">
              <a:solidFill>
                <a:prstClr val="black">
                  <a:tint val="95000"/>
                </a:prstClr>
              </a:solidFill>
            </a:endParaRPr>
          </a:p>
        </p:txBody>
      </p:sp>
      <p:sp>
        <p:nvSpPr>
          <p:cNvPr id="5" name="Footer Placeholder 4"/>
          <p:cNvSpPr>
            <a:spLocks noGrp="1"/>
          </p:cNvSpPr>
          <p:nvPr>
            <p:ph type="ftr" sz="quarter" idx="3"/>
          </p:nvPr>
        </p:nvSpPr>
        <p:spPr>
          <a:xfrm>
            <a:off x="2640013" y="6477000"/>
            <a:ext cx="5508625" cy="274638"/>
          </a:xfrm>
          <a:prstGeom prst="rect">
            <a:avLst/>
          </a:prstGeom>
        </p:spPr>
        <p:txBody>
          <a:bodyPr vert="horz" lIns="45720" rIns="45720" bIns="0" rtlCol="0" anchor="b"/>
          <a:lstStyle>
            <a:lvl1pPr algn="l" eaLnBrk="1" fontAlgn="auto" latinLnBrk="0" hangingPunct="1">
              <a:spcBef>
                <a:spcPts val="0"/>
              </a:spcBef>
              <a:spcAft>
                <a:spcPts val="0"/>
              </a:spcAft>
              <a:defRPr kumimoji="0" sz="1200">
                <a:solidFill>
                  <a:schemeClr val="tx1">
                    <a:tint val="95000"/>
                  </a:schemeClr>
                </a:solidFill>
                <a:latin typeface="+mn-lt"/>
                <a:cs typeface="+mn-cs"/>
              </a:defRPr>
            </a:lvl1pPr>
            <a:extLst/>
          </a:lstStyle>
          <a:p>
            <a:pPr>
              <a:defRPr/>
            </a:pPr>
            <a:endParaRPr lang="en-US">
              <a:solidFill>
                <a:prstClr val="black">
                  <a:tint val="95000"/>
                </a:prstClr>
              </a:solidFill>
            </a:endParaRPr>
          </a:p>
        </p:txBody>
      </p:sp>
      <p:sp>
        <p:nvSpPr>
          <p:cNvPr id="6" name="Slide Number Placeholder 5"/>
          <p:cNvSpPr>
            <a:spLocks noGrp="1"/>
          </p:cNvSpPr>
          <p:nvPr>
            <p:ph type="sldNum" sz="quarter" idx="4"/>
          </p:nvPr>
        </p:nvSpPr>
        <p:spPr>
          <a:xfrm>
            <a:off x="8204200" y="6477000"/>
            <a:ext cx="733425" cy="274638"/>
          </a:xfrm>
          <a:prstGeom prst="rect">
            <a:avLst/>
          </a:prstGeom>
        </p:spPr>
        <p:txBody>
          <a:bodyPr vert="horz" bIns="0" rtlCol="0" anchor="b"/>
          <a:lstStyle>
            <a:lvl1pPr algn="r" eaLnBrk="1" fontAlgn="auto" latinLnBrk="0" hangingPunct="1">
              <a:spcBef>
                <a:spcPts val="0"/>
              </a:spcBef>
              <a:spcAft>
                <a:spcPts val="0"/>
              </a:spcAft>
              <a:defRPr kumimoji="0" sz="1200">
                <a:solidFill>
                  <a:schemeClr val="tx1">
                    <a:tint val="95000"/>
                  </a:schemeClr>
                </a:solidFill>
                <a:latin typeface="+mn-lt"/>
                <a:cs typeface="+mn-cs"/>
              </a:defRPr>
            </a:lvl1pPr>
            <a:extLst/>
          </a:lstStyle>
          <a:p>
            <a:pPr>
              <a:defRPr/>
            </a:pPr>
            <a:fld id="{E836B418-9BEF-498C-9F6E-F2E1282B5A0E}" type="slidenum">
              <a:rPr lang="en-US">
                <a:solidFill>
                  <a:prstClr val="black">
                    <a:tint val="95000"/>
                  </a:prstClr>
                </a:solidFill>
              </a:rPr>
              <a:pPr>
                <a:defRPr/>
              </a:pPr>
              <a:t>‹#›</a:t>
            </a:fld>
            <a:endParaRPr lang="en-US">
              <a:solidFill>
                <a:prstClr val="black">
                  <a:tint val="95000"/>
                </a:prstClr>
              </a:solidFill>
            </a:endParaRPr>
          </a:p>
        </p:txBody>
      </p:sp>
    </p:spTree>
    <p:extLst>
      <p:ext uri="{BB962C8B-B14F-4D97-AF65-F5344CB8AC3E}">
        <p14:creationId xmlns:p14="http://schemas.microsoft.com/office/powerpoint/2010/main" val="259221461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itchFamily="34" charset="0"/>
        </a:defRPr>
      </a:lvl2pPr>
      <a:lvl3pPr algn="l" rtl="0" eaLnBrk="0" fontAlgn="base" hangingPunct="0">
        <a:spcBef>
          <a:spcPct val="0"/>
        </a:spcBef>
        <a:spcAft>
          <a:spcPct val="0"/>
        </a:spcAft>
        <a:defRPr sz="4500" b="1">
          <a:solidFill>
            <a:srgbClr val="FFC800"/>
          </a:solidFill>
          <a:latin typeface="Corbel" pitchFamily="34" charset="0"/>
        </a:defRPr>
      </a:lvl3pPr>
      <a:lvl4pPr algn="l" rtl="0" eaLnBrk="0" fontAlgn="base" hangingPunct="0">
        <a:spcBef>
          <a:spcPct val="0"/>
        </a:spcBef>
        <a:spcAft>
          <a:spcPct val="0"/>
        </a:spcAft>
        <a:defRPr sz="4500" b="1">
          <a:solidFill>
            <a:srgbClr val="FFC800"/>
          </a:solidFill>
          <a:latin typeface="Corbel" pitchFamily="34" charset="0"/>
        </a:defRPr>
      </a:lvl4pPr>
      <a:lvl5pPr algn="l" rtl="0" eaLnBrk="0" fontAlgn="base" hangingPunct="0">
        <a:spcBef>
          <a:spcPct val="0"/>
        </a:spcBef>
        <a:spcAft>
          <a:spcPct val="0"/>
        </a:spcAft>
        <a:defRPr sz="4500" b="1">
          <a:solidFill>
            <a:srgbClr val="FFC800"/>
          </a:solidFill>
          <a:latin typeface="Corbel" pitchFamily="34" charset="0"/>
        </a:defRPr>
      </a:lvl5pPr>
      <a:lvl6pPr marL="457200" algn="l" rtl="0" fontAlgn="base">
        <a:spcBef>
          <a:spcPct val="0"/>
        </a:spcBef>
        <a:spcAft>
          <a:spcPct val="0"/>
        </a:spcAft>
        <a:defRPr sz="4500" b="1">
          <a:solidFill>
            <a:srgbClr val="FFC800"/>
          </a:solidFill>
          <a:latin typeface="Corbel" pitchFamily="34" charset="0"/>
        </a:defRPr>
      </a:lvl6pPr>
      <a:lvl7pPr marL="914400" algn="l" rtl="0" fontAlgn="base">
        <a:spcBef>
          <a:spcPct val="0"/>
        </a:spcBef>
        <a:spcAft>
          <a:spcPct val="0"/>
        </a:spcAft>
        <a:defRPr sz="4500" b="1">
          <a:solidFill>
            <a:srgbClr val="FFC800"/>
          </a:solidFill>
          <a:latin typeface="Corbel" pitchFamily="34" charset="0"/>
        </a:defRPr>
      </a:lvl7pPr>
      <a:lvl8pPr marL="1371600" algn="l" rtl="0" fontAlgn="base">
        <a:spcBef>
          <a:spcPct val="0"/>
        </a:spcBef>
        <a:spcAft>
          <a:spcPct val="0"/>
        </a:spcAft>
        <a:defRPr sz="4500" b="1">
          <a:solidFill>
            <a:srgbClr val="FFC800"/>
          </a:solidFill>
          <a:latin typeface="Corbel" pitchFamily="34" charset="0"/>
        </a:defRPr>
      </a:lvl8pPr>
      <a:lvl9pPr marL="1828800" algn="l" rtl="0" fontAlgn="base">
        <a:spcBef>
          <a:spcPct val="0"/>
        </a:spcBef>
        <a:spcAft>
          <a:spcPct val="0"/>
        </a:spcAft>
        <a:defRPr sz="4500" b="1">
          <a:solidFill>
            <a:srgbClr val="FFC800"/>
          </a:solidFill>
          <a:latin typeface="Corbel" pitchFamily="34" charset="0"/>
        </a:defRPr>
      </a:lvl9pPr>
      <a:extLst/>
    </p:titleStyle>
    <p:body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ADVANCED TCP-IP</a:t>
            </a:r>
            <a:br>
              <a:rPr lang="en-US" dirty="0" smtClean="0"/>
            </a:br>
            <a:r>
              <a:rPr lang="en-US" dirty="0" smtClean="0"/>
              <a:t>Networking Standards</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685800" y="1905000"/>
            <a:ext cx="7848600" cy="381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prstClr val="white"/>
              </a:solidFill>
              <a:latin typeface="Arial Narrow" panose="020B0606020202030204" pitchFamily="34" charset="0"/>
            </a:endParaRPr>
          </a:p>
          <a:p>
            <a:pPr algn="ctr"/>
            <a:r>
              <a:rPr lang="en-US" sz="4800" dirty="0">
                <a:solidFill>
                  <a:prstClr val="white"/>
                </a:solidFill>
                <a:latin typeface="Arial Narrow" panose="020B0606020202030204" pitchFamily="34" charset="0"/>
              </a:rPr>
              <a:t>Introduction to Network Security &amp; Firewalls</a:t>
            </a:r>
          </a:p>
          <a:p>
            <a:pPr algn="ctr"/>
            <a:r>
              <a:rPr lang="en-US" sz="4800" dirty="0">
                <a:solidFill>
                  <a:prstClr val="white"/>
                </a:solidFill>
                <a:latin typeface="Arial Narrow" panose="020B0606020202030204" pitchFamily="34" charset="0"/>
              </a:rPr>
              <a:t>By </a:t>
            </a:r>
          </a:p>
          <a:p>
            <a:pPr algn="ctr"/>
            <a:r>
              <a:rPr lang="en-US" sz="4800" dirty="0" err="1">
                <a:solidFill>
                  <a:prstClr val="white"/>
                </a:solidFill>
                <a:latin typeface="Arial Narrow" panose="020B0606020202030204" pitchFamily="34" charset="0"/>
              </a:rPr>
              <a:t>Dr.Col</a:t>
            </a:r>
            <a:r>
              <a:rPr lang="en-US" sz="4800" dirty="0">
                <a:solidFill>
                  <a:prstClr val="white"/>
                </a:solidFill>
                <a:latin typeface="Arial Narrow" panose="020B0606020202030204" pitchFamily="34" charset="0"/>
              </a:rPr>
              <a:t> Joseph </a:t>
            </a:r>
            <a:r>
              <a:rPr lang="en-US" sz="4800" dirty="0" err="1">
                <a:solidFill>
                  <a:prstClr val="white"/>
                </a:solidFill>
                <a:latin typeface="Arial Narrow" panose="020B0606020202030204" pitchFamily="34" charset="0"/>
              </a:rPr>
              <a:t>Kalunga</a:t>
            </a:r>
            <a:r>
              <a:rPr lang="en-US" sz="4800" dirty="0">
                <a:solidFill>
                  <a:prstClr val="white"/>
                </a:solidFill>
                <a:latin typeface="Arial Narrow" panose="020B0606020202030204" pitchFamily="34" charset="0"/>
              </a:rPr>
              <a:t> (</a:t>
            </a:r>
            <a:r>
              <a:rPr lang="en-US" sz="4800" dirty="0" err="1" smtClean="0">
                <a:solidFill>
                  <a:prstClr val="white"/>
                </a:solidFill>
                <a:latin typeface="Arial Narrow" panose="020B0606020202030204" pitchFamily="34" charset="0"/>
              </a:rPr>
              <a:t>Ph.D</a:t>
            </a:r>
            <a:r>
              <a:rPr lang="en-US" sz="4800" dirty="0" smtClean="0">
                <a:solidFill>
                  <a:prstClr val="white"/>
                </a:solidFill>
                <a:latin typeface="Arial Narrow" panose="020B0606020202030204" pitchFamily="34" charset="0"/>
              </a:rPr>
              <a:t>, UNZA)</a:t>
            </a:r>
            <a:endParaRPr lang="en-US" sz="4800" dirty="0">
              <a:solidFill>
                <a:prstClr val="white"/>
              </a:solidFill>
              <a:latin typeface="Arial Narrow" panose="020B0606020202030204" pitchFamily="34" charset="0"/>
            </a:endParaRPr>
          </a:p>
          <a:p>
            <a:pPr algn="ctr"/>
            <a:endParaRPr lang="en-US" sz="4800" dirty="0">
              <a:solidFill>
                <a:prstClr val="white"/>
              </a:solidFill>
              <a:latin typeface="Arial Narrow" panose="020B0606020202030204" pitchFamily="34" charset="0"/>
            </a:endParaRPr>
          </a:p>
          <a:p>
            <a:pPr algn="ctr"/>
            <a:r>
              <a:rPr lang="en-US" sz="4800" dirty="0">
                <a:solidFill>
                  <a:prstClr val="white"/>
                </a:solidFill>
                <a:latin typeface="Arial Narrow" panose="020B0606020202030204" pitchFamily="34" charset="0"/>
              </a:rPr>
              <a:t> </a:t>
            </a:r>
          </a:p>
        </p:txBody>
      </p:sp>
    </p:spTree>
    <p:extLst>
      <p:ext uri="{BB962C8B-B14F-4D97-AF65-F5344CB8AC3E}">
        <p14:creationId xmlns:p14="http://schemas.microsoft.com/office/powerpoint/2010/main" val="21261329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smtClean="0">
                <a:latin typeface="Times New Roman" pitchFamily="18" charset="0"/>
              </a:rPr>
              <a:t>What is Network Standard?</a:t>
            </a:r>
            <a:endParaRPr lang="en-US" dirty="0" smtClean="0">
              <a:latin typeface="Times New Roman" pitchFamily="18" charset="0"/>
            </a:endParaRPr>
          </a:p>
        </p:txBody>
      </p:sp>
      <p:sp>
        <p:nvSpPr>
          <p:cNvPr id="11267" name="Rectangle 3"/>
          <p:cNvSpPr>
            <a:spLocks noGrp="1" noChangeArrowheads="1"/>
          </p:cNvSpPr>
          <p:nvPr>
            <p:ph sz="quarter" idx="1"/>
          </p:nvPr>
        </p:nvSpPr>
        <p:spPr>
          <a:xfrm>
            <a:off x="457200" y="1219200"/>
            <a:ext cx="8229600" cy="4937125"/>
          </a:xfrm>
        </p:spPr>
        <p:txBody>
          <a:bodyPr/>
          <a:lstStyle/>
          <a:p>
            <a:pPr eaLnBrk="1" hangingPunct="1">
              <a:buFont typeface="Wingdings" panose="05000000000000000000" pitchFamily="2" charset="2"/>
              <a:buChar char="q"/>
            </a:pPr>
            <a:r>
              <a:rPr lang="en-US" dirty="0"/>
              <a:t>Network Standards </a:t>
            </a:r>
            <a:r>
              <a:rPr lang="en-US" dirty="0" smtClean="0"/>
              <a:t>are </a:t>
            </a:r>
            <a:r>
              <a:rPr lang="en-US" dirty="0"/>
              <a:t>specifications and rules that enable devices from different manufacturers to communicate with each other across a </a:t>
            </a:r>
            <a:r>
              <a:rPr lang="en-US" dirty="0" smtClean="0"/>
              <a:t>network</a:t>
            </a:r>
          </a:p>
          <a:p>
            <a:pPr eaLnBrk="1" hangingPunct="1">
              <a:buFont typeface="Wingdings" panose="05000000000000000000" pitchFamily="2" charset="2"/>
              <a:buChar char="q"/>
            </a:pPr>
            <a:r>
              <a:rPr lang="en-US" dirty="0"/>
              <a:t>These standards ensure compatibility, interoperability, and smooth communication between devices and networks, regardless of the manufacturer</a:t>
            </a:r>
            <a:r>
              <a:rPr lang="en-US" dirty="0" smtClean="0"/>
              <a:t>.</a:t>
            </a:r>
          </a:p>
          <a:p>
            <a:pPr eaLnBrk="1" hangingPunct="1">
              <a:buFont typeface="Wingdings" panose="05000000000000000000" pitchFamily="2" charset="2"/>
              <a:buChar char="q"/>
            </a:pPr>
            <a:r>
              <a:rPr lang="en-US" dirty="0" smtClean="0"/>
              <a:t>Network </a:t>
            </a:r>
            <a:r>
              <a:rPr lang="en-US" dirty="0"/>
              <a:t>Standards are  </a:t>
            </a:r>
            <a:r>
              <a:rPr lang="en-US" b="1" dirty="0"/>
              <a:t>De </a:t>
            </a:r>
            <a:r>
              <a:rPr lang="en-US" b="1" dirty="0" smtClean="0"/>
              <a:t>Facto </a:t>
            </a:r>
            <a:r>
              <a:rPr lang="en-US" dirty="0" smtClean="0"/>
              <a:t>in nature in that they refer to the collection of technologies or </a:t>
            </a:r>
            <a:r>
              <a:rPr lang="en-US" dirty="0"/>
              <a:t>practice that has become the norm due to widespread use and acceptance, even if it has not been officially formalized or legally recognized by a standardization body</a:t>
            </a:r>
            <a:endParaRPr lang="en-US"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latin typeface="Times New Roman" pitchFamily="18" charset="0"/>
              </a:rPr>
              <a:t>Why are standards important?</a:t>
            </a:r>
          </a:p>
        </p:txBody>
      </p:sp>
      <p:sp>
        <p:nvSpPr>
          <p:cNvPr id="11267" name="Rectangle 3"/>
          <p:cNvSpPr>
            <a:spLocks noGrp="1" noChangeArrowheads="1"/>
          </p:cNvSpPr>
          <p:nvPr>
            <p:ph sz="quarter" idx="1"/>
          </p:nvPr>
        </p:nvSpPr>
        <p:spPr>
          <a:xfrm>
            <a:off x="457200" y="1219200"/>
            <a:ext cx="8229600" cy="4937125"/>
          </a:xfrm>
        </p:spPr>
        <p:txBody>
          <a:bodyPr/>
          <a:lstStyle/>
          <a:p>
            <a:pPr eaLnBrk="1" hangingPunct="1">
              <a:buFont typeface="Wingdings" panose="05000000000000000000" pitchFamily="2" charset="2"/>
              <a:buChar char="q"/>
            </a:pPr>
            <a:r>
              <a:rPr lang="en-US" dirty="0"/>
              <a:t>These standards ensure compatibility, interoperability, and smooth communication between devices and networks, regardless of the manufacturer</a:t>
            </a:r>
            <a:r>
              <a:rPr lang="en-US" dirty="0" smtClean="0"/>
              <a:t>.</a:t>
            </a:r>
          </a:p>
          <a:p>
            <a:pPr eaLnBrk="1" hangingPunct="1">
              <a:buFont typeface="Wingdings" panose="05000000000000000000" pitchFamily="2" charset="2"/>
              <a:buChar char="q"/>
            </a:pPr>
            <a:r>
              <a:rPr lang="en-US" dirty="0"/>
              <a:t> </a:t>
            </a:r>
            <a:r>
              <a:rPr lang="en-US" dirty="0" smtClean="0"/>
              <a:t>The </a:t>
            </a:r>
            <a:r>
              <a:rPr lang="en-US" dirty="0" smtClean="0"/>
              <a:t>beauty of standards is that there are so many to choose </a:t>
            </a:r>
            <a:r>
              <a:rPr lang="en-US" dirty="0" smtClean="0"/>
              <a:t>from</a:t>
            </a:r>
            <a:r>
              <a:rPr lang="en-US" dirty="0" smtClean="0"/>
              <a:t>.</a:t>
            </a:r>
          </a:p>
          <a:p>
            <a:pPr eaLnBrk="1" hangingPunct="1">
              <a:buFont typeface="Wingdings" panose="05000000000000000000" pitchFamily="2" charset="2"/>
              <a:buChar char="q"/>
            </a:pPr>
            <a:r>
              <a:rPr lang="en-US" dirty="0" smtClean="0"/>
              <a:t> Standards </a:t>
            </a:r>
            <a:r>
              <a:rPr lang="en-US" dirty="0" smtClean="0"/>
              <a:t>also often differ in terms of the type of standards they are, and how they came about</a:t>
            </a:r>
            <a:r>
              <a:rPr lang="en-US" dirty="0" smtClean="0"/>
              <a:t>.</a:t>
            </a:r>
          </a:p>
          <a:p>
            <a:pPr eaLnBrk="1" hangingPunct="1">
              <a:buFont typeface="Wingdings" panose="05000000000000000000" pitchFamily="2" charset="2"/>
              <a:buChar char="q"/>
            </a:pPr>
            <a:r>
              <a:rPr lang="en-US" b="1" dirty="0" smtClean="0"/>
              <a:t>Types</a:t>
            </a:r>
            <a:r>
              <a:rPr lang="en-US" dirty="0" smtClean="0"/>
              <a:t> </a:t>
            </a:r>
            <a:r>
              <a:rPr lang="en-US" dirty="0" smtClean="0"/>
              <a:t>of standards: </a:t>
            </a:r>
          </a:p>
          <a:p>
            <a:pPr lvl="1" eaLnBrk="1" hangingPunct="1"/>
            <a:r>
              <a:rPr lang="en-US" dirty="0" smtClean="0"/>
              <a:t>Proprietary Standards</a:t>
            </a:r>
          </a:p>
          <a:p>
            <a:pPr lvl="1" eaLnBrk="1" hangingPunct="1"/>
            <a:r>
              <a:rPr lang="en-US" dirty="0" smtClean="0"/>
              <a:t>Open Standards</a:t>
            </a:r>
          </a:p>
          <a:p>
            <a:pPr lvl="1" eaLnBrk="1" hangingPunct="1"/>
            <a:r>
              <a:rPr lang="en-US" dirty="0" smtClean="0"/>
              <a:t>De facto Standards</a:t>
            </a:r>
          </a:p>
          <a:p>
            <a:pPr eaLnBrk="1" hangingPunct="1"/>
            <a:endParaRPr lang="en-US" dirty="0" smtClean="0"/>
          </a:p>
        </p:txBody>
      </p:sp>
    </p:spTree>
    <p:extLst>
      <p:ext uri="{BB962C8B-B14F-4D97-AF65-F5344CB8AC3E}">
        <p14:creationId xmlns:p14="http://schemas.microsoft.com/office/powerpoint/2010/main" val="25154716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52400"/>
            <a:ext cx="8610600" cy="990600"/>
          </a:xfrm>
        </p:spPr>
        <p:txBody>
          <a:bodyPr/>
          <a:lstStyle/>
          <a:p>
            <a:pPr eaLnBrk="1" hangingPunct="1"/>
            <a:r>
              <a:rPr lang="en-US" sz="4800" dirty="0" smtClean="0">
                <a:latin typeface="Times New Roman" pitchFamily="18" charset="0"/>
              </a:rPr>
              <a:t>De Facto and Types of Standards</a:t>
            </a:r>
            <a:endParaRPr lang="en-US" sz="4800" dirty="0" smtClean="0">
              <a:latin typeface="Times New Roman" pitchFamily="18" charset="0"/>
            </a:endParaRPr>
          </a:p>
        </p:txBody>
      </p:sp>
      <p:sp>
        <p:nvSpPr>
          <p:cNvPr id="11267" name="Rectangle 3"/>
          <p:cNvSpPr>
            <a:spLocks noGrp="1" noChangeArrowheads="1"/>
          </p:cNvSpPr>
          <p:nvPr>
            <p:ph sz="quarter" idx="1"/>
          </p:nvPr>
        </p:nvSpPr>
        <p:spPr>
          <a:xfrm>
            <a:off x="457200" y="1447800"/>
            <a:ext cx="8229600" cy="4708525"/>
          </a:xfrm>
        </p:spPr>
        <p:txBody>
          <a:bodyPr/>
          <a:lstStyle/>
          <a:p>
            <a:pPr eaLnBrk="1" hangingPunct="1">
              <a:buFont typeface="Wingdings" panose="05000000000000000000" pitchFamily="2" charset="2"/>
              <a:buChar char="q"/>
            </a:pPr>
            <a:r>
              <a:rPr lang="en-US" dirty="0"/>
              <a:t>A technology or protocol becomes de facto when users, developers, and companies prefer it because it works well, is accessible, or is cost-effective, even if it isn’t officially regulated by a formal standardization body. </a:t>
            </a:r>
            <a:endParaRPr lang="en-US" dirty="0" smtClean="0"/>
          </a:p>
          <a:p>
            <a:pPr eaLnBrk="1" hangingPunct="1">
              <a:buFont typeface="Wingdings" panose="05000000000000000000" pitchFamily="2" charset="2"/>
              <a:buChar char="q"/>
            </a:pPr>
            <a:r>
              <a:rPr lang="en-US" b="1" dirty="0" smtClean="0"/>
              <a:t>Types</a:t>
            </a:r>
            <a:r>
              <a:rPr lang="en-US" dirty="0" smtClean="0"/>
              <a:t> </a:t>
            </a:r>
            <a:r>
              <a:rPr lang="en-US" dirty="0" smtClean="0"/>
              <a:t>of standards: </a:t>
            </a:r>
          </a:p>
          <a:p>
            <a:pPr lvl="1" eaLnBrk="1" hangingPunct="1"/>
            <a:r>
              <a:rPr lang="en-US" dirty="0" smtClean="0"/>
              <a:t>Proprietary </a:t>
            </a:r>
            <a:r>
              <a:rPr lang="en-US" dirty="0" smtClean="0"/>
              <a:t>Standards : owned by a person, company or private organization</a:t>
            </a:r>
            <a:endParaRPr lang="en-US" dirty="0" smtClean="0"/>
          </a:p>
          <a:p>
            <a:pPr lvl="1" eaLnBrk="1" hangingPunct="1"/>
            <a:r>
              <a:rPr lang="en-US" dirty="0" smtClean="0"/>
              <a:t>Open </a:t>
            </a:r>
            <a:r>
              <a:rPr lang="en-US" dirty="0" smtClean="0"/>
              <a:t>Standards: Community owned. </a:t>
            </a:r>
            <a:endParaRPr lang="en-US" dirty="0" smtClean="0"/>
          </a:p>
          <a:p>
            <a:pPr lvl="1" eaLnBrk="1" hangingPunct="1"/>
            <a:r>
              <a:rPr lang="en-US" dirty="0" smtClean="0"/>
              <a:t>De facto </a:t>
            </a:r>
            <a:r>
              <a:rPr lang="en-US" dirty="0" smtClean="0"/>
              <a:t>Standards: users, developer and companies prefer to work for them</a:t>
            </a:r>
            <a:endParaRPr lang="en-US" dirty="0" smtClean="0"/>
          </a:p>
          <a:p>
            <a:pPr eaLnBrk="1" hangingPunct="1"/>
            <a:endParaRPr lang="en-US" dirty="0" smtClean="0"/>
          </a:p>
        </p:txBody>
      </p:sp>
    </p:spTree>
    <p:extLst>
      <p:ext uri="{BB962C8B-B14F-4D97-AF65-F5344CB8AC3E}">
        <p14:creationId xmlns:p14="http://schemas.microsoft.com/office/powerpoint/2010/main" val="40344513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b="1" smtClean="0"/>
              <a:t>Proprietary Standards </a:t>
            </a:r>
            <a:endParaRPr lang="en-US" b="1" smtClean="0">
              <a:latin typeface="Times New Roman" pitchFamily="18" charset="0"/>
            </a:endParaRPr>
          </a:p>
        </p:txBody>
      </p:sp>
      <p:sp>
        <p:nvSpPr>
          <p:cNvPr id="12291" name="Rectangle 3"/>
          <p:cNvSpPr>
            <a:spLocks noGrp="1" noChangeArrowheads="1"/>
          </p:cNvSpPr>
          <p:nvPr>
            <p:ph sz="quarter" idx="1"/>
          </p:nvPr>
        </p:nvSpPr>
        <p:spPr>
          <a:xfrm>
            <a:off x="457200" y="1219200"/>
            <a:ext cx="8229600" cy="4937125"/>
          </a:xfrm>
        </p:spPr>
        <p:txBody>
          <a:bodyPr/>
          <a:lstStyle/>
          <a:p>
            <a:pPr eaLnBrk="1" hangingPunct="1"/>
            <a:r>
              <a:rPr lang="en-US" sz="2400" smtClean="0"/>
              <a:t>In the early days of computing, many people </a:t>
            </a:r>
            <a:r>
              <a:rPr lang="en-US" sz="2400" b="1" smtClean="0"/>
              <a:t>didn't</a:t>
            </a:r>
            <a:r>
              <a:rPr lang="en-US" sz="2400" smtClean="0"/>
              <a:t> </a:t>
            </a:r>
            <a:r>
              <a:rPr lang="en-US" sz="2400" b="1" smtClean="0"/>
              <a:t>understand</a:t>
            </a:r>
            <a:r>
              <a:rPr lang="en-US" sz="2400" smtClean="0"/>
              <a:t> just how important universal </a:t>
            </a:r>
            <a:r>
              <a:rPr lang="en-US" sz="2400" b="1" smtClean="0"/>
              <a:t>standards</a:t>
            </a:r>
            <a:r>
              <a:rPr lang="en-US" sz="2400" smtClean="0"/>
              <a:t> were. </a:t>
            </a:r>
          </a:p>
          <a:p>
            <a:pPr eaLnBrk="1" hangingPunct="1"/>
            <a:r>
              <a:rPr lang="en-US" sz="2400" smtClean="0"/>
              <a:t>Most </a:t>
            </a:r>
            <a:r>
              <a:rPr lang="en-US" sz="2400" b="1" smtClean="0"/>
              <a:t>companies</a:t>
            </a:r>
            <a:r>
              <a:rPr lang="en-US" sz="2400" smtClean="0"/>
              <a:t> were run by skilled </a:t>
            </a:r>
            <a:r>
              <a:rPr lang="en-US" sz="2400" b="1" smtClean="0"/>
              <a:t>inventors</a:t>
            </a:r>
            <a:r>
              <a:rPr lang="en-US" sz="2400" smtClean="0"/>
              <a:t>, who came up with </a:t>
            </a:r>
            <a:r>
              <a:rPr lang="en-US" sz="2400" b="1" smtClean="0"/>
              <a:t>great ideas </a:t>
            </a:r>
            <a:r>
              <a:rPr lang="en-US" sz="2400" smtClean="0"/>
              <a:t>for new </a:t>
            </a:r>
            <a:r>
              <a:rPr lang="en-US" sz="2400" b="1" smtClean="0"/>
              <a:t>technologies</a:t>
            </a:r>
            <a:r>
              <a:rPr lang="en-US" sz="2400" smtClean="0"/>
              <a:t> and </a:t>
            </a:r>
            <a:r>
              <a:rPr lang="en-US" sz="2400" b="1" smtClean="0"/>
              <a:t>weren't</a:t>
            </a:r>
            <a:r>
              <a:rPr lang="en-US" sz="2400" smtClean="0"/>
              <a:t> particularly interested in </a:t>
            </a:r>
            <a:r>
              <a:rPr lang="en-US" sz="2400" b="1" smtClean="0"/>
              <a:t>sharing</a:t>
            </a:r>
            <a:r>
              <a:rPr lang="en-US" sz="2400" smtClean="0"/>
              <a:t> them.</a:t>
            </a:r>
          </a:p>
          <a:p>
            <a:pPr eaLnBrk="1" hangingPunct="1"/>
            <a:r>
              <a:rPr lang="en-US" sz="2400" smtClean="0"/>
              <a:t> It wasn't considered a </a:t>
            </a:r>
            <a:r>
              <a:rPr lang="en-US" sz="2400" b="1" smtClean="0"/>
              <a:t>“smart business move” </a:t>
            </a:r>
            <a:r>
              <a:rPr lang="en-US" sz="2400" smtClean="0"/>
              <a:t>to </a:t>
            </a:r>
            <a:r>
              <a:rPr lang="en-US" sz="2400" b="1" smtClean="0"/>
              <a:t>share</a:t>
            </a:r>
            <a:r>
              <a:rPr lang="en-US" sz="2400" smtClean="0"/>
              <a:t> </a:t>
            </a:r>
            <a:r>
              <a:rPr lang="en-US" sz="2400" b="1" smtClean="0"/>
              <a:t>information</a:t>
            </a:r>
            <a:r>
              <a:rPr lang="en-US" sz="2400" smtClean="0"/>
              <a:t> about new inventions with other companies—the competition! </a:t>
            </a:r>
          </a:p>
          <a:p>
            <a:pPr eaLnBrk="1" hangingPunct="1"/>
            <a:r>
              <a:rPr lang="en-US" sz="2400" smtClean="0"/>
              <a:t>Every </a:t>
            </a:r>
            <a:r>
              <a:rPr lang="en-US" sz="2400" b="1" smtClean="0"/>
              <a:t>company</a:t>
            </a:r>
            <a:r>
              <a:rPr lang="en-US" sz="2400" smtClean="0"/>
              <a:t> believed that </a:t>
            </a:r>
            <a:r>
              <a:rPr lang="en-US" sz="2400" b="1" smtClean="0"/>
              <a:t>standards were important</a:t>
            </a:r>
            <a:r>
              <a:rPr lang="en-US" sz="2400" smtClean="0"/>
              <a:t>, but they thought it was even more important that </a:t>
            </a:r>
            <a:r>
              <a:rPr lang="en-US" sz="2400" b="1" i="1" smtClean="0"/>
              <a:t>they</a:t>
            </a:r>
            <a:r>
              <a:rPr lang="en-US" sz="2400" smtClean="0"/>
              <a:t> be the ones to </a:t>
            </a:r>
            <a:r>
              <a:rPr lang="en-US" sz="2400" b="1" smtClean="0"/>
              <a:t>control</a:t>
            </a:r>
            <a:r>
              <a:rPr lang="en-US" sz="2400" smtClean="0"/>
              <a:t> those standards.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mtClean="0"/>
              <a:t>Open Standards </a:t>
            </a:r>
            <a:endParaRPr lang="en-US" smtClean="0">
              <a:latin typeface="Times New Roman" pitchFamily="18" charset="0"/>
            </a:endParaRPr>
          </a:p>
        </p:txBody>
      </p:sp>
      <p:sp>
        <p:nvSpPr>
          <p:cNvPr id="13315" name="Rectangle 3"/>
          <p:cNvSpPr>
            <a:spLocks noGrp="1" noChangeArrowheads="1"/>
          </p:cNvSpPr>
          <p:nvPr>
            <p:ph sz="quarter" idx="1"/>
          </p:nvPr>
        </p:nvSpPr>
        <p:spPr>
          <a:xfrm>
            <a:off x="457200" y="1219200"/>
            <a:ext cx="8229600" cy="4937125"/>
          </a:xfrm>
        </p:spPr>
        <p:txBody>
          <a:bodyPr/>
          <a:lstStyle/>
          <a:p>
            <a:pPr eaLnBrk="1" hangingPunct="1"/>
            <a:r>
              <a:rPr lang="en-US" sz="2400" smtClean="0"/>
              <a:t>Eventually, </a:t>
            </a:r>
            <a:r>
              <a:rPr lang="en-US" sz="2400" b="1" smtClean="0"/>
              <a:t>companies</a:t>
            </a:r>
            <a:r>
              <a:rPr lang="en-US" sz="2400" smtClean="0"/>
              <a:t> </a:t>
            </a:r>
            <a:r>
              <a:rPr lang="en-US" sz="2400" b="1" smtClean="0"/>
              <a:t>learned</a:t>
            </a:r>
            <a:r>
              <a:rPr lang="en-US" sz="2400" smtClean="0"/>
              <a:t> that they would be </a:t>
            </a:r>
            <a:r>
              <a:rPr lang="en-US" sz="2400" b="1" smtClean="0"/>
              <a:t>better</a:t>
            </a:r>
            <a:r>
              <a:rPr lang="en-US" sz="2400" smtClean="0"/>
              <a:t> </a:t>
            </a:r>
            <a:r>
              <a:rPr lang="en-US" sz="2400" b="1" smtClean="0"/>
              <a:t>to have standards that everyone agreed with</a:t>
            </a:r>
            <a:r>
              <a:rPr lang="en-US" sz="2400" smtClean="0"/>
              <a:t>, instead of constantly fighting with each other. </a:t>
            </a:r>
          </a:p>
          <a:p>
            <a:pPr eaLnBrk="1" hangingPunct="1"/>
            <a:r>
              <a:rPr lang="en-US" sz="2400" smtClean="0"/>
              <a:t>This is particularly </a:t>
            </a:r>
            <a:r>
              <a:rPr lang="en-US" sz="2400" b="1" smtClean="0"/>
              <a:t>true</a:t>
            </a:r>
            <a:r>
              <a:rPr lang="en-US" sz="2400" smtClean="0"/>
              <a:t> in </a:t>
            </a:r>
            <a:r>
              <a:rPr lang="en-US" sz="2400" b="1" smtClean="0"/>
              <a:t>networking</a:t>
            </a:r>
            <a:r>
              <a:rPr lang="en-US" sz="2400" smtClean="0"/>
              <a:t>, where </a:t>
            </a:r>
            <a:r>
              <a:rPr lang="en-US" sz="2400" b="1" smtClean="0"/>
              <a:t>devices</a:t>
            </a:r>
            <a:r>
              <a:rPr lang="en-US" sz="2400" smtClean="0"/>
              <a:t> </a:t>
            </a:r>
            <a:r>
              <a:rPr lang="en-US" sz="2400" b="1" smtClean="0"/>
              <a:t>need</a:t>
            </a:r>
            <a:r>
              <a:rPr lang="en-US" sz="2400" smtClean="0"/>
              <a:t> to </a:t>
            </a:r>
            <a:r>
              <a:rPr lang="en-US" sz="2400" b="1" smtClean="0"/>
              <a:t>talk</a:t>
            </a:r>
            <a:r>
              <a:rPr lang="en-US" sz="2400" smtClean="0"/>
              <a:t> to each other. </a:t>
            </a:r>
          </a:p>
          <a:p>
            <a:pPr eaLnBrk="1" hangingPunct="1"/>
            <a:r>
              <a:rPr lang="en-US" sz="2400" smtClean="0"/>
              <a:t>If many </a:t>
            </a:r>
            <a:r>
              <a:rPr lang="en-US" sz="2400" b="1" smtClean="0"/>
              <a:t>companies</a:t>
            </a:r>
            <a:r>
              <a:rPr lang="en-US" sz="2400" smtClean="0"/>
              <a:t> get together and agree to </a:t>
            </a:r>
            <a:r>
              <a:rPr lang="en-US" sz="2400" b="1" smtClean="0"/>
              <a:t>cooperate</a:t>
            </a:r>
            <a:r>
              <a:rPr lang="en-US" sz="2400" smtClean="0"/>
              <a:t>, they can </a:t>
            </a:r>
            <a:r>
              <a:rPr lang="en-US" sz="2400" b="1" smtClean="0"/>
              <a:t>create an open standard instead </a:t>
            </a:r>
            <a:r>
              <a:rPr lang="en-US" sz="2400" smtClean="0"/>
              <a:t>of a bunch of proprietary ones. </a:t>
            </a:r>
          </a:p>
          <a:p>
            <a:pPr eaLnBrk="1" hangingPunct="1"/>
            <a:r>
              <a:rPr lang="en-US" sz="2400" b="1" smtClean="0"/>
              <a:t>Open</a:t>
            </a:r>
            <a:r>
              <a:rPr lang="en-US" sz="2400" smtClean="0"/>
              <a:t> standards are </a:t>
            </a:r>
            <a:r>
              <a:rPr lang="en-US" sz="2400" b="1" smtClean="0"/>
              <a:t>available</a:t>
            </a:r>
            <a:r>
              <a:rPr lang="en-US" sz="2400" smtClean="0"/>
              <a:t> to any who are interested in using them.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mtClean="0"/>
              <a:t>Open Standards </a:t>
            </a:r>
            <a:endParaRPr lang="en-US" smtClean="0">
              <a:latin typeface="Times New Roman" pitchFamily="18" charset="0"/>
            </a:endParaRPr>
          </a:p>
        </p:txBody>
      </p:sp>
      <p:sp>
        <p:nvSpPr>
          <p:cNvPr id="14339" name="Rectangle 3"/>
          <p:cNvSpPr>
            <a:spLocks noGrp="1" noChangeArrowheads="1"/>
          </p:cNvSpPr>
          <p:nvPr>
            <p:ph sz="quarter" idx="1"/>
          </p:nvPr>
        </p:nvSpPr>
        <p:spPr>
          <a:xfrm>
            <a:off x="457200" y="1219200"/>
            <a:ext cx="8229600" cy="4937125"/>
          </a:xfrm>
        </p:spPr>
        <p:txBody>
          <a:bodyPr/>
          <a:lstStyle/>
          <a:p>
            <a:pPr eaLnBrk="1" hangingPunct="1"/>
            <a:r>
              <a:rPr lang="en-US" sz="2400" smtClean="0"/>
              <a:t>One key to the </a:t>
            </a:r>
            <a:r>
              <a:rPr lang="en-US" sz="2400" b="1" smtClean="0"/>
              <a:t>success of an open standard</a:t>
            </a:r>
            <a:r>
              <a:rPr lang="en-US" sz="2400" smtClean="0"/>
              <a:t> is a steering organization to </a:t>
            </a:r>
            <a:r>
              <a:rPr lang="en-US" sz="2400" b="1" smtClean="0"/>
              <a:t>promote</a:t>
            </a:r>
            <a:r>
              <a:rPr lang="en-US" sz="2400" smtClean="0"/>
              <a:t> it. </a:t>
            </a:r>
          </a:p>
          <a:p>
            <a:pPr eaLnBrk="1" hangingPunct="1"/>
            <a:r>
              <a:rPr lang="en-US" sz="2400" smtClean="0"/>
              <a:t>Usually, a neutral, </a:t>
            </a:r>
            <a:r>
              <a:rPr lang="en-US" sz="2400" b="1" smtClean="0"/>
              <a:t>non-profit trade association </a:t>
            </a:r>
            <a:r>
              <a:rPr lang="en-US" sz="2400" smtClean="0"/>
              <a:t>or working group is established to </a:t>
            </a:r>
            <a:r>
              <a:rPr lang="en-US" sz="2400" b="1" smtClean="0"/>
              <a:t>develop</a:t>
            </a:r>
            <a:r>
              <a:rPr lang="en-US" sz="2400" smtClean="0"/>
              <a:t> and </a:t>
            </a:r>
            <a:r>
              <a:rPr lang="en-US" sz="2400" b="1" smtClean="0"/>
              <a:t>promote</a:t>
            </a:r>
            <a:r>
              <a:rPr lang="en-US" sz="2400" smtClean="0"/>
              <a:t> the standard, and the </a:t>
            </a:r>
            <a:r>
              <a:rPr lang="en-US" sz="2400" b="1" smtClean="0"/>
              <a:t>various for-profit hardware and software </a:t>
            </a:r>
            <a:r>
              <a:rPr lang="en-US" sz="2400" smtClean="0"/>
              <a:t>companies join this group and </a:t>
            </a:r>
            <a:r>
              <a:rPr lang="en-US" sz="2400" b="1" smtClean="0"/>
              <a:t>support</a:t>
            </a:r>
            <a:r>
              <a:rPr lang="en-US" sz="2400" smtClean="0"/>
              <a:t> it </a:t>
            </a:r>
            <a:r>
              <a:rPr lang="en-US" sz="2400" b="1" smtClean="0"/>
              <a:t>financially</a:t>
            </a:r>
            <a:r>
              <a:rPr lang="en-US" sz="2400" smtClean="0"/>
              <a:t>. </a:t>
            </a:r>
          </a:p>
          <a:p>
            <a:pPr eaLnBrk="1" hangingPunct="1"/>
            <a:r>
              <a:rPr lang="en-US" sz="2400" smtClean="0"/>
              <a:t>These groups also </a:t>
            </a:r>
            <a:r>
              <a:rPr lang="en-US" sz="2400" b="1" smtClean="0"/>
              <a:t>work</a:t>
            </a:r>
            <a:r>
              <a:rPr lang="en-US" sz="2400" smtClean="0"/>
              <a:t> with </a:t>
            </a:r>
            <a:r>
              <a:rPr lang="en-US" sz="2400" b="1" smtClean="0"/>
              <a:t>standards approval bodies </a:t>
            </a:r>
            <a:r>
              <a:rPr lang="en-US" sz="2400" smtClean="0"/>
              <a:t>like the ITU and ISO </a:t>
            </a:r>
            <a:r>
              <a:rPr lang="en-US" sz="2400" b="1" smtClean="0"/>
              <a:t>to gain acceptance </a:t>
            </a:r>
            <a:r>
              <a:rPr lang="en-US" sz="2400" smtClean="0"/>
              <a:t>for their standards.</a:t>
            </a:r>
          </a:p>
          <a:p>
            <a:pPr eaLnBrk="1" hangingPunct="1"/>
            <a:r>
              <a:rPr lang="en-US" sz="2400" smtClean="0"/>
              <a:t>Of course, the companies aren't doing this </a:t>
            </a:r>
            <a:r>
              <a:rPr lang="en-US" sz="2400" b="1" smtClean="0"/>
              <a:t>just to be nice </a:t>
            </a:r>
            <a:r>
              <a:rPr lang="en-US" sz="2400" smtClean="0"/>
              <a:t>to their customers. </a:t>
            </a:r>
            <a:r>
              <a:rPr lang="en-US" sz="2400" b="1" smtClean="0"/>
              <a:t>In creating open standards, they split the “market share pie” between them, but they make the pie grow much larger by attracting more customers.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De Facto Standards</a:t>
            </a:r>
          </a:p>
        </p:txBody>
      </p:sp>
      <p:sp>
        <p:nvSpPr>
          <p:cNvPr id="15363" name="Rectangle 3"/>
          <p:cNvSpPr>
            <a:spLocks noGrp="1" noChangeArrowheads="1"/>
          </p:cNvSpPr>
          <p:nvPr>
            <p:ph sz="quarter" idx="1"/>
          </p:nvPr>
        </p:nvSpPr>
        <p:spPr>
          <a:xfrm>
            <a:off x="457200" y="1219200"/>
            <a:ext cx="8229600" cy="4937125"/>
          </a:xfrm>
        </p:spPr>
        <p:txBody>
          <a:bodyPr/>
          <a:lstStyle/>
          <a:p>
            <a:pPr eaLnBrk="1" hangingPunct="1"/>
            <a:r>
              <a:rPr lang="en-US" sz="2400" smtClean="0"/>
              <a:t>This brings me to the </a:t>
            </a:r>
            <a:r>
              <a:rPr lang="en-US" sz="2400" b="1" smtClean="0"/>
              <a:t>third type of standard </a:t>
            </a:r>
            <a:r>
              <a:rPr lang="en-US" sz="2400" smtClean="0"/>
              <a:t>that is often seen in the computer world: the </a:t>
            </a:r>
            <a:r>
              <a:rPr lang="en-US" sz="2400" b="1" i="1" smtClean="0"/>
              <a:t>de facto</a:t>
            </a:r>
            <a:r>
              <a:rPr lang="en-US" sz="2400" b="1" smtClean="0"/>
              <a:t> standard</a:t>
            </a:r>
            <a:r>
              <a:rPr lang="en-US" sz="2400" smtClean="0"/>
              <a:t>. </a:t>
            </a:r>
          </a:p>
          <a:p>
            <a:pPr eaLnBrk="1" hangingPunct="1"/>
            <a:r>
              <a:rPr lang="en-US" sz="2400" smtClean="0"/>
              <a:t>“De facto” is Latin for “in fact”, so a de facto standard is one </a:t>
            </a:r>
            <a:r>
              <a:rPr lang="en-US" sz="2400" b="1" smtClean="0"/>
              <a:t>that is used as a universal standard just because over time it became widely used, </a:t>
            </a:r>
            <a:r>
              <a:rPr lang="en-US" sz="2400" smtClean="0"/>
              <a:t>and not because the standard was developed and approved by a standards committee. </a:t>
            </a:r>
          </a:p>
          <a:p>
            <a:pPr lvl="2" eaLnBrk="1" hangingPunct="1"/>
            <a:r>
              <a:rPr lang="en-US" sz="1800" smtClean="0"/>
              <a:t>A good example of a de facto standard is the “AT” command set used by modems; virtually all modems use it, but this resulted not from an industry group agreeing to adopt and deploy it. </a:t>
            </a:r>
          </a:p>
          <a:p>
            <a:pPr eaLnBrk="1" hangingPunct="1"/>
            <a:r>
              <a:rPr lang="en-US" sz="2400" b="1" smtClean="0"/>
              <a:t>Sometimes</a:t>
            </a:r>
            <a:r>
              <a:rPr lang="en-US" sz="2400" smtClean="0"/>
              <a:t> de facto standards succeed but </a:t>
            </a:r>
            <a:r>
              <a:rPr lang="en-US" sz="2400" b="1" smtClean="0"/>
              <a:t>often</a:t>
            </a:r>
            <a:r>
              <a:rPr lang="en-US" sz="2400" smtClean="0"/>
              <a:t> they don't, </a:t>
            </a:r>
            <a:r>
              <a:rPr lang="en-US" sz="2400" b="1" smtClean="0"/>
              <a:t>resulting</a:t>
            </a:r>
            <a:r>
              <a:rPr lang="en-US" sz="2400" smtClean="0"/>
              <a:t> a fragmented market of </a:t>
            </a:r>
            <a:r>
              <a:rPr lang="en-US" sz="2400" b="1" smtClean="0"/>
              <a:t>incompatible products</a:t>
            </a:r>
            <a:r>
              <a:rPr lang="en-US" sz="2400" smtClean="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mtClean="0"/>
              <a:t/>
            </a:r>
            <a:br>
              <a:rPr lang="en-US" smtClean="0"/>
            </a:br>
            <a:r>
              <a:rPr lang="en-US" smtClean="0"/>
              <a:t>Networking Standards</a:t>
            </a:r>
          </a:p>
        </p:txBody>
      </p:sp>
      <p:sp>
        <p:nvSpPr>
          <p:cNvPr id="16387" name="Rectangle 3"/>
          <p:cNvSpPr>
            <a:spLocks noGrp="1" noChangeArrowheads="1"/>
          </p:cNvSpPr>
          <p:nvPr>
            <p:ph sz="quarter" idx="1"/>
          </p:nvPr>
        </p:nvSpPr>
        <p:spPr>
          <a:xfrm>
            <a:off x="457200" y="1219200"/>
            <a:ext cx="8229600" cy="4937125"/>
          </a:xfrm>
        </p:spPr>
        <p:txBody>
          <a:bodyPr/>
          <a:lstStyle/>
          <a:p>
            <a:pPr eaLnBrk="1" hangingPunct="1">
              <a:lnSpc>
                <a:spcPct val="90000"/>
              </a:lnSpc>
            </a:pPr>
            <a:r>
              <a:rPr lang="en-US" sz="2400" b="1" smtClean="0"/>
              <a:t>All networking technologies </a:t>
            </a:r>
            <a:r>
              <a:rPr lang="en-US" sz="2400" smtClean="0"/>
              <a:t>have </a:t>
            </a:r>
            <a:r>
              <a:rPr lang="en-US" sz="2400" b="1" smtClean="0"/>
              <a:t>standards</a:t>
            </a:r>
            <a:r>
              <a:rPr lang="en-US" sz="2400" smtClean="0"/>
              <a:t> associated with them.</a:t>
            </a:r>
          </a:p>
          <a:p>
            <a:pPr eaLnBrk="1" hangingPunct="1">
              <a:lnSpc>
                <a:spcPct val="90000"/>
              </a:lnSpc>
            </a:pPr>
            <a:r>
              <a:rPr lang="en-US" sz="2400" smtClean="0">
                <a:latin typeface="Times New Roman" pitchFamily="18" charset="0"/>
              </a:rPr>
              <a:t>A </a:t>
            </a:r>
            <a:r>
              <a:rPr lang="en-US" sz="2400" b="1" smtClean="0">
                <a:latin typeface="Times New Roman" pitchFamily="18" charset="0"/>
              </a:rPr>
              <a:t>networking technology </a:t>
            </a:r>
            <a:r>
              <a:rPr lang="en-US" sz="2400" smtClean="0">
                <a:latin typeface="Times New Roman" pitchFamily="18" charset="0"/>
              </a:rPr>
              <a:t>may have </a:t>
            </a:r>
            <a:r>
              <a:rPr lang="en-US" sz="2400" b="1" smtClean="0">
                <a:latin typeface="Times New Roman" pitchFamily="18" charset="0"/>
              </a:rPr>
              <a:t>more</a:t>
            </a:r>
            <a:r>
              <a:rPr lang="en-US" sz="2400" smtClean="0">
                <a:latin typeface="Times New Roman" pitchFamily="18" charset="0"/>
              </a:rPr>
              <a:t> than </a:t>
            </a:r>
            <a:r>
              <a:rPr lang="en-US" sz="2400" b="1" smtClean="0">
                <a:latin typeface="Times New Roman" pitchFamily="18" charset="0"/>
              </a:rPr>
              <a:t>one standard </a:t>
            </a:r>
            <a:r>
              <a:rPr lang="en-US" sz="2400" smtClean="0">
                <a:latin typeface="Times New Roman" pitchFamily="18" charset="0"/>
              </a:rPr>
              <a:t>for any or all of the following reasons:</a:t>
            </a:r>
          </a:p>
          <a:p>
            <a:pPr lvl="1" eaLnBrk="1" hangingPunct="1">
              <a:lnSpc>
                <a:spcPct val="90000"/>
              </a:lnSpc>
            </a:pPr>
            <a:r>
              <a:rPr lang="en-US" sz="2100" smtClean="0">
                <a:latin typeface="Times New Roman" pitchFamily="18" charset="0"/>
              </a:rPr>
              <a:t>The original standard has been revised or </a:t>
            </a:r>
            <a:r>
              <a:rPr lang="en-US" sz="2100" b="1" smtClean="0">
                <a:latin typeface="Times New Roman" pitchFamily="18" charset="0"/>
              </a:rPr>
              <a:t>updated</a:t>
            </a:r>
            <a:r>
              <a:rPr lang="en-US" sz="2100" smtClean="0">
                <a:latin typeface="Times New Roman" pitchFamily="18" charset="0"/>
              </a:rPr>
              <a:t>; </a:t>
            </a:r>
          </a:p>
          <a:p>
            <a:pPr lvl="1" eaLnBrk="1" hangingPunct="1">
              <a:lnSpc>
                <a:spcPct val="90000"/>
              </a:lnSpc>
            </a:pPr>
            <a:r>
              <a:rPr lang="en-US" sz="2100" smtClean="0">
                <a:latin typeface="Times New Roman" pitchFamily="18" charset="0"/>
              </a:rPr>
              <a:t>The technology is sufficiently </a:t>
            </a:r>
            <a:r>
              <a:rPr lang="en-US" sz="2100" b="1" smtClean="0">
                <a:latin typeface="Times New Roman" pitchFamily="18" charset="0"/>
              </a:rPr>
              <a:t>complex</a:t>
            </a:r>
            <a:r>
              <a:rPr lang="en-US" sz="2100" smtClean="0">
                <a:latin typeface="Times New Roman" pitchFamily="18" charset="0"/>
              </a:rPr>
              <a:t> that it needs to be described in </a:t>
            </a:r>
            <a:r>
              <a:rPr lang="en-US" sz="2100" b="1" smtClean="0">
                <a:latin typeface="Times New Roman" pitchFamily="18" charset="0"/>
              </a:rPr>
              <a:t>more than one document</a:t>
            </a:r>
            <a:r>
              <a:rPr lang="en-US" sz="2100" smtClean="0">
                <a:latin typeface="Times New Roman" pitchFamily="18" charset="0"/>
              </a:rPr>
              <a:t>;</a:t>
            </a:r>
          </a:p>
          <a:p>
            <a:pPr lvl="1" eaLnBrk="1" hangingPunct="1">
              <a:lnSpc>
                <a:spcPct val="90000"/>
              </a:lnSpc>
            </a:pPr>
            <a:r>
              <a:rPr lang="en-US" sz="2100" smtClean="0">
                <a:latin typeface="Times New Roman" pitchFamily="18" charset="0"/>
              </a:rPr>
              <a:t>The technology </a:t>
            </a:r>
            <a:r>
              <a:rPr lang="en-US" sz="2100" b="1" smtClean="0">
                <a:latin typeface="Times New Roman" pitchFamily="18" charset="0"/>
              </a:rPr>
              <a:t>borrows</a:t>
            </a:r>
            <a:r>
              <a:rPr lang="en-US" sz="2100" smtClean="0">
                <a:latin typeface="Times New Roman" pitchFamily="18" charset="0"/>
              </a:rPr>
              <a:t> from or builds on documents used in </a:t>
            </a:r>
            <a:r>
              <a:rPr lang="en-US" sz="2100" b="1" smtClean="0">
                <a:latin typeface="Times New Roman" pitchFamily="18" charset="0"/>
              </a:rPr>
              <a:t>related</a:t>
            </a:r>
            <a:r>
              <a:rPr lang="en-US" sz="2100" smtClean="0">
                <a:latin typeface="Times New Roman" pitchFamily="18" charset="0"/>
              </a:rPr>
              <a:t> </a:t>
            </a:r>
            <a:r>
              <a:rPr lang="en-US" sz="2100" b="1" smtClean="0">
                <a:latin typeface="Times New Roman" pitchFamily="18" charset="0"/>
              </a:rPr>
              <a:t>technologies</a:t>
            </a:r>
            <a:r>
              <a:rPr lang="en-US" sz="2100" smtClean="0">
                <a:latin typeface="Times New Roman" pitchFamily="18" charset="0"/>
              </a:rPr>
              <a:t>; </a:t>
            </a:r>
          </a:p>
          <a:p>
            <a:pPr lvl="1" eaLnBrk="1" hangingPunct="1">
              <a:lnSpc>
                <a:spcPct val="90000"/>
              </a:lnSpc>
            </a:pPr>
            <a:r>
              <a:rPr lang="en-US" sz="2100" b="1" smtClean="0">
                <a:latin typeface="Times New Roman" pitchFamily="18" charset="0"/>
              </a:rPr>
              <a:t>More</a:t>
            </a:r>
            <a:r>
              <a:rPr lang="en-US" sz="2100" smtClean="0">
                <a:latin typeface="Times New Roman" pitchFamily="18" charset="0"/>
              </a:rPr>
              <a:t> than one </a:t>
            </a:r>
            <a:r>
              <a:rPr lang="en-US" sz="2100" b="1" smtClean="0">
                <a:latin typeface="Times New Roman" pitchFamily="18" charset="0"/>
              </a:rPr>
              <a:t>organization</a:t>
            </a:r>
            <a:r>
              <a:rPr lang="en-US" sz="2100" smtClean="0">
                <a:latin typeface="Times New Roman" pitchFamily="18" charset="0"/>
              </a:rPr>
              <a:t> has been </a:t>
            </a:r>
            <a:r>
              <a:rPr lang="en-US" sz="2100" b="1" smtClean="0">
                <a:latin typeface="Times New Roman" pitchFamily="18" charset="0"/>
              </a:rPr>
              <a:t>involved</a:t>
            </a:r>
            <a:r>
              <a:rPr lang="en-US" sz="2100" smtClean="0">
                <a:latin typeface="Times New Roman" pitchFamily="18" charset="0"/>
              </a:rPr>
              <a:t> in developing the technology. </a:t>
            </a:r>
          </a:p>
          <a:p>
            <a:pPr eaLnBrk="1" hangingPunct="1">
              <a:lnSpc>
                <a:spcPct val="90000"/>
              </a:lnSpc>
            </a:pPr>
            <a:r>
              <a:rPr lang="en-US" sz="2400" smtClean="0"/>
              <a:t>Today, </a:t>
            </a:r>
            <a:r>
              <a:rPr lang="en-US" sz="2400" b="1" smtClean="0"/>
              <a:t>all networking standards are “open” standards</a:t>
            </a:r>
            <a:r>
              <a:rPr lang="en-US" sz="2400" smtClean="0"/>
              <a:t>, administered by a standards organization or industry group.</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smtClean="0"/>
              <a:t/>
            </a:r>
            <a:br>
              <a:rPr lang="en-US" smtClean="0"/>
            </a:br>
            <a:r>
              <a:rPr lang="en-US" smtClean="0"/>
              <a:t>International Networking Standards Organizations</a:t>
            </a:r>
          </a:p>
        </p:txBody>
      </p:sp>
      <p:sp>
        <p:nvSpPr>
          <p:cNvPr id="17411" name="Rectangle 3"/>
          <p:cNvSpPr>
            <a:spLocks noGrp="1" noChangeArrowheads="1"/>
          </p:cNvSpPr>
          <p:nvPr>
            <p:ph sz="quarter" idx="1"/>
          </p:nvPr>
        </p:nvSpPr>
        <p:spPr>
          <a:xfrm>
            <a:off x="457200" y="1219200"/>
            <a:ext cx="8229600" cy="4937125"/>
          </a:xfrm>
        </p:spPr>
        <p:txBody>
          <a:bodyPr/>
          <a:lstStyle/>
          <a:p>
            <a:pPr lvl="1" eaLnBrk="1" hangingPunct="1">
              <a:lnSpc>
                <a:spcPct val="90000"/>
              </a:lnSpc>
            </a:pPr>
            <a:r>
              <a:rPr lang="en-US" sz="2400" smtClean="0">
                <a:latin typeface="Times New Roman" pitchFamily="18" charset="0"/>
                <a:cs typeface="Times New Roman" pitchFamily="18" charset="0"/>
              </a:rPr>
              <a:t>Open standards are </a:t>
            </a:r>
            <a:r>
              <a:rPr lang="en-US" sz="2400" b="1" smtClean="0">
                <a:latin typeface="Times New Roman" pitchFamily="18" charset="0"/>
                <a:cs typeface="Times New Roman" pitchFamily="18" charset="0"/>
              </a:rPr>
              <a:t>more popular </a:t>
            </a:r>
            <a:r>
              <a:rPr lang="en-US" sz="2400" smtClean="0">
                <a:latin typeface="Times New Roman" pitchFamily="18" charset="0"/>
                <a:cs typeface="Times New Roman" pitchFamily="18" charset="0"/>
              </a:rPr>
              <a:t>than proprietary standards in the computer industry</a:t>
            </a:r>
          </a:p>
          <a:p>
            <a:pPr lvl="1" eaLnBrk="1" hangingPunct="1">
              <a:lnSpc>
                <a:spcPct val="90000"/>
              </a:lnSpc>
            </a:pPr>
            <a:r>
              <a:rPr lang="en-US" sz="2400" smtClean="0">
                <a:latin typeface="Times New Roman" pitchFamily="18" charset="0"/>
                <a:cs typeface="Times New Roman" pitchFamily="18" charset="0"/>
              </a:rPr>
              <a:t>The rise of open standards </a:t>
            </a:r>
            <a:r>
              <a:rPr lang="en-US" sz="2400" b="1" smtClean="0">
                <a:latin typeface="Times New Roman" pitchFamily="18" charset="0"/>
                <a:cs typeface="Times New Roman" pitchFamily="18" charset="0"/>
              </a:rPr>
              <a:t>not owned </a:t>
            </a:r>
            <a:r>
              <a:rPr lang="en-US" sz="2400" smtClean="0">
                <a:latin typeface="Times New Roman" pitchFamily="18" charset="0"/>
                <a:cs typeface="Times New Roman" pitchFamily="18" charset="0"/>
              </a:rPr>
              <a:t>by any one company has been </a:t>
            </a:r>
            <a:r>
              <a:rPr lang="en-US" sz="2400" b="1" smtClean="0">
                <a:latin typeface="Times New Roman" pitchFamily="18" charset="0"/>
                <a:cs typeface="Times New Roman" pitchFamily="18" charset="0"/>
              </a:rPr>
              <a:t>a great boon </a:t>
            </a:r>
            <a:r>
              <a:rPr lang="en-US" sz="2400" smtClean="0">
                <a:latin typeface="Times New Roman" pitchFamily="18" charset="0"/>
                <a:cs typeface="Times New Roman" pitchFamily="18" charset="0"/>
              </a:rPr>
              <a:t>to </a:t>
            </a:r>
            <a:r>
              <a:rPr lang="en-US" sz="2400" b="1" smtClean="0">
                <a:latin typeface="Times New Roman" pitchFamily="18" charset="0"/>
                <a:cs typeface="Times New Roman" pitchFamily="18" charset="0"/>
              </a:rPr>
              <a:t>customers</a:t>
            </a:r>
            <a:r>
              <a:rPr lang="en-US" sz="2400" smtClean="0">
                <a:latin typeface="Times New Roman" pitchFamily="18" charset="0"/>
                <a:cs typeface="Times New Roman" pitchFamily="18" charset="0"/>
              </a:rPr>
              <a:t> of computer and networking products, as well as the </a:t>
            </a:r>
            <a:r>
              <a:rPr lang="en-US" sz="2400" b="1" smtClean="0">
                <a:latin typeface="Times New Roman" pitchFamily="18" charset="0"/>
                <a:cs typeface="Times New Roman" pitchFamily="18" charset="0"/>
              </a:rPr>
              <a:t>manufacturers</a:t>
            </a:r>
            <a:r>
              <a:rPr lang="en-US" sz="2400" smtClean="0">
                <a:latin typeface="Times New Roman" pitchFamily="18" charset="0"/>
                <a:cs typeface="Times New Roman" pitchFamily="18" charset="0"/>
              </a:rPr>
              <a:t> that sell to them. </a:t>
            </a:r>
          </a:p>
          <a:p>
            <a:pPr lvl="1" eaLnBrk="1" hangingPunct="1">
              <a:lnSpc>
                <a:spcPct val="90000"/>
              </a:lnSpc>
            </a:pPr>
            <a:endParaRPr lang="en-US" sz="1400" smtClean="0">
              <a:latin typeface="Times New Roman" pitchFamily="18" charset="0"/>
              <a:cs typeface="Times New Roman" pitchFamily="18" charset="0"/>
            </a:endParaRPr>
          </a:p>
          <a:p>
            <a:pPr lvl="1" eaLnBrk="1" hangingPunct="1">
              <a:lnSpc>
                <a:spcPct val="90000"/>
              </a:lnSpc>
            </a:pPr>
            <a:r>
              <a:rPr lang="en-US" sz="2400" smtClean="0">
                <a:latin typeface="Times New Roman" pitchFamily="18" charset="0"/>
                <a:cs typeface="Times New Roman" pitchFamily="18" charset="0"/>
              </a:rPr>
              <a:t>In order to facilitate the development of open standards, </a:t>
            </a:r>
            <a:r>
              <a:rPr lang="en-US" sz="2400" b="1" smtClean="0">
                <a:latin typeface="Times New Roman" pitchFamily="18" charset="0"/>
                <a:cs typeface="Times New Roman" pitchFamily="18" charset="0"/>
              </a:rPr>
              <a:t>organizations </a:t>
            </a:r>
            <a:r>
              <a:rPr lang="en-US" sz="2400" smtClean="0">
                <a:latin typeface="Times New Roman" pitchFamily="18" charset="0"/>
                <a:cs typeface="Times New Roman" pitchFamily="18" charset="0"/>
              </a:rPr>
              <a:t>need to </a:t>
            </a:r>
            <a:r>
              <a:rPr lang="en-US" sz="2400" b="1" smtClean="0">
                <a:latin typeface="Times New Roman" pitchFamily="18" charset="0"/>
                <a:cs typeface="Times New Roman" pitchFamily="18" charset="0"/>
              </a:rPr>
              <a:t>coordinate</a:t>
            </a:r>
            <a:r>
              <a:rPr lang="en-US" sz="2400" smtClean="0">
                <a:latin typeface="Times New Roman" pitchFamily="18" charset="0"/>
                <a:cs typeface="Times New Roman" pitchFamily="18" charset="0"/>
              </a:rPr>
              <a:t> the creation and publishing of these documents. </a:t>
            </a:r>
          </a:p>
          <a:p>
            <a:pPr lvl="1" eaLnBrk="1" hangingPunct="1">
              <a:lnSpc>
                <a:spcPct val="90000"/>
              </a:lnSpc>
              <a:buFont typeface="Wingdings 3" pitchFamily="18" charset="2"/>
              <a:buNone/>
            </a:pPr>
            <a:endParaRPr lang="en-US" sz="1600" smtClean="0">
              <a:latin typeface="Times New Roman" pitchFamily="18" charset="0"/>
              <a:cs typeface="Times New Roman" pitchFamily="18" charset="0"/>
            </a:endParaRPr>
          </a:p>
          <a:p>
            <a:pPr lvl="1" eaLnBrk="1" hangingPunct="1">
              <a:lnSpc>
                <a:spcPct val="90000"/>
              </a:lnSpc>
            </a:pPr>
            <a:r>
              <a:rPr lang="en-US" sz="2400" smtClean="0">
                <a:latin typeface="Times New Roman" pitchFamily="18" charset="0"/>
                <a:cs typeface="Times New Roman" pitchFamily="18" charset="0"/>
              </a:rPr>
              <a:t>Generally, these </a:t>
            </a:r>
            <a:r>
              <a:rPr lang="en-US" sz="2400" b="1" smtClean="0">
                <a:latin typeface="Times New Roman" pitchFamily="18" charset="0"/>
                <a:cs typeface="Times New Roman" pitchFamily="18" charset="0"/>
              </a:rPr>
              <a:t>are non-profit organizations </a:t>
            </a:r>
            <a:r>
              <a:rPr lang="en-US" sz="2400" smtClean="0">
                <a:latin typeface="Times New Roman" pitchFamily="18" charset="0"/>
                <a:cs typeface="Times New Roman" pitchFamily="18" charset="0"/>
              </a:rPr>
              <a:t>that specifically take a </a:t>
            </a:r>
            <a:r>
              <a:rPr lang="en-US" sz="2400" b="1" smtClean="0">
                <a:latin typeface="Times New Roman" pitchFamily="18" charset="0"/>
                <a:cs typeface="Times New Roman" pitchFamily="18" charset="0"/>
              </a:rPr>
              <a:t>neutral stance </a:t>
            </a:r>
            <a:r>
              <a:rPr lang="en-US" sz="2400" smtClean="0">
                <a:latin typeface="Times New Roman" pitchFamily="18" charset="0"/>
                <a:cs typeface="Times New Roman" pitchFamily="18" charset="0"/>
              </a:rPr>
              <a:t>regarding technologies and work for the </a:t>
            </a:r>
            <a:r>
              <a:rPr lang="en-US" sz="2400" b="1" smtClean="0">
                <a:latin typeface="Times New Roman" pitchFamily="18" charset="0"/>
                <a:cs typeface="Times New Roman" pitchFamily="18" charset="0"/>
              </a:rPr>
              <a:t>betterment of the industry as a whole.</a:t>
            </a:r>
          </a:p>
          <a:p>
            <a:pPr lvl="1" eaLnBrk="1" hangingPunct="1">
              <a:lnSpc>
                <a:spcPct val="90000"/>
              </a:lnSpc>
            </a:pPr>
            <a:endParaRPr lang="en-US" sz="24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smtClean="0"/>
              <a:t/>
            </a:r>
            <a:br>
              <a:rPr lang="en-US" smtClean="0"/>
            </a:br>
            <a:r>
              <a:rPr lang="en-US" smtClean="0"/>
              <a:t>Standards </a:t>
            </a:r>
            <a:r>
              <a:rPr lang="en-US" smtClean="0">
                <a:solidFill>
                  <a:srgbClr val="FF0000"/>
                </a:solidFill>
              </a:rPr>
              <a:t>Organizations</a:t>
            </a:r>
          </a:p>
        </p:txBody>
      </p:sp>
      <p:sp>
        <p:nvSpPr>
          <p:cNvPr id="18435" name="Rectangle 3"/>
          <p:cNvSpPr>
            <a:spLocks noGrp="1" noChangeArrowheads="1"/>
          </p:cNvSpPr>
          <p:nvPr>
            <p:ph sz="quarter" idx="1"/>
          </p:nvPr>
        </p:nvSpPr>
        <p:spPr>
          <a:xfrm>
            <a:off x="457200" y="1219200"/>
            <a:ext cx="8229600" cy="4937125"/>
          </a:xfrm>
        </p:spPr>
        <p:txBody>
          <a:bodyPr/>
          <a:lstStyle/>
          <a:p>
            <a:pPr marL="457200" indent="-457200" eaLnBrk="1" hangingPunct="1">
              <a:lnSpc>
                <a:spcPct val="90000"/>
              </a:lnSpc>
            </a:pPr>
            <a:r>
              <a:rPr lang="en-US" sz="2800" smtClean="0"/>
              <a:t>standards organizations in the area of networking and the Internet</a:t>
            </a:r>
            <a:endParaRPr lang="en-US" sz="2700" b="1" smtClean="0">
              <a:latin typeface="Times New Roman" pitchFamily="18" charset="0"/>
              <a:cs typeface="Times New Roman" pitchFamily="18" charset="0"/>
            </a:endParaRPr>
          </a:p>
          <a:p>
            <a:pPr marL="457200" indent="-457200" eaLnBrk="1" hangingPunct="1">
              <a:lnSpc>
                <a:spcPct val="90000"/>
              </a:lnSpc>
              <a:buFont typeface="Bookman Old Style" pitchFamily="18" charset="0"/>
              <a:buAutoNum type="arabicPeriod"/>
            </a:pPr>
            <a:r>
              <a:rPr lang="en-US" sz="2700" b="1" smtClean="0">
                <a:latin typeface="Times New Roman" pitchFamily="18" charset="0"/>
                <a:cs typeface="Times New Roman" pitchFamily="18" charset="0"/>
              </a:rPr>
              <a:t>International Organization for Standardization (ISO): </a:t>
            </a:r>
          </a:p>
          <a:p>
            <a:pPr marL="731838" lvl="1" indent="-457200" eaLnBrk="1" hangingPunct="1">
              <a:lnSpc>
                <a:spcPct val="90000"/>
              </a:lnSpc>
              <a:buFont typeface="Arial" charset="0"/>
              <a:buChar char="•"/>
            </a:pPr>
            <a:r>
              <a:rPr lang="en-US" sz="2400" smtClean="0">
                <a:latin typeface="Times New Roman" pitchFamily="18" charset="0"/>
                <a:cs typeface="Times New Roman" pitchFamily="18" charset="0"/>
              </a:rPr>
              <a:t>Probably the </a:t>
            </a:r>
            <a:r>
              <a:rPr lang="en-US" sz="2400" b="1" smtClean="0">
                <a:latin typeface="Times New Roman" pitchFamily="18" charset="0"/>
                <a:cs typeface="Times New Roman" pitchFamily="18" charset="0"/>
              </a:rPr>
              <a:t>biggest</a:t>
            </a:r>
            <a:r>
              <a:rPr lang="en-US" sz="2400" smtClean="0">
                <a:latin typeface="Times New Roman" pitchFamily="18" charset="0"/>
                <a:cs typeface="Times New Roman" pitchFamily="18" charset="0"/>
              </a:rPr>
              <a:t> standards </a:t>
            </a:r>
            <a:r>
              <a:rPr lang="en-US" sz="2400" b="1" smtClean="0">
                <a:latin typeface="Times New Roman" pitchFamily="18" charset="0"/>
                <a:cs typeface="Times New Roman" pitchFamily="18" charset="0"/>
              </a:rPr>
              <a:t>organization</a:t>
            </a:r>
            <a:r>
              <a:rPr lang="en-US" sz="2400" smtClean="0">
                <a:latin typeface="Times New Roman" pitchFamily="18" charset="0"/>
                <a:cs typeface="Times New Roman" pitchFamily="18" charset="0"/>
              </a:rPr>
              <a:t> in the </a:t>
            </a:r>
            <a:r>
              <a:rPr lang="en-US" sz="2400" b="1" smtClean="0">
                <a:latin typeface="Times New Roman" pitchFamily="18" charset="0"/>
                <a:cs typeface="Times New Roman" pitchFamily="18" charset="0"/>
              </a:rPr>
              <a:t>world</a:t>
            </a:r>
            <a:r>
              <a:rPr lang="en-US" sz="2400" smtClean="0">
                <a:latin typeface="Times New Roman" pitchFamily="18" charset="0"/>
                <a:cs typeface="Times New Roman" pitchFamily="18" charset="0"/>
              </a:rPr>
              <a:t>, the ISO is really a federation of standards organizations from dozens of nations. </a:t>
            </a:r>
          </a:p>
          <a:p>
            <a:pPr marL="731838" lvl="1" indent="-457200" eaLnBrk="1" hangingPunct="1">
              <a:lnSpc>
                <a:spcPct val="90000"/>
              </a:lnSpc>
              <a:buFont typeface="Arial" charset="0"/>
              <a:buChar char="•"/>
            </a:pPr>
            <a:r>
              <a:rPr lang="en-US" sz="2400" smtClean="0">
                <a:latin typeface="Times New Roman" pitchFamily="18" charset="0"/>
                <a:cs typeface="Times New Roman" pitchFamily="18" charset="0"/>
              </a:rPr>
              <a:t>In the networking world, the ISO is best known for its </a:t>
            </a:r>
            <a:r>
              <a:rPr lang="en-US" sz="2400" b="1" smtClean="0">
                <a:latin typeface="Times New Roman" pitchFamily="18" charset="0"/>
                <a:cs typeface="Times New Roman" pitchFamily="18" charset="0"/>
              </a:rPr>
              <a:t>OSI</a:t>
            </a:r>
            <a:r>
              <a:rPr lang="en-US" sz="2400" smtClean="0">
                <a:latin typeface="Times New Roman" pitchFamily="18" charset="0"/>
                <a:cs typeface="Times New Roman" pitchFamily="18" charset="0"/>
              </a:rPr>
              <a:t> </a:t>
            </a:r>
            <a:r>
              <a:rPr lang="en-US" sz="2400" b="1" smtClean="0">
                <a:latin typeface="Times New Roman" pitchFamily="18" charset="0"/>
                <a:cs typeface="Times New Roman" pitchFamily="18" charset="0"/>
              </a:rPr>
              <a:t>Reference Model</a:t>
            </a:r>
            <a:r>
              <a:rPr lang="en-US" sz="2400" smtClean="0">
                <a:latin typeface="Times New Roman" pitchFamily="18" charset="0"/>
                <a:cs typeface="Times New Roman" pitchFamily="18" charset="0"/>
              </a:rPr>
              <a:t>.</a:t>
            </a:r>
          </a:p>
          <a:p>
            <a:pPr marL="457200" indent="-457200" eaLnBrk="1" hangingPunct="1">
              <a:lnSpc>
                <a:spcPct val="90000"/>
              </a:lnSpc>
              <a:buFont typeface="Arial" charset="0"/>
              <a:buChar char="•"/>
            </a:pPr>
            <a:endParaRPr lang="en-US" sz="27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t/>
            </a:r>
            <a:br>
              <a:rPr lang="en-US" smtClean="0"/>
            </a:br>
            <a:r>
              <a:rPr lang="en-US" smtClean="0"/>
              <a:t>Standards Organizations</a:t>
            </a:r>
          </a:p>
        </p:txBody>
      </p:sp>
      <p:sp>
        <p:nvSpPr>
          <p:cNvPr id="19459" name="Rectangle 3"/>
          <p:cNvSpPr>
            <a:spLocks noGrp="1" noChangeArrowheads="1"/>
          </p:cNvSpPr>
          <p:nvPr>
            <p:ph sz="quarter" idx="1"/>
          </p:nvPr>
        </p:nvSpPr>
        <p:spPr>
          <a:xfrm>
            <a:off x="457200" y="1219200"/>
            <a:ext cx="8229600" cy="4937125"/>
          </a:xfrm>
        </p:spPr>
        <p:txBody>
          <a:bodyPr/>
          <a:lstStyle/>
          <a:p>
            <a:pPr marL="457200" indent="-457200" eaLnBrk="1" hangingPunct="1">
              <a:lnSpc>
                <a:spcPct val="90000"/>
              </a:lnSpc>
              <a:buFont typeface="Bookman Old Style" pitchFamily="18" charset="0"/>
              <a:buAutoNum type="arabicPeriod"/>
            </a:pPr>
            <a:r>
              <a:rPr lang="en-US" sz="2700" b="1" dirty="0" smtClean="0">
                <a:latin typeface="Times New Roman" pitchFamily="18" charset="0"/>
                <a:cs typeface="Times New Roman" pitchFamily="18" charset="0"/>
              </a:rPr>
              <a:t>American National Standards Institute (ANSI): </a:t>
            </a:r>
          </a:p>
          <a:p>
            <a:pPr marL="731838" lvl="1" indent="-457200" eaLnBrk="1" hangingPunct="1">
              <a:lnSpc>
                <a:spcPct val="90000"/>
              </a:lnSpc>
            </a:pPr>
            <a:r>
              <a:rPr lang="en-US" sz="2400" dirty="0" smtClean="0">
                <a:latin typeface="Times New Roman" pitchFamily="18" charset="0"/>
                <a:cs typeface="Times New Roman" pitchFamily="18" charset="0"/>
              </a:rPr>
              <a:t>ANSI is the main organization responsible for coordinating and publishing</a:t>
            </a:r>
            <a:r>
              <a:rPr lang="en-US" sz="2400" b="1" dirty="0" smtClean="0">
                <a:latin typeface="Times New Roman" pitchFamily="18" charset="0"/>
                <a:cs typeface="Times New Roman" pitchFamily="18" charset="0"/>
              </a:rPr>
              <a:t> computer and information </a:t>
            </a:r>
            <a:r>
              <a:rPr lang="en-US" sz="2400" dirty="0" smtClean="0">
                <a:latin typeface="Times New Roman" pitchFamily="18" charset="0"/>
                <a:cs typeface="Times New Roman" pitchFamily="18" charset="0"/>
              </a:rPr>
              <a:t>technology standards in the </a:t>
            </a:r>
            <a:r>
              <a:rPr lang="en-US" sz="2400" b="1" dirty="0" smtClean="0">
                <a:latin typeface="Times New Roman" pitchFamily="18" charset="0"/>
                <a:cs typeface="Times New Roman" pitchFamily="18" charset="0"/>
              </a:rPr>
              <a:t>United States</a:t>
            </a:r>
            <a:r>
              <a:rPr lang="en-US" sz="2400" dirty="0" smtClean="0">
                <a:latin typeface="Times New Roman" pitchFamily="18" charset="0"/>
                <a:cs typeface="Times New Roman" pitchFamily="18" charset="0"/>
              </a:rPr>
              <a:t>. </a:t>
            </a:r>
          </a:p>
          <a:p>
            <a:pPr marL="731838" lvl="1" indent="-457200" eaLnBrk="1" hangingPunct="1">
              <a:lnSpc>
                <a:spcPct val="90000"/>
              </a:lnSpc>
            </a:pPr>
            <a:r>
              <a:rPr lang="en-US" sz="2400" dirty="0" smtClean="0">
                <a:latin typeface="Times New Roman" pitchFamily="18" charset="0"/>
                <a:cs typeface="Times New Roman" pitchFamily="18" charset="0"/>
              </a:rPr>
              <a:t>ANSI do not </a:t>
            </a:r>
            <a:r>
              <a:rPr lang="en-US" sz="2400" b="1" dirty="0" smtClean="0">
                <a:latin typeface="Times New Roman" pitchFamily="18" charset="0"/>
                <a:cs typeface="Times New Roman" pitchFamily="18" charset="0"/>
              </a:rPr>
              <a:t>develop</a:t>
            </a:r>
            <a:r>
              <a:rPr lang="en-US" sz="2400" dirty="0" smtClean="0">
                <a:latin typeface="Times New Roman" pitchFamily="18" charset="0"/>
                <a:cs typeface="Times New Roman" pitchFamily="18" charset="0"/>
              </a:rPr>
              <a:t> nor than  </a:t>
            </a:r>
            <a:r>
              <a:rPr lang="en-US" sz="2400" b="1" dirty="0" smtClean="0">
                <a:latin typeface="Times New Roman" pitchFamily="18" charset="0"/>
                <a:cs typeface="Times New Roman" pitchFamily="18" charset="0"/>
              </a:rPr>
              <a:t>maintain</a:t>
            </a:r>
            <a:r>
              <a:rPr lang="en-US" sz="2400" dirty="0" smtClean="0">
                <a:latin typeface="Times New Roman" pitchFamily="18" charset="0"/>
                <a:cs typeface="Times New Roman" pitchFamily="18" charset="0"/>
              </a:rPr>
              <a:t> standards.</a:t>
            </a:r>
          </a:p>
          <a:p>
            <a:pPr marL="731838" lvl="1" indent="-457200" eaLnBrk="1" hangingPunct="1">
              <a:lnSpc>
                <a:spcPct val="90000"/>
              </a:lnSpc>
            </a:pPr>
            <a:r>
              <a:rPr lang="en-US" sz="2400" dirty="0" smtClean="0">
                <a:latin typeface="Times New Roman" pitchFamily="18" charset="0"/>
                <a:cs typeface="Times New Roman" pitchFamily="18" charset="0"/>
              </a:rPr>
              <a:t>Instead, ANSI:</a:t>
            </a:r>
          </a:p>
          <a:p>
            <a:pPr marL="1006475" lvl="2" indent="-457200" eaLnBrk="1" hangingPunct="1">
              <a:lnSpc>
                <a:spcPct val="90000"/>
              </a:lnSpc>
            </a:pPr>
            <a:r>
              <a:rPr lang="en-US" sz="2400" b="1" dirty="0" smtClean="0">
                <a:latin typeface="Times New Roman" pitchFamily="18" charset="0"/>
                <a:cs typeface="Times New Roman" pitchFamily="18" charset="0"/>
              </a:rPr>
              <a:t>oversees</a:t>
            </a:r>
            <a:r>
              <a:rPr lang="en-US" sz="2400" dirty="0" smtClean="0">
                <a:latin typeface="Times New Roman" pitchFamily="18" charset="0"/>
                <a:cs typeface="Times New Roman" pitchFamily="18" charset="0"/>
              </a:rPr>
              <a:t> and </a:t>
            </a:r>
            <a:r>
              <a:rPr lang="en-US" sz="2400" b="1" dirty="0" smtClean="0">
                <a:latin typeface="Times New Roman" pitchFamily="18" charset="0"/>
                <a:cs typeface="Times New Roman" pitchFamily="18" charset="0"/>
              </a:rPr>
              <a:t>accredits</a:t>
            </a:r>
            <a:r>
              <a:rPr lang="en-US" sz="2400" dirty="0" smtClean="0">
                <a:latin typeface="Times New Roman" pitchFamily="18" charset="0"/>
                <a:cs typeface="Times New Roman" pitchFamily="18" charset="0"/>
              </a:rPr>
              <a:t> the </a:t>
            </a:r>
            <a:r>
              <a:rPr lang="en-US" sz="2400" b="1" dirty="0" smtClean="0">
                <a:latin typeface="Times New Roman" pitchFamily="18" charset="0"/>
                <a:cs typeface="Times New Roman" pitchFamily="18" charset="0"/>
              </a:rPr>
              <a:t>organizations</a:t>
            </a:r>
            <a:r>
              <a:rPr lang="en-US" sz="2400" dirty="0" smtClean="0">
                <a:latin typeface="Times New Roman" pitchFamily="18" charset="0"/>
                <a:cs typeface="Times New Roman" pitchFamily="18" charset="0"/>
              </a:rPr>
              <a:t> that actually create the standards, and </a:t>
            </a:r>
          </a:p>
          <a:p>
            <a:pPr marL="1006475" lvl="2" indent="-457200" eaLnBrk="1" hangingPunct="1">
              <a:lnSpc>
                <a:spcPct val="90000"/>
              </a:lnSpc>
            </a:pPr>
            <a:r>
              <a:rPr lang="en-US" sz="2400" b="1" dirty="0" smtClean="0">
                <a:latin typeface="Times New Roman" pitchFamily="18" charset="0"/>
                <a:cs typeface="Times New Roman" pitchFamily="18" charset="0"/>
              </a:rPr>
              <a:t>qualifies</a:t>
            </a:r>
            <a:r>
              <a:rPr lang="en-US" sz="2400" dirty="0" smtClean="0">
                <a:latin typeface="Times New Roman" pitchFamily="18" charset="0"/>
                <a:cs typeface="Times New Roman" pitchFamily="18" charset="0"/>
              </a:rPr>
              <a:t> them as </a:t>
            </a:r>
            <a:r>
              <a:rPr lang="en-US" sz="2400" i="1" dirty="0" smtClean="0">
                <a:latin typeface="Times New Roman" pitchFamily="18" charset="0"/>
                <a:cs typeface="Times New Roman" pitchFamily="18" charset="0"/>
              </a:rPr>
              <a:t>Standards Developing Organizations</a:t>
            </a:r>
            <a:r>
              <a:rPr lang="en-US" sz="2400" dirty="0" smtClean="0">
                <a:latin typeface="Times New Roman" pitchFamily="18" charset="0"/>
                <a:cs typeface="Times New Roman" pitchFamily="18" charset="0"/>
              </a:rPr>
              <a:t> or </a:t>
            </a:r>
            <a:r>
              <a:rPr lang="en-US" sz="2400" b="1" dirty="0" smtClean="0">
                <a:latin typeface="Times New Roman" pitchFamily="18" charset="0"/>
                <a:cs typeface="Times New Roman" pitchFamily="18" charset="0"/>
              </a:rPr>
              <a:t>SDOs</a:t>
            </a:r>
            <a:r>
              <a:rPr lang="en-US" sz="2100" dirty="0" smtClean="0">
                <a:latin typeface="Times New Roman" pitchFamily="18" charset="0"/>
                <a:cs typeface="Times New Roman" pitchFamily="18" charset="0"/>
              </a:rPr>
              <a:t>. </a:t>
            </a:r>
          </a:p>
          <a:p>
            <a:pPr marL="1006475" lvl="2" indent="-457200" eaLnBrk="1" hangingPunct="1">
              <a:lnSpc>
                <a:spcPct val="90000"/>
              </a:lnSpc>
            </a:pPr>
            <a:r>
              <a:rPr lang="en-US" sz="2400" b="1" dirty="0" smtClean="0">
                <a:latin typeface="Times New Roman" pitchFamily="18" charset="0"/>
                <a:cs typeface="Times New Roman" pitchFamily="18" charset="0"/>
              </a:rPr>
              <a:t>publishes</a:t>
            </a:r>
            <a:r>
              <a:rPr lang="en-US" sz="2400" dirty="0" smtClean="0">
                <a:latin typeface="Times New Roman" pitchFamily="18" charset="0"/>
                <a:cs typeface="Times New Roman" pitchFamily="18" charset="0"/>
              </a:rPr>
              <a:t> the standards documents created by the SDOs, </a:t>
            </a:r>
          </a:p>
          <a:p>
            <a:pPr marL="1006475" lvl="2" indent="-457200" eaLnBrk="1" hangingPunct="1">
              <a:lnSpc>
                <a:spcPct val="90000"/>
              </a:lnSpc>
            </a:pPr>
            <a:r>
              <a:rPr lang="en-US" sz="2400" b="1" dirty="0" smtClean="0">
                <a:latin typeface="Times New Roman" pitchFamily="18" charset="0"/>
                <a:cs typeface="Times New Roman" pitchFamily="18" charset="0"/>
              </a:rPr>
              <a:t>serves</a:t>
            </a:r>
            <a:r>
              <a:rPr lang="en-US" sz="2400" dirty="0" smtClean="0">
                <a:latin typeface="Times New Roman" pitchFamily="18" charset="0"/>
                <a:cs typeface="Times New Roman" pitchFamily="18" charset="0"/>
              </a:rPr>
              <a:t> as the United States' representative to the ISO. </a:t>
            </a:r>
            <a:br>
              <a:rPr lang="en-US" sz="2400" dirty="0" smtClean="0">
                <a:latin typeface="Times New Roman" pitchFamily="18" charset="0"/>
                <a:cs typeface="Times New Roman" pitchFamily="18" charset="0"/>
              </a:rPr>
            </a:br>
            <a:endParaRPr lang="en-US" sz="2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
            </a:r>
            <a:br>
              <a:rPr lang="en-US" smtClean="0"/>
            </a:br>
            <a:r>
              <a:rPr lang="en-US" smtClean="0"/>
              <a:t>Standards Organizations</a:t>
            </a:r>
          </a:p>
        </p:txBody>
      </p:sp>
      <p:sp>
        <p:nvSpPr>
          <p:cNvPr id="20483" name="Rectangle 3"/>
          <p:cNvSpPr>
            <a:spLocks noGrp="1" noChangeArrowheads="1"/>
          </p:cNvSpPr>
          <p:nvPr>
            <p:ph sz="quarter" idx="1"/>
          </p:nvPr>
        </p:nvSpPr>
        <p:spPr>
          <a:xfrm>
            <a:off x="457200" y="1219200"/>
            <a:ext cx="8229600" cy="4937125"/>
          </a:xfrm>
        </p:spPr>
        <p:txBody>
          <a:bodyPr/>
          <a:lstStyle/>
          <a:p>
            <a:r>
              <a:rPr lang="en-US" sz="2800" b="1" smtClean="0"/>
              <a:t>Information Technology Industry Council (ITIC):</a:t>
            </a:r>
            <a:r>
              <a:rPr lang="en-US" sz="2800" smtClean="0"/>
              <a:t> ITIC is a </a:t>
            </a:r>
            <a:r>
              <a:rPr lang="en-US" sz="2800" b="1" smtClean="0"/>
              <a:t>group</a:t>
            </a:r>
            <a:r>
              <a:rPr lang="en-US" sz="2800" smtClean="0"/>
              <a:t> of several dozen </a:t>
            </a:r>
            <a:r>
              <a:rPr lang="en-US" sz="2800" b="1" smtClean="0"/>
              <a:t>companies</a:t>
            </a:r>
            <a:r>
              <a:rPr lang="en-US" sz="2800" smtClean="0"/>
              <a:t> in the information technology (computer) industry. </a:t>
            </a:r>
          </a:p>
          <a:p>
            <a:r>
              <a:rPr lang="en-US" sz="2800" smtClean="0"/>
              <a:t>ITIC is the </a:t>
            </a:r>
            <a:r>
              <a:rPr lang="en-US" sz="2800" i="1" smtClean="0"/>
              <a:t>Standards</a:t>
            </a:r>
            <a:r>
              <a:rPr lang="en-US" sz="2800" smtClean="0"/>
              <a:t> Developing Organizations (SDO) </a:t>
            </a:r>
            <a:r>
              <a:rPr lang="en-US" sz="2800" b="1" smtClean="0"/>
              <a:t>approved</a:t>
            </a:r>
            <a:r>
              <a:rPr lang="en-US" sz="2800" smtClean="0"/>
              <a:t> by </a:t>
            </a:r>
            <a:r>
              <a:rPr lang="en-US" sz="2800" b="1" smtClean="0"/>
              <a:t>ANSI</a:t>
            </a:r>
            <a:r>
              <a:rPr lang="en-US" sz="2800" smtClean="0"/>
              <a:t> to develop and process standards related to many </a:t>
            </a:r>
            <a:r>
              <a:rPr lang="en-US" sz="2800" b="1" smtClean="0"/>
              <a:t>computer-relate</a:t>
            </a:r>
            <a:r>
              <a:rPr lang="en-US" sz="2800" smtClean="0"/>
              <a:t>d topics.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
            </a:r>
            <a:br>
              <a:rPr lang="en-US" smtClean="0"/>
            </a:br>
            <a:r>
              <a:rPr lang="en-US" smtClean="0"/>
              <a:t>Standards Organizations</a:t>
            </a:r>
          </a:p>
        </p:txBody>
      </p:sp>
      <p:sp>
        <p:nvSpPr>
          <p:cNvPr id="21507" name="Rectangle 3"/>
          <p:cNvSpPr>
            <a:spLocks noGrp="1" noChangeArrowheads="1"/>
          </p:cNvSpPr>
          <p:nvPr>
            <p:ph sz="quarter" idx="1"/>
          </p:nvPr>
        </p:nvSpPr>
        <p:spPr>
          <a:xfrm>
            <a:off x="457200" y="1219200"/>
            <a:ext cx="8229600" cy="4937125"/>
          </a:xfrm>
        </p:spPr>
        <p:txBody>
          <a:bodyPr/>
          <a:lstStyle/>
          <a:p>
            <a:r>
              <a:rPr lang="en-US" sz="2800" b="1" smtClean="0"/>
              <a:t>Institute of Electrical and Electronics Engineers (IEEE):</a:t>
            </a:r>
            <a:r>
              <a:rPr lang="en-US" sz="2800" smtClean="0"/>
              <a:t> The IEEE (pronounced “eye-triple-ee”) is a </a:t>
            </a:r>
            <a:r>
              <a:rPr lang="en-US" sz="2800" b="1" smtClean="0"/>
              <a:t>well-known professional organization </a:t>
            </a:r>
            <a:r>
              <a:rPr lang="en-US" sz="2800" smtClean="0"/>
              <a:t>for those in the electrical or electronics fields, </a:t>
            </a:r>
            <a:r>
              <a:rPr lang="en-US" sz="2800" b="1" smtClean="0"/>
              <a:t>including</a:t>
            </a:r>
            <a:r>
              <a:rPr lang="en-US" sz="2800" smtClean="0"/>
              <a:t> computers and networking. </a:t>
            </a:r>
          </a:p>
          <a:p>
            <a:r>
              <a:rPr lang="en-US" sz="2800" smtClean="0"/>
              <a:t>IEEE's </a:t>
            </a:r>
            <a:r>
              <a:rPr lang="en-US" sz="2800" b="1" smtClean="0"/>
              <a:t>most famous achievement </a:t>
            </a:r>
            <a:r>
              <a:rPr lang="en-US" sz="2800" smtClean="0"/>
              <a:t>in the networking industry is the IEEE 802 Project, which includes </a:t>
            </a:r>
            <a:r>
              <a:rPr lang="en-US" sz="2800" b="1" smtClean="0"/>
              <a:t>many popular networking technologies </a:t>
            </a:r>
            <a:r>
              <a:rPr lang="en-US" sz="2800" smtClean="0"/>
              <a:t>including Ethernet. </a:t>
            </a:r>
            <a:br>
              <a:rPr lang="en-US" sz="2800" smtClean="0"/>
            </a:br>
            <a:r>
              <a:rPr lang="en-US" sz="2800" smtClean="0"/>
              <a:t/>
            </a:r>
            <a:br>
              <a:rPr lang="en-US" sz="2800" smtClean="0"/>
            </a:br>
            <a:endParaRPr lang="en-US" sz="28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
            </a:r>
            <a:br>
              <a:rPr lang="en-US" smtClean="0"/>
            </a:br>
            <a:r>
              <a:rPr lang="en-US" smtClean="0"/>
              <a:t>Standards Organizations</a:t>
            </a:r>
          </a:p>
        </p:txBody>
      </p:sp>
      <p:sp>
        <p:nvSpPr>
          <p:cNvPr id="22531" name="Rectangle 3"/>
          <p:cNvSpPr>
            <a:spLocks noGrp="1" noChangeArrowheads="1"/>
          </p:cNvSpPr>
          <p:nvPr>
            <p:ph sz="quarter" idx="1"/>
          </p:nvPr>
        </p:nvSpPr>
        <p:spPr>
          <a:xfrm>
            <a:off x="457200" y="1219200"/>
            <a:ext cx="8229600" cy="4937125"/>
          </a:xfrm>
        </p:spPr>
        <p:txBody>
          <a:bodyPr/>
          <a:lstStyle/>
          <a:p>
            <a:r>
              <a:rPr lang="en-US" sz="2800" b="1" smtClean="0"/>
              <a:t>Electronic Industries Alliance (EIA):</a:t>
            </a:r>
            <a:r>
              <a:rPr lang="en-US" sz="2800" smtClean="0"/>
              <a:t> The EIA is an international industry association that is best known for publishing electrical wiring and transmission standards. </a:t>
            </a:r>
          </a:p>
          <a:p>
            <a:r>
              <a:rPr lang="en-US" sz="2800" b="1" smtClean="0"/>
              <a:t>Telecommunications Industry Association (TIA):</a:t>
            </a:r>
            <a:r>
              <a:rPr lang="en-US" sz="2800" smtClean="0"/>
              <a:t> The TIA is the communications sector of the EIA, and is responsible for developing communications standards. Since communications, wiring and transmission are all related, and since the TIA and EIA organizations are also related, standards produced by the EIA or TIA are often labeled with the combined prefixes “EIA/TIA” or “TIA/EIA”. </a:t>
            </a:r>
            <a:br>
              <a:rPr lang="en-US" sz="2800" smtClean="0"/>
            </a:br>
            <a:r>
              <a:rPr lang="en-US" sz="2800" smtClean="0"/>
              <a:t/>
            </a:r>
            <a:br>
              <a:rPr lang="en-US" sz="2800" smtClean="0"/>
            </a:br>
            <a:endParaRPr lang="en-US" sz="28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
            </a:r>
            <a:br>
              <a:rPr lang="en-US" smtClean="0"/>
            </a:br>
            <a:r>
              <a:rPr lang="en-US" smtClean="0"/>
              <a:t>Standards Organizations</a:t>
            </a:r>
          </a:p>
        </p:txBody>
      </p:sp>
      <p:sp>
        <p:nvSpPr>
          <p:cNvPr id="23555" name="Rectangle 3"/>
          <p:cNvSpPr>
            <a:spLocks noGrp="1" noChangeArrowheads="1"/>
          </p:cNvSpPr>
          <p:nvPr>
            <p:ph sz="quarter" idx="1"/>
          </p:nvPr>
        </p:nvSpPr>
        <p:spPr>
          <a:xfrm>
            <a:off x="457200" y="1219200"/>
            <a:ext cx="8229600" cy="4937125"/>
          </a:xfrm>
        </p:spPr>
        <p:txBody>
          <a:bodyPr/>
          <a:lstStyle/>
          <a:p>
            <a:r>
              <a:rPr lang="en-US" sz="2800" b="1" smtClean="0"/>
              <a:t>International Telecommunication Union - Telecommunication Standardization Sector (ITU-T):</a:t>
            </a:r>
            <a:r>
              <a:rPr lang="en-US" sz="2800" smtClean="0"/>
              <a:t> ITU-T is another large international body that develops standards for the telecommunications industry. </a:t>
            </a:r>
          </a:p>
          <a:p>
            <a:r>
              <a:rPr lang="en-US" sz="2800" smtClean="0"/>
              <a:t>The ITU-T was formerly named the </a:t>
            </a:r>
            <a:r>
              <a:rPr lang="en-US" sz="2800" i="1" smtClean="0"/>
              <a:t>International Telephone and Telegraph Consultative Committee</a:t>
            </a:r>
            <a:r>
              <a:rPr lang="en-US" sz="2800" smtClean="0"/>
              <a:t> or </a:t>
            </a:r>
            <a:r>
              <a:rPr lang="en-US" sz="2800" i="1" smtClean="0"/>
              <a:t>CCITT</a:t>
            </a:r>
            <a:r>
              <a:rPr lang="en-US" sz="2800" smtClean="0"/>
              <a:t> (the abbreviation was of the French version of the organization's name, </a:t>
            </a:r>
            <a:r>
              <a:rPr lang="en-US" sz="2800" i="1" smtClean="0"/>
              <a:t>Comité consultatif international téléphonique et télégraphique</a:t>
            </a:r>
            <a:r>
              <a:rPr lang="en-US" sz="2800" smtClean="0"/>
              <a:t>.) </a:t>
            </a:r>
            <a:br>
              <a:rPr lang="en-US" sz="2800" smtClean="0"/>
            </a:br>
            <a:r>
              <a:rPr lang="en-US" sz="2800" smtClean="0"/>
              <a:t/>
            </a:r>
            <a:br>
              <a:rPr lang="en-US" sz="2800" smtClean="0"/>
            </a:br>
            <a:endParaRPr lang="en-US" sz="28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
            </a:r>
            <a:br>
              <a:rPr lang="en-US" smtClean="0"/>
            </a:br>
            <a:r>
              <a:rPr lang="en-US" smtClean="0"/>
              <a:t>Standards Organizations</a:t>
            </a:r>
          </a:p>
        </p:txBody>
      </p:sp>
      <p:sp>
        <p:nvSpPr>
          <p:cNvPr id="24579" name="Rectangle 3"/>
          <p:cNvSpPr>
            <a:spLocks noGrp="1" noChangeArrowheads="1"/>
          </p:cNvSpPr>
          <p:nvPr>
            <p:ph sz="quarter" idx="1"/>
          </p:nvPr>
        </p:nvSpPr>
        <p:spPr>
          <a:xfrm>
            <a:off x="457200" y="1219200"/>
            <a:ext cx="8229600" cy="4937125"/>
          </a:xfrm>
        </p:spPr>
        <p:txBody>
          <a:bodyPr/>
          <a:lstStyle/>
          <a:p>
            <a:r>
              <a:rPr lang="en-US" sz="2800" b="1" smtClean="0"/>
              <a:t>European Telecommunications Standards Institute (ETSI):</a:t>
            </a:r>
            <a:r>
              <a:rPr lang="en-US" sz="2800" smtClean="0"/>
              <a:t> An organization with members from dozens of </a:t>
            </a:r>
            <a:r>
              <a:rPr lang="en-US" sz="2800" b="1" smtClean="0"/>
              <a:t>countries</a:t>
            </a:r>
            <a:r>
              <a:rPr lang="en-US" sz="2800" smtClean="0"/>
              <a:t> both inside and outside </a:t>
            </a:r>
            <a:r>
              <a:rPr lang="en-US" sz="2800" b="1" smtClean="0"/>
              <a:t>Europe</a:t>
            </a:r>
            <a:r>
              <a:rPr lang="en-US" sz="2800" smtClean="0"/>
              <a:t> that is </a:t>
            </a:r>
            <a:r>
              <a:rPr lang="en-US" sz="2800" b="1" smtClean="0"/>
              <a:t>dedicated</a:t>
            </a:r>
            <a:r>
              <a:rPr lang="en-US" sz="2800" smtClean="0"/>
              <a:t> to developing </a:t>
            </a:r>
            <a:r>
              <a:rPr lang="en-US" sz="2800" b="1" smtClean="0"/>
              <a:t>telecommunications</a:t>
            </a:r>
            <a:r>
              <a:rPr lang="en-US" sz="2800" smtClean="0"/>
              <a:t> standards for the European market (and elsewhere). </a:t>
            </a:r>
          </a:p>
          <a:p>
            <a:r>
              <a:rPr lang="en-US" sz="2800" smtClean="0"/>
              <a:t>ETSI is known for: </a:t>
            </a:r>
          </a:p>
          <a:p>
            <a:pPr lvl="1"/>
            <a:r>
              <a:rPr lang="en-US" sz="2500" smtClean="0"/>
              <a:t>regulating </a:t>
            </a:r>
            <a:r>
              <a:rPr lang="en-US" sz="2500" b="1" smtClean="0"/>
              <a:t>the use of radio bandwidth in Europe </a:t>
            </a:r>
          </a:p>
          <a:p>
            <a:pPr lvl="1"/>
            <a:r>
              <a:rPr lang="en-US" sz="2500" smtClean="0"/>
              <a:t>and developing standards such as </a:t>
            </a:r>
            <a:r>
              <a:rPr lang="en-US" sz="2500" b="1" smtClean="0"/>
              <a:t>HiperLAN</a:t>
            </a:r>
            <a:r>
              <a:rPr lang="en-US" sz="2500" smtClean="0"/>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mtClean="0"/>
              <a:t>Final Remarks &amp; Conclusion </a:t>
            </a:r>
          </a:p>
        </p:txBody>
      </p:sp>
      <p:sp>
        <p:nvSpPr>
          <p:cNvPr id="26627" name="Rectangle 3"/>
          <p:cNvSpPr>
            <a:spLocks noGrp="1" noChangeArrowheads="1"/>
          </p:cNvSpPr>
          <p:nvPr>
            <p:ph sz="quarter" idx="1"/>
          </p:nvPr>
        </p:nvSpPr>
        <p:spPr>
          <a:xfrm>
            <a:off x="457200" y="1219200"/>
            <a:ext cx="8229600" cy="4937125"/>
          </a:xfrm>
        </p:spPr>
        <p:txBody>
          <a:bodyPr/>
          <a:lstStyle/>
          <a:p>
            <a:r>
              <a:rPr lang="en-US" sz="2400" smtClean="0"/>
              <a:t>There are a number of </a:t>
            </a:r>
            <a:r>
              <a:rPr lang="en-US" sz="2400" b="1" smtClean="0"/>
              <a:t>well-known</a:t>
            </a:r>
            <a:r>
              <a:rPr lang="en-US" sz="2400" smtClean="0"/>
              <a:t> international organizations that play an important role in the development of open networking standards. </a:t>
            </a:r>
          </a:p>
          <a:p>
            <a:r>
              <a:rPr lang="en-US" sz="2400" smtClean="0"/>
              <a:t>Some of the most important of these are ISO, ANSI, ITIC, IEEE, EIA/TIA, ITU-T and ETSI. </a:t>
            </a:r>
          </a:p>
          <a:p>
            <a:r>
              <a:rPr lang="en-US" sz="2400" smtClean="0"/>
              <a:t>I want to emphasize that many of the organizations above do not actually develop the various standards. </a:t>
            </a:r>
          </a:p>
          <a:p>
            <a:r>
              <a:rPr lang="en-US" sz="2400" smtClean="0"/>
              <a:t>Generally, these are oversight organizations—“high level management” if you will—that work with many other smaller groups who actually develop the standards. </a:t>
            </a:r>
          </a:p>
          <a:p>
            <a:endParaRPr lang="en-US" sz="2400"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Origin</Template>
  <TotalTime>16154</TotalTime>
  <Words>1485</Words>
  <Application>Microsoft Office PowerPoint</Application>
  <PresentationFormat>On-screen Show (4:3)</PresentationFormat>
  <Paragraphs>98</Paragraphs>
  <Slides>18</Slides>
  <Notes>1</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Origin</vt:lpstr>
      <vt:lpstr>Module</vt:lpstr>
      <vt:lpstr>ADVANCED TCP-IP Networking Standards</vt:lpstr>
      <vt:lpstr>What is Network Standard?</vt:lpstr>
      <vt:lpstr>Why are standards important?</vt:lpstr>
      <vt:lpstr>De Facto and Types of Standards</vt:lpstr>
      <vt:lpstr>Proprietary Standards </vt:lpstr>
      <vt:lpstr>Open Standards </vt:lpstr>
      <vt:lpstr>Open Standards </vt:lpstr>
      <vt:lpstr>De Facto Standards</vt:lpstr>
      <vt:lpstr> Networking Standards</vt:lpstr>
      <vt:lpstr> International Networking Standards Organizations</vt:lpstr>
      <vt:lpstr> Standards Organizations</vt:lpstr>
      <vt:lpstr> Standards Organizations</vt:lpstr>
      <vt:lpstr> Standards Organizations</vt:lpstr>
      <vt:lpstr> Standards Organizations</vt:lpstr>
      <vt:lpstr> Standards Organizations</vt:lpstr>
      <vt:lpstr> Standards Organizations</vt:lpstr>
      <vt:lpstr> Standards Organizations</vt:lpstr>
      <vt:lpstr>Final Remarks &amp; Conclusion </vt:lpstr>
    </vt:vector>
  </TitlesOfParts>
  <Company>International Institute of Information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Bruhadeshwar Bezawada</dc:creator>
  <cp:lastModifiedBy>JKalunga</cp:lastModifiedBy>
  <cp:revision>115</cp:revision>
  <dcterms:created xsi:type="dcterms:W3CDTF">2007-07-09T18:36:04Z</dcterms:created>
  <dcterms:modified xsi:type="dcterms:W3CDTF">2026-04-16T06:02:57Z</dcterms:modified>
</cp:coreProperties>
</file>